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7" d="100"/>
          <a:sy n="67" d="100"/>
        </p:scale>
        <p:origin x="83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A0E52"/>
                </a:solidFill>
                <a:latin typeface="Calibri"/>
              </a:defRPr>
            </a:pPr>
            <a:r>
              <a:rPr lang="pt-BR" sz="1300" b="0" i="0" u="none" strike="noStrike">
                <a:solidFill>
                  <a:srgbClr val="0A0E52"/>
                </a:solidFill>
                <a:latin typeface="Calibri"/>
              </a:rPr>
              <a:t>Absenteísmo por turno — exemplo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Absenteísmo (%)</c:v>
                </c:pt>
              </c:strCache>
            </c:strRef>
          </c:tx>
          <c:spPr>
            <a:solidFill>
              <a:srgbClr val="111785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1AE3-42EE-988F-FA6298B954A3}"/>
              </c:ext>
            </c:extLst>
          </c:dPt>
          <c:dPt>
            <c:idx val="1"/>
            <c:invertIfNegative val="0"/>
            <c:bubble3D val="0"/>
            <c:spPr>
              <a:solidFill>
                <a:srgbClr val="01973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1AE3-42EE-988F-FA6298B954A3}"/>
              </c:ext>
            </c:extLst>
          </c:dPt>
          <c:dPt>
            <c:idx val="2"/>
            <c:invertIfNegative val="0"/>
            <c:bubble3D val="0"/>
            <c:spPr>
              <a:solidFill>
                <a:srgbClr val="D7192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1AE3-42EE-988F-FA6298B954A3}"/>
              </c:ext>
            </c:extLst>
          </c:dPt>
          <c:dPt>
            <c:idx val="3"/>
            <c:invertIfNegative val="0"/>
            <c:bubble3D val="0"/>
            <c:spPr>
              <a:solidFill>
                <a:srgbClr val="FFEE0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1AE3-42EE-988F-FA6298B954A3}"/>
              </c:ext>
            </c:extLst>
          </c:dPt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0A0E52"/>
                    </a:solidFill>
                    <a:latin typeface="Calibri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ADM</c:v>
                </c:pt>
                <c:pt idx="1">
                  <c:v>Turno A</c:v>
                </c:pt>
                <c:pt idx="2">
                  <c:v>Turno B</c:v>
                </c:pt>
                <c:pt idx="3">
                  <c:v>Turno C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2.1</c:v>
                </c:pt>
                <c:pt idx="1">
                  <c:v>3.4</c:v>
                </c:pt>
                <c:pt idx="2">
                  <c:v>5.8</c:v>
                </c:pt>
                <c:pt idx="3">
                  <c:v>4.2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1AE3-42EE-988F-FA6298B954A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07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DEE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07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15561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Abertura. O sistema tem duas partes: o calendário, que já está em produção, e a base analítica que alimenta o BI, em construção.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X no meio é literal: as planilhas são independentes. A GSL-DADOS conversa com o BI, não com o calendário.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quatro funções centrais do calendário. Tudo o mais é automação em cima disso.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desenho da semana. A reunião de sexta é o marco e tudo é contado a partir dela.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seis rotinas automáticas. Nenhuma delas exige alguém abrir a planilha.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insights são gerados pelo script a partir do próprio calendário, e sempre vêm com recomendação.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é a decisão de arquitetura mais importante do projeto. Vale defender explicitamente na reunião.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caminho do dado. O bloco do meio é o que torna o sistema extensível: fonte nova não exige código novo.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código 28 na última linha é real: aparece lançado na planilha do RH e não consta na legenda impressa. Precisa ser confirmado.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Deixar claro que o gráfico é exemplo. O painel real só existe depois da primeira importação de assiduidade.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Fechar mostrando o ganho por papel, não por funcionalidade.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Encerramento com os quatro próximos passos. O passo 1 é o que destrava tudo.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194560"/>
            <a:ext cx="6583680" cy="6583680"/>
          </a:xfrm>
          <a:prstGeom prst="ellipse">
            <a:avLst/>
          </a:prstGeom>
          <a:solidFill>
            <a:srgbClr val="111785">
              <a:alpha val="55000"/>
            </a:srgbClr>
          </a:solidFill>
          <a:ln w="12700">
            <a:solidFill>
              <a:srgbClr val="11178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78240" y="3931920"/>
            <a:ext cx="5120640" cy="5120640"/>
          </a:xfrm>
          <a:prstGeom prst="ellipse">
            <a:avLst/>
          </a:prstGeom>
          <a:solidFill>
            <a:srgbClr val="01973A">
              <a:alpha val="22000"/>
            </a:srgbClr>
          </a:solidFill>
          <a:ln w="12700">
            <a:solidFill>
              <a:srgbClr val="01973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600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FEE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BARTOFIL · CD FEIRA DE SANTANA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2057400"/>
            <a:ext cx="10058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GSL Bartofil</a:t>
            </a:r>
            <a:endParaRPr lang="en-US" sz="6200" dirty="0"/>
          </a:p>
        </p:txBody>
      </p:sp>
      <p:sp>
        <p:nvSpPr>
          <p:cNvPr id="6" name="Text 4"/>
          <p:cNvSpPr/>
          <p:nvPr/>
        </p:nvSpPr>
        <p:spPr>
          <a:xfrm>
            <a:off x="822960" y="32004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dirty="0">
                <a:solidFill>
                  <a:srgbClr val="C9CE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Gestão do Setor Logística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822960" y="4069080"/>
            <a:ext cx="1463040" cy="45720"/>
          </a:xfrm>
          <a:prstGeom prst="rect">
            <a:avLst/>
          </a:prstGeom>
          <a:solidFill>
            <a:srgbClr val="01973A"/>
          </a:solidFill>
          <a:ln w="12700">
            <a:solidFill>
              <a:srgbClr val="0197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34340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8A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calendário operacional dos três turnos e o BI de backoffice em construção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58521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C8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Agosto de 2026</a:t>
            </a:r>
            <a:endParaRPr lang="en-US" sz="1250" dirty="0"/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117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Duas planilhas, de propósito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70432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5B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Separação que protege o dado das pessoas e simplifica a manutenção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029200" cy="2560320"/>
          </a:xfrm>
          <a:prstGeom prst="roundRect">
            <a:avLst>
              <a:gd name="adj" fmla="val 3214"/>
            </a:avLst>
          </a:prstGeom>
          <a:solidFill>
            <a:srgbClr val="FFFFFF"/>
          </a:solidFill>
          <a:ln w="12700">
            <a:solidFill>
              <a:srgbClr val="E2E4EE"/>
            </a:solidFill>
            <a:prstDash val="solid"/>
          </a:ln>
          <a:effectLst>
            <a:outerShdw blurRad="1524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965960"/>
            <a:ext cx="5029200" cy="777240"/>
          </a:xfrm>
          <a:prstGeom prst="roundRect">
            <a:avLst>
              <a:gd name="adj" fmla="val 10588"/>
            </a:avLst>
          </a:prstGeom>
          <a:solidFill>
            <a:srgbClr val="111785"/>
          </a:solidFill>
          <a:ln w="12700">
            <a:solidFill>
              <a:srgbClr val="11178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965960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GSL BARTOFIL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4206240" y="196596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FFEE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produção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960120" y="2880360"/>
            <a:ext cx="4389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0A0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calendário. Cem por cento atividades.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0A0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entrega, quando e se o gerente aprovou.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0A0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Coordenadores acessam — e só veem atividade.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0A0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 dado individual de colaborador.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92240" y="1965960"/>
            <a:ext cx="5029200" cy="2560320"/>
          </a:xfrm>
          <a:prstGeom prst="roundRect">
            <a:avLst>
              <a:gd name="adj" fmla="val 3214"/>
            </a:avLst>
          </a:prstGeom>
          <a:solidFill>
            <a:srgbClr val="FFFFFF"/>
          </a:solidFill>
          <a:ln w="12700">
            <a:solidFill>
              <a:srgbClr val="E2E4EE"/>
            </a:solidFill>
            <a:prstDash val="solid"/>
          </a:ln>
          <a:effectLst>
            <a:outerShdw blurRad="1524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92240" y="1965960"/>
            <a:ext cx="5029200" cy="777240"/>
          </a:xfrm>
          <a:prstGeom prst="roundRect">
            <a:avLst>
              <a:gd name="adj" fmla="val 10588"/>
            </a:avLst>
          </a:prstGeom>
          <a:solidFill>
            <a:srgbClr val="01973A"/>
          </a:solidFill>
          <a:ln w="12700">
            <a:solidFill>
              <a:srgbClr val="0197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12280" y="1965960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GSL-DADOS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9966960" y="196596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E4F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construção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812280" y="2880360"/>
            <a:ext cx="4389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0A0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 analítica. Alimenta o BI.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0A0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Recebe RH, erros e metas dos setores.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0A0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 restrito à gerência e ao administrador.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0A0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 apenas número agregado.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742432" y="2907792"/>
            <a:ext cx="676656" cy="6766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D7192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42432" y="2907792"/>
            <a:ext cx="6766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71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40080" y="489204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B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duas não conversam entre si. Nenhum IMPORTRANGE, nenhum script cruzando as bases — é essa fronteira que garante que um coordenador nunca alcance dado de pessoa.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11430000" y="6263640"/>
            <a:ext cx="384048" cy="384048"/>
          </a:xfrm>
          <a:prstGeom prst="ellipse">
            <a:avLst/>
          </a:prstGeom>
          <a:solidFill>
            <a:srgbClr val="FFEE03"/>
          </a:solidFill>
          <a:ln w="12700">
            <a:solidFill>
              <a:srgbClr val="FFEE0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430000" y="6263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0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117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o calendário controla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70432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5B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linha é uma atividade com dono, prazo e prova de entrega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1088136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4EE"/>
            </a:solidFill>
            <a:prstDash val="solid"/>
          </a:ln>
          <a:effectLst>
            <a:outerShdw blurRad="1524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21408"/>
            <a:ext cx="512064" cy="512064"/>
          </a:xfrm>
          <a:prstGeom prst="ellipse">
            <a:avLst/>
          </a:prstGeom>
          <a:solidFill>
            <a:srgbClr val="111785"/>
          </a:solidFill>
          <a:ln w="12700">
            <a:solidFill>
              <a:srgbClr val="11178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1214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627632" y="2039112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0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Atividades programadas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627632" y="2350008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 semanal consolidado, vistoria setorial e reunião com a gerência — geradas com ID, semana ISO e prazo calculado.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999232"/>
            <a:ext cx="1088136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4EE"/>
            </a:solidFill>
            <a:prstDash val="solid"/>
          </a:ln>
          <a:effectLst>
            <a:outerShdw blurRad="1524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14400" y="3200400"/>
            <a:ext cx="512064" cy="512064"/>
          </a:xfrm>
          <a:prstGeom prst="ellipse">
            <a:avLst/>
          </a:prstGeom>
          <a:solidFill>
            <a:srgbClr val="01973A"/>
          </a:solidFill>
          <a:ln w="12700">
            <a:solidFill>
              <a:srgbClr val="0197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2004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627632" y="3118104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0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com anexo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627632" y="342900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coordenador seleciona a linha e anexa o documento. O arquivo vai para o Drive e o status muda sozinho.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4078224"/>
            <a:ext cx="1088136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4EE"/>
            </a:solidFill>
            <a:prstDash val="solid"/>
          </a:ln>
          <a:effectLst>
            <a:outerShdw blurRad="1524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14400" y="4279392"/>
            <a:ext cx="512064" cy="512064"/>
          </a:xfrm>
          <a:prstGeom prst="ellipse">
            <a:avLst/>
          </a:prstGeom>
          <a:solidFill>
            <a:srgbClr val="FFEE03"/>
          </a:solidFill>
          <a:ln w="12700">
            <a:solidFill>
              <a:srgbClr val="FFEE0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427939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0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627632" y="4197096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0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 do gerente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627632" y="4507992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Aprovado, Reprovado ou Cancelada. Reprovar devolve a atividade para correção, com o motivo registrado.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5157216"/>
            <a:ext cx="1088136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4EE"/>
            </a:solidFill>
            <a:prstDash val="solid"/>
          </a:ln>
          <a:effectLst>
            <a:outerShdw blurRad="1524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14400" y="5358384"/>
            <a:ext cx="512064" cy="512064"/>
          </a:xfrm>
          <a:prstGeom prst="ellipse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535838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627632" y="5276088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0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Meses infinitos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627632" y="5586984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dia 20 o sistema cria a aba do mês seguinte sozinho, com calendário, IDs e prazos já calculados.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1430000" y="6263640"/>
            <a:ext cx="384048" cy="384048"/>
          </a:xfrm>
          <a:prstGeom prst="ellipse">
            <a:avLst/>
          </a:prstGeom>
          <a:solidFill>
            <a:srgbClr val="FFEE03"/>
          </a:solidFill>
          <a:ln w="12700">
            <a:solidFill>
              <a:srgbClr val="FFEE0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430000" y="6263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0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  <p:transition spd="med">
    <p:wipe dir="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117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semana orbita a sexta-feira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70432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5B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reunião com a gerência é o marco — todo prazo é contado a partir dela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2514600" cy="2423160"/>
          </a:xfrm>
          <a:prstGeom prst="roundRect">
            <a:avLst>
              <a:gd name="adj" fmla="val 3396"/>
            </a:avLst>
          </a:prstGeom>
          <a:solidFill>
            <a:srgbClr val="FFFFFF"/>
          </a:solidFill>
          <a:ln w="12700">
            <a:solidFill>
              <a:srgbClr val="E2E4EE"/>
            </a:solidFill>
            <a:prstDash val="solid"/>
          </a:ln>
          <a:effectLst>
            <a:outerShdw blurRad="1524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2194560"/>
            <a:ext cx="2514600" cy="566928"/>
          </a:xfrm>
          <a:prstGeom prst="roundRect">
            <a:avLst>
              <a:gd name="adj" fmla="val 14516"/>
            </a:avLst>
          </a:prstGeom>
          <a:solidFill>
            <a:srgbClr val="5B6070"/>
          </a:solidFill>
          <a:ln w="12700">
            <a:solidFill>
              <a:srgbClr val="5B607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194560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96112" y="292608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A0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Digesto matinal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96112" y="352044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coordenador recebe um único e-mail com tudo que deve.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 rot="5400000">
            <a:off x="3209544" y="3255264"/>
            <a:ext cx="182880" cy="237744"/>
          </a:xfrm>
          <a:prstGeom prst="triangle">
            <a:avLst/>
          </a:prstGeom>
          <a:solidFill>
            <a:srgbClr val="A9AEC4"/>
          </a:solidFill>
          <a:ln w="12700">
            <a:solidFill>
              <a:srgbClr val="A9AEC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29000" y="2194560"/>
            <a:ext cx="2514600" cy="2423160"/>
          </a:xfrm>
          <a:prstGeom prst="roundRect">
            <a:avLst>
              <a:gd name="adj" fmla="val 3396"/>
            </a:avLst>
          </a:prstGeom>
          <a:solidFill>
            <a:srgbClr val="FFFFFF"/>
          </a:solidFill>
          <a:ln w="12700">
            <a:solidFill>
              <a:srgbClr val="E2E4EE"/>
            </a:solidFill>
            <a:prstDash val="solid"/>
          </a:ln>
          <a:effectLst>
            <a:outerShdw blurRad="1524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29000" y="2194560"/>
            <a:ext cx="2514600" cy="566928"/>
          </a:xfrm>
          <a:prstGeom prst="roundRect">
            <a:avLst>
              <a:gd name="adj" fmla="val 14516"/>
            </a:avLst>
          </a:prstGeom>
          <a:solidFill>
            <a:srgbClr val="111785"/>
          </a:solidFill>
          <a:ln w="12700">
            <a:solidFill>
              <a:srgbClr val="11178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29000" y="2194560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685032" y="292608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A0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Vistoria setorial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685032" y="352044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Auditoria no setor definido pelo gerente, com checklist.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 rot="5400000">
            <a:off x="5998464" y="3255264"/>
            <a:ext cx="182880" cy="237744"/>
          </a:xfrm>
          <a:prstGeom prst="triangle">
            <a:avLst/>
          </a:prstGeom>
          <a:solidFill>
            <a:srgbClr val="A9AEC4"/>
          </a:solidFill>
          <a:ln w="12700">
            <a:solidFill>
              <a:srgbClr val="A9AEC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7920" y="2194560"/>
            <a:ext cx="2514600" cy="2423160"/>
          </a:xfrm>
          <a:prstGeom prst="roundRect">
            <a:avLst>
              <a:gd name="adj" fmla="val 3396"/>
            </a:avLst>
          </a:prstGeom>
          <a:solidFill>
            <a:srgbClr val="FFFFFF"/>
          </a:solidFill>
          <a:ln w="12700">
            <a:solidFill>
              <a:srgbClr val="E2E4EE"/>
            </a:solidFill>
            <a:prstDash val="solid"/>
          </a:ln>
          <a:effectLst>
            <a:outerShdw blurRad="1524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17920" y="2194560"/>
            <a:ext cx="2514600" cy="566928"/>
          </a:xfrm>
          <a:prstGeom prst="roundRect">
            <a:avLst>
              <a:gd name="adj" fmla="val 14516"/>
            </a:avLst>
          </a:prstGeom>
          <a:solidFill>
            <a:srgbClr val="111785"/>
          </a:solidFill>
          <a:ln w="12700">
            <a:solidFill>
              <a:srgbClr val="11178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0" y="2194560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473952" y="292608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A0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 consolidado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73952" y="352044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Erros, metas e supervisores em um documento por turno.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 rot="5400000">
            <a:off x="8787384" y="3255264"/>
            <a:ext cx="182880" cy="237744"/>
          </a:xfrm>
          <a:prstGeom prst="triangle">
            <a:avLst/>
          </a:prstGeom>
          <a:solidFill>
            <a:srgbClr val="A9AEC4"/>
          </a:solidFill>
          <a:ln w="12700">
            <a:solidFill>
              <a:srgbClr val="A9AEC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006840" y="2194560"/>
            <a:ext cx="2514600" cy="2423160"/>
          </a:xfrm>
          <a:prstGeom prst="roundRect">
            <a:avLst>
              <a:gd name="adj" fmla="val 3396"/>
            </a:avLst>
          </a:prstGeom>
          <a:solidFill>
            <a:srgbClr val="FFFFFF"/>
          </a:solidFill>
          <a:ln w="12700">
            <a:solidFill>
              <a:srgbClr val="E2E4EE"/>
            </a:solidFill>
            <a:prstDash val="solid"/>
          </a:ln>
          <a:effectLst>
            <a:outerShdw blurRad="1524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006840" y="2194560"/>
            <a:ext cx="2514600" cy="566928"/>
          </a:xfrm>
          <a:prstGeom prst="roundRect">
            <a:avLst>
              <a:gd name="adj" fmla="val 14516"/>
            </a:avLst>
          </a:prstGeom>
          <a:solidFill>
            <a:srgbClr val="01973A"/>
          </a:solidFill>
          <a:ln w="12700">
            <a:solidFill>
              <a:srgbClr val="01973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006840" y="2194560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SEX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9262872" y="292608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A0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Reunião com a gerência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262872" y="352044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gerente chega com o briefing pronto na caixa de entrada.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40080" y="4937760"/>
            <a:ext cx="1088136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2E4EE"/>
            </a:solidFill>
            <a:prstDash val="solid"/>
          </a:ln>
          <a:effectLst>
            <a:outerShdw blurRad="1524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960120" y="4937760"/>
            <a:ext cx="10241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A0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Atrasou? O sistema carimba a data do atraso na hora e o gerente vê no briefing da véspera — não na reunião.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11430000" y="6263640"/>
            <a:ext cx="384048" cy="384048"/>
          </a:xfrm>
          <a:prstGeom prst="ellipse">
            <a:avLst/>
          </a:prstGeom>
          <a:solidFill>
            <a:srgbClr val="FFEE03"/>
          </a:solidFill>
          <a:ln w="12700">
            <a:solidFill>
              <a:srgbClr val="FFEE0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1430000" y="6263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0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  <p:transition spd="med">
    <p:push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117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acontece sozinho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70432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5B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Seis rotinas que rodam sem ninguém abrir a planilha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42900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E2E4EE"/>
            </a:solidFill>
            <a:prstDash val="solid"/>
          </a:ln>
          <a:effectLst>
            <a:outerShdw blurRad="1524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21992"/>
            <a:ext cx="960120" cy="384048"/>
          </a:xfrm>
          <a:prstGeom prst="roundRect">
            <a:avLst>
              <a:gd name="adj" fmla="val 50000"/>
            </a:avLst>
          </a:prstGeom>
          <a:solidFill>
            <a:srgbClr val="111785"/>
          </a:solidFill>
          <a:ln w="12700">
            <a:solidFill>
              <a:srgbClr val="11178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221992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07h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914400" y="269748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A0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Digesto matinal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914400" y="3017520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e-mail por coordenador: atrasadas, vence hoje, vence amanhã e próximos prazos.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61688" y="1965960"/>
            <a:ext cx="342900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E2E4EE"/>
            </a:solidFill>
            <a:prstDash val="solid"/>
          </a:ln>
          <a:effectLst>
            <a:outerShdw blurRad="1524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36008" y="2221992"/>
            <a:ext cx="960120" cy="384048"/>
          </a:xfrm>
          <a:prstGeom prst="roundRect">
            <a:avLst>
              <a:gd name="adj" fmla="val 50000"/>
            </a:avLst>
          </a:prstGeom>
          <a:solidFill>
            <a:srgbClr val="111785"/>
          </a:solidFill>
          <a:ln w="12700">
            <a:solidFill>
              <a:srgbClr val="11178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36008" y="2221992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D-1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636008" y="269748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A0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Briefing do gerente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636008" y="3017520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Véspera e dia da reunião, com a tabela dos quatro grupos já montada.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83296" y="1965960"/>
            <a:ext cx="342900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E2E4EE"/>
            </a:solidFill>
            <a:prstDash val="solid"/>
          </a:ln>
          <a:effectLst>
            <a:outerShdw blurRad="1524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57616" y="2221992"/>
            <a:ext cx="960120" cy="384048"/>
          </a:xfrm>
          <a:prstGeom prst="roundRect">
            <a:avLst>
              <a:gd name="adj" fmla="val 50000"/>
            </a:avLst>
          </a:prstGeom>
          <a:solidFill>
            <a:srgbClr val="01973A"/>
          </a:solidFill>
          <a:ln w="12700">
            <a:solidFill>
              <a:srgbClr val="0197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57616" y="2221992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20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357616" y="269748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A0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 mês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357616" y="3017520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aba do mês seguinte nasce pronta, a partir do modelo oculto.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3931920"/>
            <a:ext cx="342900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E2E4EE"/>
            </a:solidFill>
            <a:prstDash val="solid"/>
          </a:ln>
          <a:effectLst>
            <a:outerShdw blurRad="1524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14400" y="4187952"/>
            <a:ext cx="960120" cy="384048"/>
          </a:xfrm>
          <a:prstGeom prst="roundRect">
            <a:avLst>
              <a:gd name="adj" fmla="val 50000"/>
            </a:avLst>
          </a:prstGeom>
          <a:solidFill>
            <a:srgbClr val="01973A"/>
          </a:solidFill>
          <a:ln w="12700">
            <a:solidFill>
              <a:srgbClr val="0197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4187952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1º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914400" y="466344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A0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 em PDF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914400" y="4983480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Fechamento do mês anterior enviado à gestão e à diretoria.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361688" y="3931920"/>
            <a:ext cx="342900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E2E4EE"/>
            </a:solidFill>
            <a:prstDash val="solid"/>
          </a:ln>
          <a:effectLst>
            <a:outerShdw blurRad="1524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36008" y="4187952"/>
            <a:ext cx="960120" cy="384048"/>
          </a:xfrm>
          <a:prstGeom prst="roundRect">
            <a:avLst>
              <a:gd name="adj" fmla="val 50000"/>
            </a:avLst>
          </a:prstGeom>
          <a:solidFill>
            <a:srgbClr val="FFEE03"/>
          </a:solidFill>
          <a:ln w="12700">
            <a:solidFill>
              <a:srgbClr val="FFEE0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36008" y="4187952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A0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5ª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636008" y="466344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A0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4636008" y="4983480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script lê o calendário e escreve diagnósticos em português.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083296" y="3931920"/>
            <a:ext cx="342900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E2E4EE"/>
            </a:solidFill>
            <a:prstDash val="solid"/>
          </a:ln>
          <a:effectLst>
            <a:outerShdw blurRad="1524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357616" y="4187952"/>
            <a:ext cx="960120" cy="384048"/>
          </a:xfrm>
          <a:prstGeom prst="roundRect">
            <a:avLst>
              <a:gd name="adj" fmla="val 50000"/>
            </a:avLst>
          </a:prstGeom>
          <a:solidFill>
            <a:srgbClr val="FFEE03"/>
          </a:solidFill>
          <a:ln w="12700">
            <a:solidFill>
              <a:srgbClr val="FFEE0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357616" y="4187952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A0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Mensal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8357616" y="466344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A0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no Drive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8357616" y="4983480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Cópia da planilha guardada automaticamente, mantendo as 12 últimas.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1430000" y="6263640"/>
            <a:ext cx="384048" cy="384048"/>
          </a:xfrm>
          <a:prstGeom prst="ellipse">
            <a:avLst/>
          </a:prstGeom>
          <a:solidFill>
            <a:srgbClr val="FFEE03"/>
          </a:solidFill>
          <a:ln w="12700">
            <a:solidFill>
              <a:srgbClr val="FFEE0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1430000" y="6263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0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645920"/>
            <a:ext cx="5852160" cy="5852160"/>
          </a:xfrm>
          <a:prstGeom prst="ellipse">
            <a:avLst/>
          </a:prstGeom>
          <a:solidFill>
            <a:srgbClr val="111785">
              <a:alpha val="45000"/>
            </a:srgbClr>
          </a:solidFill>
          <a:ln w="12700">
            <a:solidFill>
              <a:srgbClr val="11178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5720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sistema lê a si mesmo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20700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9AA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Oito análises rodam toda quinta e escrevem diagnósticos em português — com a recomendação junto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10881360" cy="1143000"/>
          </a:xfrm>
          <a:prstGeom prst="roundRect">
            <a:avLst>
              <a:gd name="adj" fmla="val 7200"/>
            </a:avLst>
          </a:prstGeom>
          <a:solidFill>
            <a:srgbClr val="161C63"/>
          </a:solidFill>
          <a:ln w="12700">
            <a:solidFill>
              <a:srgbClr val="242B7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2340864"/>
            <a:ext cx="475488" cy="475488"/>
          </a:xfrm>
          <a:prstGeom prst="ellipse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23408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691640" y="2194560"/>
            <a:ext cx="9509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Turno B está com 5 atividades atrasadas agora.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691640" y="2596896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Cobrança direta na reunião; se houver sobrecarga real, redistribuir ou renegociar prazos.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3383280"/>
            <a:ext cx="10881360" cy="1143000"/>
          </a:xfrm>
          <a:prstGeom prst="roundRect">
            <a:avLst>
              <a:gd name="adj" fmla="val 7200"/>
            </a:avLst>
          </a:prstGeom>
          <a:solidFill>
            <a:srgbClr val="161C63"/>
          </a:solidFill>
          <a:ln w="12700">
            <a:solidFill>
              <a:srgbClr val="242B7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60120" y="3712464"/>
            <a:ext cx="475488" cy="475488"/>
          </a:xfrm>
          <a:prstGeom prst="ellipse">
            <a:avLst/>
          </a:prstGeom>
          <a:solidFill>
            <a:srgbClr val="FFEE03"/>
          </a:solidFill>
          <a:ln w="12700">
            <a:solidFill>
              <a:srgbClr val="FFEE0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37124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0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691640" y="3566160"/>
            <a:ext cx="9509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entregas aguardam validação há mais de 5 dias.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691640" y="3968496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 fila de validação virou o gargalo — reservar horário fixo na semana para aprovar.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4754880"/>
            <a:ext cx="10881360" cy="1143000"/>
          </a:xfrm>
          <a:prstGeom prst="roundRect">
            <a:avLst>
              <a:gd name="adj" fmla="val 7200"/>
            </a:avLst>
          </a:prstGeom>
          <a:solidFill>
            <a:srgbClr val="161C63"/>
          </a:solidFill>
          <a:ln w="12700">
            <a:solidFill>
              <a:srgbClr val="242B7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60120" y="5084064"/>
            <a:ext cx="475488" cy="475488"/>
          </a:xfrm>
          <a:prstGeom prst="ellipse">
            <a:avLst/>
          </a:prstGeom>
          <a:solidFill>
            <a:srgbClr val="01973A"/>
          </a:solidFill>
          <a:ln w="12700">
            <a:solidFill>
              <a:srgbClr val="0197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50840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691640" y="4937760"/>
            <a:ext cx="9509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Turno A entregou 96% no prazo nas últimas 12 semanas.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691640" y="5340096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Reconhecer o coordenador e mapear o que ele faz de diferente para replicar.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" y="61264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C8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Exemplos ilustrativos do formato de saída — os números virão do calendário. Nenhum insight cita nome de pessoa: as unidades de análise são turno, atividade, setor e prazo.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1430000" y="6263640"/>
            <a:ext cx="384048" cy="384048"/>
          </a:xfrm>
          <a:prstGeom prst="ellipse">
            <a:avLst/>
          </a:prstGeom>
          <a:solidFill>
            <a:srgbClr val="FFEE03"/>
          </a:solidFill>
          <a:ln w="12700">
            <a:solidFill>
              <a:srgbClr val="FFEE0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430000" y="6263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0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117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o dado de pessoa saiu do calendário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6492240" y="1965960"/>
            <a:ext cx="5029200" cy="2240280"/>
          </a:xfrm>
          <a:prstGeom prst="roundRect">
            <a:avLst>
              <a:gd name="adj" fmla="val 3673"/>
            </a:avLst>
          </a:prstGeom>
          <a:solidFill>
            <a:srgbClr val="F1FBF4"/>
          </a:solidFill>
          <a:ln w="12700">
            <a:solidFill>
              <a:srgbClr val="CDE9D6"/>
            </a:solidFill>
            <a:prstDash val="solid"/>
          </a:ln>
          <a:effectLst>
            <a:outerShdw blurRad="1524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812280" y="2542032"/>
            <a:ext cx="438912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calendário é 100% atividade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RH, erros e metas vivem só na GSL-DADOS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tabelas do BI usam matrícula, não nome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painel publica apenas agregado por turno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1430000" y="6263640"/>
            <a:ext cx="384048" cy="384048"/>
          </a:xfrm>
          <a:prstGeom prst="ellipse">
            <a:avLst/>
          </a:prstGeom>
          <a:solidFill>
            <a:srgbClr val="FFEE03"/>
          </a:solidFill>
          <a:ln w="12700">
            <a:solidFill>
              <a:srgbClr val="FFEE0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430000" y="6263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0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  <p:transition spd="med">
    <p:spli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117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o dado chega ao BI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70432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5B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planilhas de setor entram; uma base padronizada sai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2743200" cy="73152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12700">
            <a:solidFill>
              <a:srgbClr val="D3D7E8"/>
            </a:solidFill>
            <a:prstDash val="solid"/>
          </a:ln>
          <a:effectLst>
            <a:outerShdw blurRad="1524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210312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0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 · Assiduidade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 rot="5400000">
            <a:off x="3502152" y="2350008"/>
            <a:ext cx="182880" cy="237744"/>
          </a:xfrm>
          <a:prstGeom prst="triangle">
            <a:avLst/>
          </a:prstGeom>
          <a:solidFill>
            <a:srgbClr val="A9AEC4"/>
          </a:solidFill>
          <a:ln w="12700">
            <a:solidFill>
              <a:srgbClr val="A9AEC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3063240"/>
            <a:ext cx="2743200" cy="73152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12700">
            <a:solidFill>
              <a:srgbClr val="D3D7E8"/>
            </a:solidFill>
            <a:prstDash val="solid"/>
          </a:ln>
          <a:effectLst>
            <a:outerShdw blurRad="1524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306324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0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Erros operacionais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 rot="5400000">
            <a:off x="3502152" y="3310128"/>
            <a:ext cx="182880" cy="237744"/>
          </a:xfrm>
          <a:prstGeom prst="triangle">
            <a:avLst/>
          </a:prstGeom>
          <a:solidFill>
            <a:srgbClr val="A9AEC4"/>
          </a:solidFill>
          <a:ln w="12700">
            <a:solidFill>
              <a:srgbClr val="A9AEC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4023360"/>
            <a:ext cx="2743200" cy="73152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12700">
            <a:solidFill>
              <a:srgbClr val="D3D7E8"/>
            </a:solidFill>
            <a:prstDash val="solid"/>
          </a:ln>
          <a:effectLst>
            <a:outerShdw blurRad="1524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2960" y="402336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0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Metas dos setores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 rot="5400000">
            <a:off x="3502152" y="4270248"/>
            <a:ext cx="182880" cy="237744"/>
          </a:xfrm>
          <a:prstGeom prst="triangle">
            <a:avLst/>
          </a:prstGeom>
          <a:solidFill>
            <a:srgbClr val="A9AEC4"/>
          </a:solidFill>
          <a:ln w="12700">
            <a:solidFill>
              <a:srgbClr val="A9AEC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840480" y="2103120"/>
            <a:ext cx="2743200" cy="2651760"/>
          </a:xfrm>
          <a:prstGeom prst="roundRect">
            <a:avLst>
              <a:gd name="adj" fmla="val 3103"/>
            </a:avLst>
          </a:prstGeom>
          <a:solidFill>
            <a:srgbClr val="111785"/>
          </a:solidFill>
          <a:ln w="12700">
            <a:solidFill>
              <a:srgbClr val="111785"/>
            </a:solidFill>
            <a:prstDash val="solid"/>
          </a:ln>
          <a:effectLst>
            <a:outerShdw blurRad="1524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023360" y="23317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MAPEAMENTO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069080" y="278892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9C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diz ao sistema o que procurar em cada planilha: por cabeçalho, por coluna ou valor fixo.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069080" y="3931920"/>
            <a:ext cx="2286000" cy="566928"/>
          </a:xfrm>
          <a:prstGeom prst="roundRect">
            <a:avLst>
              <a:gd name="adj" fmla="val 14516"/>
            </a:avLst>
          </a:prstGeom>
          <a:solidFill>
            <a:srgbClr val="FFEE03"/>
          </a:solidFill>
          <a:ln w="12700">
            <a:solidFill>
              <a:srgbClr val="FFEE0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069080" y="393192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0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tocar no código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 rot="5400000">
            <a:off x="6702552" y="3310128"/>
            <a:ext cx="182880" cy="237744"/>
          </a:xfrm>
          <a:prstGeom prst="triangle">
            <a:avLst/>
          </a:prstGeom>
          <a:solidFill>
            <a:srgbClr val="A9AEC4"/>
          </a:solidFill>
          <a:ln w="12700">
            <a:solidFill>
              <a:srgbClr val="A9AEC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040880" y="2103120"/>
            <a:ext cx="2651760" cy="73152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19050">
            <a:solidFill>
              <a:srgbClr val="0197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223760" y="210312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1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FATO_ASSIDUIDADE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040880" y="3063240"/>
            <a:ext cx="2651760" cy="73152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19050">
            <a:solidFill>
              <a:srgbClr val="01973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223760" y="306324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1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FATO_ERROS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7040880" y="4023360"/>
            <a:ext cx="2651760" cy="73152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19050">
            <a:solidFill>
              <a:srgbClr val="01973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223760" y="402336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1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FATO_METAS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 rot="5400000">
            <a:off x="9811512" y="3310128"/>
            <a:ext cx="182880" cy="237744"/>
          </a:xfrm>
          <a:prstGeom prst="triangle">
            <a:avLst/>
          </a:prstGeom>
          <a:solidFill>
            <a:srgbClr val="A9AEC4"/>
          </a:solidFill>
          <a:ln w="12700">
            <a:solidFill>
              <a:srgbClr val="A9AEC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149840" y="2103120"/>
            <a:ext cx="1371600" cy="2651760"/>
          </a:xfrm>
          <a:prstGeom prst="roundRect">
            <a:avLst>
              <a:gd name="adj" fmla="val 6000"/>
            </a:avLst>
          </a:prstGeom>
          <a:solidFill>
            <a:srgbClr val="01973A"/>
          </a:solidFill>
          <a:ln w="12700">
            <a:solidFill>
              <a:srgbClr val="01973A"/>
            </a:solidFill>
            <a:prstDash val="solid"/>
          </a:ln>
          <a:effectLst>
            <a:outerShdw blurRad="1524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10149840" y="283464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10149840" y="336499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7F5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backoffice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0080" y="52120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B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linha por colaborador por dia. Cada competência empilha na anterior — é isso que dá histórico ao painel e permite comparar julho com agosto.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11430000" y="6263640"/>
            <a:ext cx="384048" cy="384048"/>
          </a:xfrm>
          <a:prstGeom prst="ellipse">
            <a:avLst/>
          </a:prstGeom>
          <a:solidFill>
            <a:srgbClr val="FFEE03"/>
          </a:solidFill>
          <a:ln w="12700">
            <a:solidFill>
              <a:srgbClr val="FFEE0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1430000" y="6263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0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  <p:transition spd="med">
    <p:push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117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peça que dá manutenção sem programador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70432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5B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aba DE-PARA traduz os códigos do RH para as categorias do painel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822960" y="2011680"/>
            <a:ext cx="1188720" cy="457200"/>
          </a:xfrm>
          <a:prstGeom prst="rect">
            <a:avLst/>
          </a:prstGeom>
          <a:solidFill>
            <a:srgbClr val="111785"/>
          </a:solidFill>
          <a:ln w="12700">
            <a:solidFill>
              <a:srgbClr val="11178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32688" y="2011680"/>
            <a:ext cx="969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011680" y="2011680"/>
            <a:ext cx="4754880" cy="457200"/>
          </a:xfrm>
          <a:prstGeom prst="rect">
            <a:avLst/>
          </a:prstGeom>
          <a:solidFill>
            <a:srgbClr val="111785"/>
          </a:solidFill>
          <a:ln w="12700">
            <a:solidFill>
              <a:srgbClr val="11178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121408" y="2011680"/>
            <a:ext cx="4535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DESCRIÇÃO NO RH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766560" y="2011680"/>
            <a:ext cx="2651760" cy="457200"/>
          </a:xfrm>
          <a:prstGeom prst="rect">
            <a:avLst/>
          </a:prstGeom>
          <a:solidFill>
            <a:srgbClr val="111785"/>
          </a:solidFill>
          <a:ln w="12700">
            <a:solidFill>
              <a:srgbClr val="11178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76288" y="2011680"/>
            <a:ext cx="2432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CATEGORIA NO BI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418320" y="2011680"/>
            <a:ext cx="1463040" cy="457200"/>
          </a:xfrm>
          <a:prstGeom prst="rect">
            <a:avLst/>
          </a:prstGeom>
          <a:solidFill>
            <a:srgbClr val="111785"/>
          </a:solidFill>
          <a:ln w="12700">
            <a:solidFill>
              <a:srgbClr val="11178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528048" y="2011680"/>
            <a:ext cx="1243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AUSÊNCIA?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22960" y="2468880"/>
            <a:ext cx="118872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4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2688" y="2468880"/>
            <a:ext cx="9692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0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011680" y="2468880"/>
            <a:ext cx="475488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4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21408" y="2468880"/>
            <a:ext cx="45354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0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766560" y="2468880"/>
            <a:ext cx="265176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4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76288" y="2468880"/>
            <a:ext cx="24323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0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418320" y="2468880"/>
            <a:ext cx="146304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4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528048" y="2468880"/>
            <a:ext cx="12435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0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22960" y="2980944"/>
            <a:ext cx="1188720" cy="512064"/>
          </a:xfrm>
          <a:prstGeom prst="rect">
            <a:avLst/>
          </a:prstGeom>
          <a:solidFill>
            <a:srgbClr val="F7F8FC"/>
          </a:solidFill>
          <a:ln w="12700">
            <a:solidFill>
              <a:srgbClr val="E2E4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2688" y="2980944"/>
            <a:ext cx="9692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0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011680" y="2980944"/>
            <a:ext cx="4754880" cy="512064"/>
          </a:xfrm>
          <a:prstGeom prst="rect">
            <a:avLst/>
          </a:prstGeom>
          <a:solidFill>
            <a:srgbClr val="F7F8FC"/>
          </a:solidFill>
          <a:ln w="12700">
            <a:solidFill>
              <a:srgbClr val="E2E4E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121408" y="2980944"/>
            <a:ext cx="45354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0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Atestado médico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766560" y="2980944"/>
            <a:ext cx="2651760" cy="512064"/>
          </a:xfrm>
          <a:prstGeom prst="rect">
            <a:avLst/>
          </a:prstGeom>
          <a:solidFill>
            <a:srgbClr val="F7F8FC"/>
          </a:solidFill>
          <a:ln w="12700">
            <a:solidFill>
              <a:srgbClr val="E2E4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76288" y="2980944"/>
            <a:ext cx="24323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0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Atestado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9418320" y="2980944"/>
            <a:ext cx="1463040" cy="512064"/>
          </a:xfrm>
          <a:prstGeom prst="rect">
            <a:avLst/>
          </a:prstGeom>
          <a:solidFill>
            <a:srgbClr val="F7F8FC"/>
          </a:solidFill>
          <a:ln w="12700">
            <a:solidFill>
              <a:srgbClr val="E2E4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528048" y="2980944"/>
            <a:ext cx="12435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0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22960" y="3493008"/>
            <a:ext cx="118872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4E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32688" y="3493008"/>
            <a:ext cx="9692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0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003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011680" y="3493008"/>
            <a:ext cx="475488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4E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121408" y="3493008"/>
            <a:ext cx="45354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0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Saiu mais cedo — horas a compensar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766560" y="3493008"/>
            <a:ext cx="265176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4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76288" y="3493008"/>
            <a:ext cx="24323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0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Ajuste de horas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9418320" y="3493008"/>
            <a:ext cx="146304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4E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528048" y="3493008"/>
            <a:ext cx="12435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0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822960" y="4005072"/>
            <a:ext cx="1188720" cy="512064"/>
          </a:xfrm>
          <a:prstGeom prst="rect">
            <a:avLst/>
          </a:prstGeom>
          <a:solidFill>
            <a:srgbClr val="F7F8FC"/>
          </a:solidFill>
          <a:ln w="12700">
            <a:solidFill>
              <a:srgbClr val="E2E4E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32688" y="4005072"/>
            <a:ext cx="9692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0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6.1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2011680" y="4005072"/>
            <a:ext cx="4754880" cy="512064"/>
          </a:xfrm>
          <a:prstGeom prst="rect">
            <a:avLst/>
          </a:prstGeom>
          <a:solidFill>
            <a:srgbClr val="F7F8FC"/>
          </a:solidFill>
          <a:ln w="12700">
            <a:solidFill>
              <a:srgbClr val="E2E4E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121408" y="4005072"/>
            <a:ext cx="45354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0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Férias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766560" y="4005072"/>
            <a:ext cx="2651760" cy="512064"/>
          </a:xfrm>
          <a:prstGeom prst="rect">
            <a:avLst/>
          </a:prstGeom>
          <a:solidFill>
            <a:srgbClr val="F7F8FC"/>
          </a:solidFill>
          <a:ln w="12700">
            <a:solidFill>
              <a:srgbClr val="E2E4E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76288" y="4005072"/>
            <a:ext cx="24323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0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Férias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9418320" y="4005072"/>
            <a:ext cx="1463040" cy="512064"/>
          </a:xfrm>
          <a:prstGeom prst="rect">
            <a:avLst/>
          </a:prstGeom>
          <a:solidFill>
            <a:srgbClr val="F7F8FC"/>
          </a:solidFill>
          <a:ln w="12700">
            <a:solidFill>
              <a:srgbClr val="E2E4E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528048" y="4005072"/>
            <a:ext cx="12435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0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822960" y="4517136"/>
            <a:ext cx="1188720" cy="512064"/>
          </a:xfrm>
          <a:prstGeom prst="rect">
            <a:avLst/>
          </a:prstGeom>
          <a:solidFill>
            <a:srgbClr val="FEF6E0"/>
          </a:solidFill>
          <a:ln w="12700">
            <a:solidFill>
              <a:srgbClr val="E2E4E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32688" y="4517136"/>
            <a:ext cx="9692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2011680" y="4517136"/>
            <a:ext cx="4754880" cy="512064"/>
          </a:xfrm>
          <a:prstGeom prst="rect">
            <a:avLst/>
          </a:prstGeom>
          <a:solidFill>
            <a:srgbClr val="FEF6E0"/>
          </a:solidFill>
          <a:ln w="12700">
            <a:solidFill>
              <a:srgbClr val="E2E4E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121408" y="4517136"/>
            <a:ext cx="45354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consta na legenda do RH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6766560" y="4517136"/>
            <a:ext cx="2651760" cy="512064"/>
          </a:xfrm>
          <a:prstGeom prst="rect">
            <a:avLst/>
          </a:prstGeom>
          <a:solidFill>
            <a:srgbClr val="FEF6E0"/>
          </a:solidFill>
          <a:ln w="12700">
            <a:solidFill>
              <a:srgbClr val="E2E4E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876288" y="4517136"/>
            <a:ext cx="24323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CONFIRMAR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9418320" y="4517136"/>
            <a:ext cx="1463040" cy="512064"/>
          </a:xfrm>
          <a:prstGeom prst="rect">
            <a:avLst/>
          </a:prstGeom>
          <a:solidFill>
            <a:srgbClr val="FEF6E0"/>
          </a:solidFill>
          <a:ln w="12700">
            <a:solidFill>
              <a:srgbClr val="E2E4E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528048" y="4517136"/>
            <a:ext cx="12435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822960" y="5212080"/>
            <a:ext cx="10515600" cy="914400"/>
          </a:xfrm>
          <a:prstGeom prst="roundRect">
            <a:avLst>
              <a:gd name="adj" fmla="val 9000"/>
            </a:avLst>
          </a:prstGeom>
          <a:solidFill>
            <a:srgbClr val="F4F5FA"/>
          </a:solidFill>
          <a:ln w="12700">
            <a:solidFill>
              <a:srgbClr val="D9DCEC"/>
            </a:solidFill>
            <a:prstDash val="solid"/>
          </a:ln>
          <a:effectLst>
            <a:outerShdw blurRad="1524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1143000" y="521208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A0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o RH inventa um código novo, alguém acrescenta uma linha aqui e clica em Reclassificar. O histórico inteiro se corrige de uma vez — sem chamar ninguém de TI.</a:t>
            </a:r>
            <a:endParaRPr lang="en-US" sz="1350" dirty="0"/>
          </a:p>
        </p:txBody>
      </p:sp>
      <p:sp>
        <p:nvSpPr>
          <p:cNvPr id="54" name="Shape 52"/>
          <p:cNvSpPr/>
          <p:nvPr/>
        </p:nvSpPr>
        <p:spPr>
          <a:xfrm>
            <a:off x="11430000" y="6263640"/>
            <a:ext cx="384048" cy="384048"/>
          </a:xfrm>
          <a:prstGeom prst="ellipse">
            <a:avLst/>
          </a:prstGeom>
          <a:solidFill>
            <a:srgbClr val="FFEE03"/>
          </a:solidFill>
          <a:ln w="12700">
            <a:solidFill>
              <a:srgbClr val="FFEE03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1430000" y="6263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0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  <p:transition spd="med">
    <p:wipe dir="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117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BI de backoffice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70432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5B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Quatro páginas, três fontes, uma pergunta respondida em cada tela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394960" cy="749808"/>
          </a:xfrm>
          <a:prstGeom prst="roundRect">
            <a:avLst>
              <a:gd name="adj" fmla="val 10976"/>
            </a:avLst>
          </a:prstGeom>
          <a:solidFill>
            <a:srgbClr val="FFFFFF"/>
          </a:solidFill>
          <a:ln w="12700">
            <a:solidFill>
              <a:srgbClr val="E2E4EE"/>
            </a:solidFill>
            <a:prstDash val="solid"/>
          </a:ln>
          <a:effectLst>
            <a:outerShdw blurRad="1524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50392" y="2112264"/>
            <a:ext cx="457200" cy="457200"/>
          </a:xfrm>
          <a:prstGeom prst="ellipse">
            <a:avLst/>
          </a:prstGeom>
          <a:solidFill>
            <a:srgbClr val="111785"/>
          </a:solidFill>
          <a:ln w="12700">
            <a:solidFill>
              <a:srgbClr val="11178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21122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81328" y="2020824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A0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do gerente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481328" y="231343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Absenteísmo, erros e metas do mês, com variação contra o anterior.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40080" y="2816352"/>
            <a:ext cx="5394960" cy="749808"/>
          </a:xfrm>
          <a:prstGeom prst="roundRect">
            <a:avLst>
              <a:gd name="adj" fmla="val 10976"/>
            </a:avLst>
          </a:prstGeom>
          <a:solidFill>
            <a:srgbClr val="FFFFFF"/>
          </a:solidFill>
          <a:ln w="12700">
            <a:solidFill>
              <a:srgbClr val="E2E4EE"/>
            </a:solidFill>
            <a:prstDash val="solid"/>
          </a:ln>
          <a:effectLst>
            <a:outerShdw blurRad="1524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50392" y="2962656"/>
            <a:ext cx="457200" cy="457200"/>
          </a:xfrm>
          <a:prstGeom prst="ellipse">
            <a:avLst/>
          </a:prstGeom>
          <a:solidFill>
            <a:srgbClr val="01973A"/>
          </a:solidFill>
          <a:ln w="12700">
            <a:solidFill>
              <a:srgbClr val="0197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" y="29626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481328" y="2871216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A0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Assiduidade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481328" y="3163824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Faltas e atestados separados, série histórica e concentração por dia.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40080" y="3666744"/>
            <a:ext cx="5394960" cy="749808"/>
          </a:xfrm>
          <a:prstGeom prst="roundRect">
            <a:avLst>
              <a:gd name="adj" fmla="val 10976"/>
            </a:avLst>
          </a:prstGeom>
          <a:solidFill>
            <a:srgbClr val="FFFFFF"/>
          </a:solidFill>
          <a:ln w="12700">
            <a:solidFill>
              <a:srgbClr val="E2E4EE"/>
            </a:solidFill>
            <a:prstDash val="solid"/>
          </a:ln>
          <a:effectLst>
            <a:outerShdw blurRad="1524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50392" y="3813048"/>
            <a:ext cx="457200" cy="457200"/>
          </a:xfrm>
          <a:prstGeom prst="ellipse">
            <a:avLst/>
          </a:prstGeom>
          <a:solidFill>
            <a:srgbClr val="FFEE03"/>
          </a:solidFill>
          <a:ln w="12700">
            <a:solidFill>
              <a:srgbClr val="FFEE0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0392" y="3813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0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81328" y="3721608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A0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481328" y="4014216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Pareto por setor e mapa de calor de reincidência.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40080" y="4517136"/>
            <a:ext cx="5394960" cy="749808"/>
          </a:xfrm>
          <a:prstGeom prst="roundRect">
            <a:avLst>
              <a:gd name="adj" fmla="val 10976"/>
            </a:avLst>
          </a:prstGeom>
          <a:solidFill>
            <a:srgbClr val="FFFFFF"/>
          </a:solidFill>
          <a:ln w="12700">
            <a:solidFill>
              <a:srgbClr val="E2E4EE"/>
            </a:solidFill>
            <a:prstDash val="solid"/>
          </a:ln>
          <a:effectLst>
            <a:outerShdw blurRad="1524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50392" y="4663440"/>
            <a:ext cx="457200" cy="457200"/>
          </a:xfrm>
          <a:prstGeom prst="ellipse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0392" y="4663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481328" y="4572000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A0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Metas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1481328" y="486460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contra realizado por indicador, com farol de atingimento.</a:t>
            </a:r>
            <a:endParaRPr lang="en-US" sz="1050" dirty="0"/>
          </a:p>
        </p:txBody>
      </p:sp>
      <p:graphicFrame>
        <p:nvGraphicFramePr>
          <p:cNvPr id="24" name="Chart 0"/>
          <p:cNvGraphicFramePr/>
          <p:nvPr/>
        </p:nvGraphicFramePr>
        <p:xfrm>
          <a:off x="6400800" y="1965960"/>
          <a:ext cx="512064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5" name="Shape 22"/>
          <p:cNvSpPr/>
          <p:nvPr/>
        </p:nvSpPr>
        <p:spPr>
          <a:xfrm>
            <a:off x="640080" y="5486400"/>
            <a:ext cx="10881360" cy="658368"/>
          </a:xfrm>
          <a:prstGeom prst="roundRect">
            <a:avLst>
              <a:gd name="adj" fmla="val 12500"/>
            </a:avLst>
          </a:prstGeom>
          <a:solidFill>
            <a:srgbClr val="F4F5FA"/>
          </a:solidFill>
          <a:ln w="12700">
            <a:solidFill>
              <a:srgbClr val="D9DCEC"/>
            </a:solidFill>
            <a:prstDash val="solid"/>
          </a:ln>
          <a:effectLst>
            <a:outerShdw blurRad="1524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960120" y="5486400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Números ilustrativos. O painel real lê a GSL-DADOS e nenhum gráfico usa matrícula como eixo visível.</a:t>
            </a:r>
            <a:endParaRPr lang="en-US" sz="1250" dirty="0"/>
          </a:p>
        </p:txBody>
      </p:sp>
      <p:sp>
        <p:nvSpPr>
          <p:cNvPr id="27" name="Shape 24"/>
          <p:cNvSpPr/>
          <p:nvPr/>
        </p:nvSpPr>
        <p:spPr>
          <a:xfrm>
            <a:off x="11430000" y="6263640"/>
            <a:ext cx="384048" cy="384048"/>
          </a:xfrm>
          <a:prstGeom prst="ellipse">
            <a:avLst/>
          </a:prstGeom>
          <a:solidFill>
            <a:srgbClr val="FFEE03"/>
          </a:solidFill>
          <a:ln w="12700">
            <a:solidFill>
              <a:srgbClr val="FFEE03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1430000" y="6263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0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117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muda na prática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70432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5B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cada pessoa envolvida no processo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3429000" cy="219456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E2E4EE"/>
            </a:solidFill>
            <a:prstDash val="solid"/>
          </a:ln>
          <a:effectLst>
            <a:outerShdw blurRad="1524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2011680"/>
            <a:ext cx="3429000" cy="685800"/>
          </a:xfrm>
          <a:prstGeom prst="roundRect">
            <a:avLst>
              <a:gd name="adj" fmla="val 12000"/>
            </a:avLst>
          </a:prstGeom>
          <a:solidFill>
            <a:srgbClr val="111785"/>
          </a:solidFill>
          <a:ln w="12700">
            <a:solidFill>
              <a:srgbClr val="11178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011680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Coordenador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2852928"/>
            <a:ext cx="2880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A0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e-mail por dia com tudo que ele deve. Anexa a entrega pela própria planilha. Não precisa lembrar de prazo.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61688" y="2011680"/>
            <a:ext cx="3429000" cy="219456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E2E4EE"/>
            </a:solidFill>
            <a:prstDash val="solid"/>
          </a:ln>
          <a:effectLst>
            <a:outerShdw blurRad="1524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361688" y="2011680"/>
            <a:ext cx="3429000" cy="685800"/>
          </a:xfrm>
          <a:prstGeom prst="roundRect">
            <a:avLst>
              <a:gd name="adj" fmla="val 12000"/>
            </a:avLst>
          </a:prstGeom>
          <a:solidFill>
            <a:srgbClr val="01973A"/>
          </a:solidFill>
          <a:ln w="12700">
            <a:solidFill>
              <a:srgbClr val="0197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36008" y="2011680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Gerente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636008" y="2852928"/>
            <a:ext cx="2880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A0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Chega na reunião com o quadro dos quatro grupos pronto, os atrasos listados e os insights da semana.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083296" y="2011680"/>
            <a:ext cx="3429000" cy="219456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E2E4EE"/>
            </a:solidFill>
            <a:prstDash val="solid"/>
          </a:ln>
          <a:effectLst>
            <a:outerShdw blurRad="1524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083296" y="2011680"/>
            <a:ext cx="3429000" cy="685800"/>
          </a:xfrm>
          <a:prstGeom prst="roundRect">
            <a:avLst>
              <a:gd name="adj" fmla="val 12000"/>
            </a:avLst>
          </a:prstGeom>
          <a:solidFill>
            <a:srgbClr val="FFEE03"/>
          </a:solidFill>
          <a:ln w="12700">
            <a:solidFill>
              <a:srgbClr val="FFEE0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57616" y="2011680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A0E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Geral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357616" y="2852928"/>
            <a:ext cx="2880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A0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 executivo em PDF todo dia 1º, e o painel de backoffice com absenteísmo, erros e metas.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461772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ninguém precisa manter nada disso à mão: o mês novo nasce sozinho, o backup roda sozinho e o painel atualiza sozinho.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11430000" y="6263640"/>
            <a:ext cx="384048" cy="384048"/>
          </a:xfrm>
          <a:prstGeom prst="ellipse">
            <a:avLst/>
          </a:prstGeom>
          <a:solidFill>
            <a:srgbClr val="FFEE03"/>
          </a:solidFill>
          <a:ln w="12700">
            <a:solidFill>
              <a:srgbClr val="FFEE0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430000" y="6263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0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  <p:transition spd="med">
    <p:push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E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194560"/>
            <a:ext cx="6583680" cy="6583680"/>
          </a:xfrm>
          <a:prstGeom prst="ellipse">
            <a:avLst/>
          </a:prstGeom>
          <a:solidFill>
            <a:srgbClr val="111785">
              <a:alpha val="55000"/>
            </a:srgbClr>
          </a:solidFill>
          <a:ln w="12700">
            <a:solidFill>
              <a:srgbClr val="11178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78240" y="3931920"/>
            <a:ext cx="5120640" cy="5120640"/>
          </a:xfrm>
          <a:prstGeom prst="ellipse">
            <a:avLst/>
          </a:prstGeom>
          <a:solidFill>
            <a:srgbClr val="01973A">
              <a:alpha val="22000"/>
            </a:srgbClr>
          </a:solidFill>
          <a:ln w="12700">
            <a:solidFill>
              <a:srgbClr val="01973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82296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Próximos passos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822960" y="1874520"/>
            <a:ext cx="10515600" cy="914400"/>
          </a:xfrm>
          <a:prstGeom prst="roundRect">
            <a:avLst>
              <a:gd name="adj" fmla="val 9000"/>
            </a:avLst>
          </a:prstGeom>
          <a:solidFill>
            <a:srgbClr val="161C63"/>
          </a:solidFill>
          <a:ln w="12700">
            <a:solidFill>
              <a:srgbClr val="242B7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1874520"/>
            <a:ext cx="777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19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1920240" y="2011680"/>
            <a:ext cx="9144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Primeira importação de assiduidade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920240" y="2340864"/>
            <a:ext cx="9144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AA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Rodar a pré-visualização contra a planilha do RH e calibrar a leitura pela aba CONFIG.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822960" y="2935224"/>
            <a:ext cx="10515600" cy="914400"/>
          </a:xfrm>
          <a:prstGeom prst="roundRect">
            <a:avLst>
              <a:gd name="adj" fmla="val 9000"/>
            </a:avLst>
          </a:prstGeom>
          <a:solidFill>
            <a:srgbClr val="161C63"/>
          </a:solidFill>
          <a:ln w="12700">
            <a:solidFill>
              <a:srgbClr val="242B7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560" y="2935224"/>
            <a:ext cx="777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EE0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1920240" y="3072384"/>
            <a:ext cx="9144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Confirmar os códigos pendentes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1920240" y="3401568"/>
            <a:ext cx="9144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AA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Sete códigos ainda estão como "A CONFIRMAR" no DE-PARA — cinco cortados na folha e dois fora da legenda.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22960" y="3995928"/>
            <a:ext cx="10515600" cy="914400"/>
          </a:xfrm>
          <a:prstGeom prst="roundRect">
            <a:avLst>
              <a:gd name="adj" fmla="val 9000"/>
            </a:avLst>
          </a:prstGeom>
          <a:solidFill>
            <a:srgbClr val="161C63"/>
          </a:solidFill>
          <a:ln w="12700">
            <a:solidFill>
              <a:srgbClr val="242B7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3995928"/>
            <a:ext cx="777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A8B4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500" dirty="0"/>
          </a:p>
        </p:txBody>
      </p:sp>
      <p:sp>
        <p:nvSpPr>
          <p:cNvPr id="15" name="Text 13"/>
          <p:cNvSpPr/>
          <p:nvPr/>
        </p:nvSpPr>
        <p:spPr>
          <a:xfrm>
            <a:off x="1920240" y="4133088"/>
            <a:ext cx="9144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Mapear erros e metas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1920240" y="4462272"/>
            <a:ext cx="9144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AA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Abrir as duas planilhas dos setores e preencher a aba MAPEAMENTO. Nenhuma linha de código nova.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22960" y="5056632"/>
            <a:ext cx="10515600" cy="914400"/>
          </a:xfrm>
          <a:prstGeom prst="roundRect">
            <a:avLst>
              <a:gd name="adj" fmla="val 9000"/>
            </a:avLst>
          </a:prstGeom>
          <a:solidFill>
            <a:srgbClr val="161C63"/>
          </a:solidFill>
          <a:ln w="12700">
            <a:solidFill>
              <a:srgbClr val="242B7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1560" y="5056632"/>
            <a:ext cx="777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D719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500" dirty="0"/>
          </a:p>
        </p:txBody>
      </p:sp>
      <p:sp>
        <p:nvSpPr>
          <p:cNvPr id="19" name="Text 17"/>
          <p:cNvSpPr/>
          <p:nvPr/>
        </p:nvSpPr>
        <p:spPr>
          <a:xfrm>
            <a:off x="1920240" y="5193792"/>
            <a:ext cx="9144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Publicar o painel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1920240" y="5522976"/>
            <a:ext cx="9144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AA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Montar as quatro páginas no Looker e validar os totais contra a aba RESUMO_BI.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22960" y="6263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C8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GSL Bartofil · CD Feira de Santana</a:t>
            </a:r>
            <a:endParaRPr lang="en-US" sz="1200" dirty="0"/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1391</Words>
  <Application>Microsoft Office PowerPoint</Application>
  <PresentationFormat>Widescreen</PresentationFormat>
  <Paragraphs>201</Paragraphs>
  <Slides>12</Slides>
  <Notes>12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Bartofil Distribuidora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GSL Bartofil — Gestão do Setor Logística</dc:title>
  <dc:subject>PptxGenJS Presentation</dc:subject>
  <dc:creator>GSL Bartofil</dc:creator>
  <cp:lastModifiedBy>HERCULES SANTOS</cp:lastModifiedBy>
  <cp:revision>2</cp:revision>
  <dcterms:created xsi:type="dcterms:W3CDTF">2026-08-06T02:46:59Z</dcterms:created>
  <dcterms:modified xsi:type="dcterms:W3CDTF">2026-08-06T02:53:15Z</dcterms:modified>
</cp:coreProperties>
</file>