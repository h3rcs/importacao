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92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1922"/>
                </a:solidFill>
                <a:latin typeface="Calibri"/>
              </a:rPr>
              <a:t>Peso de cada bloco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(R$)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&quot;R$ &quot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1. Desligamento</c:v>
                  </c:pt>
                  <c:pt idx="1">
                    <c:v>2. Posto vago</c:v>
                  </c:pt>
                  <c:pt idx="2">
                    <c:v>3. Seleção</c:v>
                  </c:pt>
                  <c:pt idx="3">
                    <c:v>4. Integração</c:v>
                  </c:pt>
                  <c:pt idx="4">
                    <c:v>5. Aprendizagem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3677.71</c:v>
                </c:pt>
                <c:pt idx="1">
                  <c:v>697.03</c:v>
                </c:pt>
                <c:pt idx="2">
                  <c:v>1060</c:v>
                </c:pt>
                <c:pt idx="3">
                  <c:v>1368.2</c:v>
                </c:pt>
                <c:pt idx="4">
                  <c:v>3229.31</c:v>
                </c:pt>
              </c:numCache>
            </c:numRef>
          </c:val>
        </c:ser>
        <c:dLbls>
          <c:numFmt formatCode="&quot;R$ &quot;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anual (R$)</c:v>
                </c:pt>
              </c:strCache>
            </c:strRef>
          </c:tx>
          <c:spPr>
            <a:solidFill>
              <a:srgbClr val="3E8F7C"/>
            </a:solidFill>
            <a:effectLst/>
          </c:spPr>
          <c:invertIfNegative val="0"/>
          <c:dLbls>
            <c:numFmt formatCode="&quot;R$ 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9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F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5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3F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25% — turnover saudável</c:v>
                  </c:pt>
                  <c:pt idx="1">
                    <c:v>40% — cenário-base</c:v>
                  </c:pt>
                  <c:pt idx="2">
                    <c:v>49% — média do setor atacadista</c:v>
                  </c:pt>
                  <c:pt idx="3">
                    <c:v>60% — patamar do varejo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300967</c:v>
                </c:pt>
                <c:pt idx="1">
                  <c:v>481548</c:v>
                </c:pt>
                <c:pt idx="2">
                  <c:v>591903</c:v>
                </c:pt>
                <c:pt idx="3">
                  <c:v>722322</c:v>
                </c:pt>
              </c:numCache>
            </c:numRef>
          </c:val>
        </c:ser>
        <c:dLbls>
          <c:numFmt formatCode="&quot;R$ 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9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3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objetivo do trabalho não é apontar culpados, e sim transformar um problema de clima em um número que a diretoria consiga decidir em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apresentação tiver que caber em um slide só, é este. Os três números encadeiam o argumento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dimensões são externas à empresa (financeira e emocional) e duas são internas. A empresa não controla as duas primeiras, mas controla integralmente as duas últimas — e é onde a ação tem alavancagem.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causas de maior score são exatamente as que a empresa consegue resolver sozinha, sem depender da vida pessoal do colaborador.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do slide: alta rotatividade no setor é a norma. Quem quebrar essa norma ganha vantagem competitiva em custo e em qualidade de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BARTOFIL  ·  CD FEIRA DE SANTANA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invisível da rotatividade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das causas, quantificação financeira do turnover e plano de ação para retenção de pessoas.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 &amp; Operações  |  Agosto de 2026  |  Versão 1.0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196596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EM JOGO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5820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R$ 481.548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458200" y="35661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ano, estimados em custo de rotatividade no CD — sem que nada de novo seja produzido com esse dinheiro.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tese, em três números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Cenário-base: CD com 120 colaboradores e rotatividade anual de 40%.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R$ 10.032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substituir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colaborador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Desligamento, vaga aberta, seleção, integração e curva de aprendizagem — modelo detalhado adiante.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saída a cada semana. Cada uma reinicia o ciclo de custo do zero.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R$ 334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94192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 por pessoa,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mês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94192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o dinheiro hoje perdido com turnover pagaria a cada um dos 120 colaboradores.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1073384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8348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não é se a Bartofil tem orçamento para reter pessoas. </a:t>
            </a:r>
            <a:pPr indent="0" marL="0">
              <a:buNone/>
            </a:pPr>
            <a:r>
              <a:rPr lang="en-US" sz="14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já está sendo gasto — só que na porta de saída, e sem retorno nenhum.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autoral com base no salário mínimo de 2026 (R$ 1.621,00) e nos parâmetros descritos no slide de premissas.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interno: as quatro origens do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Diagnóstico de RH — Análise Integrada de Turnover e Retenção, Ago/2026.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9240" cy="1947672"/>
          </a:xfrm>
          <a:prstGeom prst="roundRect">
            <a:avLst>
              <a:gd name="adj" fmla="val 5164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4168" y="1792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financeira (pessoal)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50976" y="22860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Endividamento alto, com destaque para crédito consignado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com jogos de aposta gerando necessidade de liquidez rescisória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extraordinárias com saúde e processos de divórcio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49240" cy="1947672"/>
          </a:xfrm>
          <a:prstGeom prst="roundRect">
            <a:avLst>
              <a:gd name="adj" fmla="val 5164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810512"/>
            <a:ext cx="384048" cy="384048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792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emocional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93408" y="22860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Desgaste acumulado do estresse financeiro contínuo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e perdas familiares com impacto na concentração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pessoais graves (divórcio, doença na família)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349240" cy="1947672"/>
          </a:xfrm>
          <a:prstGeom prst="roundRect">
            <a:avLst>
              <a:gd name="adj" fmla="val 5164"/>
            </a:avLst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41064"/>
            <a:ext cx="384048" cy="384048"/>
          </a:xfrm>
          <a:prstGeom prst="ellipse">
            <a:avLst/>
          </a:prstGeom>
          <a:solidFill>
            <a:srgbClr val="3F51A0"/>
          </a:solidFill>
          <a:ln w="12700">
            <a:solidFill>
              <a:srgbClr val="3F51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4168" y="39227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comportamental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0976" y="4416552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engajamento com entregas e prazos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Aversão a capacitação para novas funções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Frustração após promoção precoce sem suporte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"Saída calculada" aos 2 anos, mirando FGTS e seguro-desemprego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703320"/>
            <a:ext cx="5349240" cy="1947672"/>
          </a:xfrm>
          <a:prstGeom prst="roundRect">
            <a:avLst>
              <a:gd name="adj" fmla="val 5164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94106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227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da empresa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93408" y="4416552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desestruturada: sem níveis Jr., Pleno e Sênior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defasados (plano de saúde e ticket alimentação)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por produtividade sem suporte proporcional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de feedback entre líderes e liderados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870448"/>
            <a:ext cx="11073384" cy="475488"/>
          </a:xfrm>
          <a:prstGeom prst="roundRect">
            <a:avLst>
              <a:gd name="adj" fmla="val 15385"/>
            </a:avLst>
          </a:prstGeom>
          <a:solidFill>
            <a:srgbClr val="141922"/>
          </a:solidFill>
          <a:ln w="12700">
            <a:solidFill>
              <a:srgbClr val="141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870448"/>
            <a:ext cx="11073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PRINCIPAL:  altos índices de demissão e desligamentos voluntários e involuntários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priorização: Matriz GUT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× Urgência × Tendência, pontuadas de 1 a 5. As quatro primeiras causas são de governança direta da empresa.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01041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709160"/>
                <a:gridCol w="1508760"/>
                <a:gridCol w="457200"/>
                <a:gridCol w="457200"/>
                <a:gridCol w="457200"/>
                <a:gridCol w="7772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raiz identificada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carreira indefinido (sem níveis Jr./Pleno/Sr.)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Ruptura de comunicação e ausência de feedback dos gestores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de benefícios insuficiente (ticket e plano de saúde)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Cobrança direta por produtividade sem suporte proporcional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Acomodação por tempo — "saída calculada" após 2 anos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Vícios, apostas e dívidas com consignados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Financeira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engajamento e aversão a novas funções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Frustração por promoção precoce sem suporte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Sobrecarga psicológica por crises pessoais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Luto familiar e tratamento de doenças graves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35640" y="1956816"/>
            <a:ext cx="804672" cy="1316736"/>
          </a:xfrm>
          <a:prstGeom prst="roundRect">
            <a:avLst>
              <a:gd name="adj" fmla="val 9091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835640" y="1956816"/>
            <a:ext cx="804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5394960"/>
            <a:ext cx="11073384" cy="749808"/>
          </a:xfrm>
          <a:prstGeom prst="roundRect">
            <a:avLst>
              <a:gd name="adj" fmla="val 10976"/>
            </a:avLst>
          </a:prstGeom>
          <a:solidFill>
            <a:srgbClr val="141922"/>
          </a:solidFill>
          <a:ln w="12700">
            <a:solidFill>
              <a:srgbClr val="1419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394960"/>
            <a:ext cx="10378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causas de maior pontuação são exatamente as que a empresa resolve sozinha — sem depender da vida pessoal de ninguém. Somam 308 dos 518 pontos da matriz.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Relatório de Diagnóstico de RH da Bartofil — Análise Integrada de Turnover e Retenção, Ago/2026.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internacional já mediu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deixou de ser tema de clima organizacional e virou linha de custo há mais de uma década.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4708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a 200%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salário anual é o custo de repor um colaborador, conforme a faixa consolidada por Gallup e SHRM — varia com a complexidade e a senioridade do cargo.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84708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salário anual por desligamento, na estimativa mais conservadora do Retention Report do Work Institute.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61188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813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F5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a 9 meses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86968" y="44805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salário é o custo total de reposição de muitos cargos segundo a SHRM, uma vez contabilizada a perda de produtividade.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61188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813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629400" y="44805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pediram demissão dizem que a empresa poderia ter feito algo para segurá-los (Gallup) — e 45% não tiveram nenhuma conversa sobre satisfação nos três meses anteriores à saída.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5532120"/>
            <a:ext cx="1107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mais citada nas pesquisas de desligamento é a ausência de desenvolvimento de carreira — à frente de salário. É também a 1ª colocada na nossa Matriz GUT.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Gallup (Q12 Meta-Analysis e State of the Global Workplace); SHRM (State of the Workplace / cost-per-hire); Work Institute (Retention Report).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contexto brasileiro é mais duro que a média mundial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Bartofil não está numa exceção: está num dos setores de maior rotatividade do país.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20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lugar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lidera o ranking mundial de rotatividade. Levantamento da Robert Half sobre dados do CAGED aponta alta de 56% na taxa em relação ao período pré-pandemia.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20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taxa de rotatividade do comércio atacadista de alimentos no Brasil (CNAE 4691-5/00), em 219 mil movimentações de vínculos CLT nos últimos 12 meses.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931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86968" y="45262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a rotatividade do comércio varejista na capital paulista em 2025 — o maior nível desde o início do Novo CAGED. No comércio em geral, a FecomercioSP calculou 37% até junho.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5349240" cy="1783080"/>
          </a:xfrm>
          <a:prstGeom prst="roundRect">
            <a:avLst>
              <a:gd name="adj" fmla="val 5641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931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629400" y="45262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desemprego no menor patamar da série histórica. Mercado aquecido significa que o colaborador insatisfeito tem para onde ir — e sabe disso.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Robert Half sobre dados do CAGED; Portal Salário/CAGED (CNAE 4691-5/00, jun/2025 a mai/2026); Sindilojas-SP e FecomercioSP sobre o Novo CAGED; IBGE/PNAD.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nosso diagnóstico e a literatura dizem a mesma coisa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causa priorizada na Matriz GUT tem correspondência direta em pesquisa consolidada.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PRIORIZADA NA MATRIZ GUT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309360" y="162763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PESQUISA MOSTRA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— Plano de carreira indefinido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71032" y="2340864"/>
            <a:ext cx="274320" cy="256032"/>
          </a:xfrm>
          <a:prstGeom prst="rightArrow">
            <a:avLst/>
          </a:prstGeom>
          <a:solidFill>
            <a:srgbClr val="B7C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01168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11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desenvolvimento de carreira é a razão evitável nº 1 de saída nas pesquisas de desligamento do Work Institute — acima de remuneração.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072384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7238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— Ausência de feedback dos gestores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71032" y="3401568"/>
            <a:ext cx="274320" cy="256032"/>
          </a:xfrm>
          <a:prstGeom prst="rightArrow">
            <a:avLst/>
          </a:prstGeom>
          <a:solidFill>
            <a:srgbClr val="B7C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072384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0723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de quem saiu não teve nenhuma conversa sobre satisfação com a liderança nos três meses anteriores (Gallup). Experiência e engajamento respondem por 42% da intenção de sair (SHRM, 2025).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33088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3308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— Benefícios defasados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71032" y="4462272"/>
            <a:ext cx="274320" cy="256032"/>
          </a:xfrm>
          <a:prstGeom prst="rightArrow">
            <a:avLst/>
          </a:prstGeom>
          <a:solidFill>
            <a:srgbClr val="B7C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133088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1330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é o benefício mais valorizado pelo trabalhador brasileiro: 76% dizem que VR e VA contribuem diretamente para um bom dia de trabalho (Ticket).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19379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— Cobrança sem suporte proporcional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71032" y="5522976"/>
            <a:ext cx="274320" cy="256032"/>
          </a:xfrm>
          <a:prstGeom prst="rightArrow">
            <a:avLst/>
          </a:prstGeom>
          <a:solidFill>
            <a:srgbClr val="B7C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519379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1937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no quartil superior de engajamento têm 21% menos rotatividade em organizações de alto turnover, 23% mais lucratividade e 78% menos absenteísmo (Gallup, meta-análise Q12).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de diagnóstico interno não contradiz a literatura — ele a confirma. Isso dá segurança para investir nas soluções que já funcionaram em outros lugares.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do modelo de custo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parâmetros são conservadores e podem ser ajustados na planilha de apoio. Nenhum número foi inflado para efeito de argumento.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73384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874520"/>
                <a:gridCol w="52212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adotado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/ justificativa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Salário mínimo nacional vigente (2026)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R$ 1.621,00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Reajuste de 6,79% sobre 2025 (Lei 14.663/2023)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Salário do posto modelado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R$ 1.621,00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 operacional de CD (auxiliar / conferente), no piso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mensal do posto para a empresa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R$ 2.091,09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Salário + FGTS 8% + provisões de 13º e férias + 1/3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Custo-hora do posto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R$ 9,50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220 horas mensais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médio de casa até a saída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meses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Compatível com o padrão de "saída calculada" descrito no 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médio para repor a vaga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dias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abertura da vaga à admissão efetiva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de aprendizagem até produtividade plena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dias a 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média de 40% de produtividade no período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 considerado no 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colaboradores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Cenário-base para dimensionamento — ajustável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Rotatividade anual no cenário-base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Abaixo dos 49% do CNAE atacadista de alimentos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considera INSS patronal de 20% (empresas do Simples Nacional). Em regime de Lucro Real ou Presumido, os valores apurados seriam significativamente maiores.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do custo de uma única substituição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blocos. Só o primeiro aparece na folha de pagamento — os outros quatro saem do resultado sem nunca virar linha contábil.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365760" cy="36576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2039112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prévio indenizado de 33 dias e reflexos, multa de 40% do FGTS, exame demissional, horas de DP e homologação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17373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R$ 3.677,71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532888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15768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5786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 vago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dias de cobertura por sobrecarga da equipe e horas extras, a 40% do custo do posto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578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R$ 697,03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374136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57016"/>
            <a:ext cx="365760" cy="365760"/>
          </a:xfrm>
          <a:prstGeom prst="ellipse">
            <a:avLst/>
          </a:prstGeom>
          <a:solidFill>
            <a:srgbClr val="3F51A0"/>
          </a:solidFill>
          <a:ln w="12700">
            <a:solidFill>
              <a:srgbClr val="3F51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4198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 seleção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372160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Divulgação, 12h de RH, 4h do gestor em entrevistas, exame admissional e documentação de registro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34198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5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R$ 1.060,00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215384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9826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2611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enxoval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80160" y="4562856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Uniformes e EPI, crachá e acessos, 16h de integração e 24h de treinamento operacional acompanhado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42611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R$ 1.368,20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5056632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39512"/>
            <a:ext cx="365760" cy="365760"/>
          </a:xfrm>
          <a:prstGeom prst="ellipse">
            <a:avLst/>
          </a:prstGeom>
          <a:solidFill>
            <a:srgbClr val="6D3F8F"/>
          </a:solidFill>
          <a:ln w="12700">
            <a:solidFill>
              <a:srgbClr val="6D3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5102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aprendizagem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80160" y="5404104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 a 60% de produtividade e retrabalho por erros de separação no período de adaptação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03320" y="5102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R$ 3.229,31</a:t>
            </a:r>
            <a:endParaRPr lang="en-US" sz="13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8549640" y="1691640"/>
          <a:ext cx="3108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colaborador substituído, em reais de 2026, para um posto operacional no piso salarial.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número que ninguém enxerga na folha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5029200" cy="3291840"/>
          </a:xfrm>
          <a:prstGeom prst="roundRect">
            <a:avLst>
              <a:gd name="adj" fmla="val 3889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DE UMA SUBSTITUIÇÃO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R$ 10.032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6,2 salários mensais do posto, ou a 47,6% da remuneração anual do colaborador (13 salários).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número é confiável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256032" cy="256032"/>
          </a:xfrm>
          <a:prstGeom prst="ellipse">
            <a:avLst/>
          </a:prstGeom>
          <a:solidFill>
            <a:srgbClr val="3E8F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2860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piso da literatura.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651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e SHRM situam a reposição entre 50% e 200% do salário anual. O nosso modelo chegou a 47,6% — ou seja, ficamos fora da faixa, por baixo.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3566160"/>
            <a:ext cx="256032" cy="256032"/>
          </a:xfrm>
          <a:prstGeom prst="ellipse">
            <a:avLst/>
          </a:prstGeom>
          <a:solidFill>
            <a:srgbClr val="3E8F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5204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com a estimativa mais conservadora que existe.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Work Institute estima 33% do salário anual. Estamos acima disso porque contabilizamos a curva de aprendizagem, que aquela metodologia trata à parte.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800600"/>
            <a:ext cx="256032" cy="256032"/>
          </a:xfrm>
          <a:prstGeom prst="ellipse">
            <a:avLst/>
          </a:prstGeom>
          <a:solidFill>
            <a:srgbClr val="3E8F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7548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custo foi estimado por cima.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Ficaram de fora: horas extras adicionais, perda de OTIF, avarias, custo de cliente insatisfeito, passivo trabalhista e o efeito dominó sobre quem fica.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Bartofil aplicasse simplesmente o piso da faixa internacional (50% do salário anual), o custo por substituição seria de R$ 10.536.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projeção anual para o CD de Feira de Santana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cenários de rotatividade aplicados a um quadro de 120 colaboradores, a R$ 10.032 por substituição.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730752" cy="1170432"/>
          </a:xfrm>
          <a:prstGeom prst="roundRect">
            <a:avLst>
              <a:gd name="adj" fmla="val 781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865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83880" y="23042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desligamentos por ano no cenário-base — quatro por mês, um por semana.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09560" y="3108960"/>
            <a:ext cx="3730752" cy="1170432"/>
          </a:xfrm>
          <a:prstGeom prst="roundRect">
            <a:avLst>
              <a:gd name="adj" fmla="val 7813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32369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R$ 12.039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83880" y="36758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cada ponto percentual de rotatividade custa por ano no CD.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4480560"/>
            <a:ext cx="3730752" cy="1170432"/>
          </a:xfrm>
          <a:prstGeom prst="roundRect">
            <a:avLst>
              <a:gd name="adj" fmla="val 781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46085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R$ 40.129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83880" y="50474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saindo pela porta, sem nada entrando em contrapartida.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Ajustando o quadro real do CD e a taxa efetiva de rotatividade dos últimos 12 meses, o valor apurado substitui a estimativa deste slide.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ainda há o que não entra na planilha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custos abaixo são reais, reconhecidos pela literatura e deliberadamente deixados de fora do nosso cálculo.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11096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8745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operacional que vai embora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2585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Endereçamento, particularidades de clientes, atalhos de processo, histórico de erros já resolvidos. Nada disso está documentado — está na cabeça de quem sai.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911096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9168" y="18745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dominó sobre quem fica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2585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saída redistribui trabalho para a mesma equipe. Sobrecarga aumenta a chance da próxima saída, e o ciclo se retroalimenta.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7296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392424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16736" y="33558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nível de serviço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16736" y="37398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Novatos erram mais na separação e na conferência. Isso vira devolução, retrabalho, atraso e cliente insatisfeito — custo que aparece em outro centro de custo.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17296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392424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9168" y="33558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gestão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37398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coordenação e de RH consumido em desligamento, seleção e integração é tempo que não foi para melhoria de processo.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65429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873752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16736" y="48371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16736" y="5221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em adaptação tem maior exposição a incidentes. A meta-análise da Gallup associa alto engajamento a 63% menos incidentes de segurança.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65429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4873752"/>
            <a:ext cx="365760" cy="36576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48371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empregadora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9168" y="5221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Rotatividade alta em uma cidade do porte de Feira de Santana circula rápido e encarece a próxima contratação.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esses itens fossem monetizados, o custo por substituição se aproximaria do meio da faixa internacional — algo entre R$ 15.000 e R$ 21.000.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que muda a conversa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dinheiro, dois destinos possíveis. Um deles ninguém vê; o outro chega na casa do colaborador todo mês.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R$ 481.548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em rotatividade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rescisões, 48 processos seletivos, 48 integrações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ganho de produtividade em contrapartida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colaborador não percebe nada — o valor vai para verbas rescisórias, exames e retrabalho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gerou o gasto continua exatamente onde estava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53328" y="3246120"/>
            <a:ext cx="438912" cy="411480"/>
          </a:xfrm>
          <a:prstGeom prst="rightArrow">
            <a:avLst/>
          </a:prstGeom>
          <a:solidFill>
            <a:srgbClr val="9BA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691640"/>
            <a:ext cx="5010912" cy="3611880"/>
          </a:xfrm>
          <a:prstGeom prst="roundRect">
            <a:avLst>
              <a:gd name="adj" fmla="val 3038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920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VALOR, OUTRO DESTINO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2402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R$ 334/mês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9494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vale-alimentação, para cada um dos 120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352044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natureza salarial quando concedido via PAT — não gera FGTS nem INSS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é o benefício mais valorizado pelo trabalhador brasileiro (76%, pesquisa Ticket)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100% do quadro, e não só a quem está saindo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de mercado: o valor médio creditado pelas empresas é de R$ 583,75 (Pluxee, 1º sem/2026)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440680"/>
            <a:ext cx="11073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 R$ 481.548 ÷ 120 colaboradores ÷ 12 meses = R$ 334,41 por pessoa, por mês.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não afirma que o VA elimina o turnover. Ela mostra que o recurso existe e hoje está sendo consumido pelo problema em vez da solução.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equilíbrio: até onde o benefício se paga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percentual de rotatividade evitado libera R$ 12.039 por ano. É esse valor que financia o benefício.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73384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286000"/>
                <a:gridCol w="2423160"/>
                <a:gridCol w="2157984"/>
                <a:gridCol w="2057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mensal por pessoa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anual (120 pessoas)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 de turnover necessária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R$ 115.200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 p.p.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40% para 30,4%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provável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 p.p.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40% para 28,0%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 p.p.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40% para 22,1%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o pacote completo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R$ 288.000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 p.p.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40% para 16,1%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Improvável isoladamente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9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R$ 481.548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 p.p.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 zerado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recomendação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49560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em R$ 100/mês. É o maior valor que se autofinancia com uma redução de rotatividade tecnicamente defensável, e ainda deixa margem se o resultado vier acima do previsto.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91072" y="448056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46177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12 pontos é alcançável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0" y="49560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ganho de engajamento já responde por 21% menos rotatividade em organizações de alto turnover (Gallup) — 8,4 pontos. Os 3,6 restantes vêm do plano de carreira e do programa de feedback, que custam tempo de gestão, não orçamento.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benefício não age sozinho: ele sustenta o efeito das ações de carreira e liderança. Isolado, nenhum VA compra retenção.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 — Onda 1: de 0 a 90 dias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1ª e 2ª da Matriz GUT. Custo orçamentário próximo de zero, maior impacto esperado.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73384" cy="2029968"/>
          </a:xfrm>
          <a:prstGeom prst="roundRect">
            <a:avLst>
              <a:gd name="adj" fmla="val 5405"/>
            </a:avLst>
          </a:prstGeom>
          <a:solidFill>
            <a:srgbClr val="FAEAE8"/>
          </a:solidFill>
          <a:ln w="12700">
            <a:solidFill>
              <a:srgbClr val="FA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8836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do plano de cargos e salários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37744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e formalizar a tabela de classificação (Jr., Pleno, Sênior) por função do CD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requisitos objetivos de progressão e a régua de tempo mínimo em cada nível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 trilha para todo o quadro: a retenção começa quando o colaborador enxerga o próximo degrau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58200" y="1883664"/>
            <a:ext cx="292608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993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224942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 sensação de estagnação, que é a causa nº 1 de saída evitável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30540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60 dias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877056"/>
            <a:ext cx="11073384" cy="2029968"/>
          </a:xfrm>
          <a:prstGeom prst="roundRect">
            <a:avLst>
              <a:gd name="adj" fmla="val 5405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133088"/>
            <a:ext cx="457200" cy="457200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40965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feedback e gestão de liderança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4590288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obrigatória de 1-on-1 mensal entre gestor e liderado, com registro em sistema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padrão de 20 a 30 minutos com pergunta direta sobre satisfação e intenção de permanência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de permanência (stay interview) trimestral com os colaboradores-chave da operação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58200" y="4096512"/>
            <a:ext cx="292608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4206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44622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 insatisfação antes do pedido de demissão: 45% de quem sai nunca teve essa conversa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52669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30 dias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das duas ações exige aprovação de orçamento. Ambas exigem disciplina de gestão e acompanhamento semanal.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 — Onda 2: de 90 a 180 dias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3ª e 4ª da Matriz GUT, mais o suporte às causas de origem pessoal.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73384" cy="1234440"/>
          </a:xfrm>
          <a:prstGeom prst="roundRect">
            <a:avLst>
              <a:gd name="adj" fmla="val 8148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6464" y="179222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pacote de benefícios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26464" y="217627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mercado em Feira de Santana e reajuste do vale-alimentação para R$ 100 acima do praticado hoje, dentro do PAT. Revisão da coparticipação do plano de saúde.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17830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Autofinanciado por uma queda de 12 p.p. na rotatividade. Referência nacional: R$ 583,75 de valor médio creditado.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11073384" cy="1234440"/>
          </a:xfrm>
          <a:prstGeom prst="roundRect">
            <a:avLst>
              <a:gd name="adj" fmla="val 8148"/>
            </a:avLst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72968"/>
            <a:ext cx="420624" cy="420624"/>
          </a:xfrm>
          <a:prstGeom prst="ellipse">
            <a:avLst/>
          </a:prstGeom>
          <a:solidFill>
            <a:srgbClr val="3F51A0"/>
          </a:solidFill>
          <a:ln w="12700">
            <a:solidFill>
              <a:srgbClr val="3F51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11810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por produtividade com suporte proporcional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26464" y="35021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separação e conferência acompanhadas de dimensionamento de equipe, ferramenta e treinamento. Reunião semanal do coordenador com o time sobre os obstáculos da meta, não só sobre o número.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31089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5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a 4ª causa da GUT sem abrir mão de produtividade: engajamento alto está associado a 23% mais lucratividade.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297680"/>
            <a:ext cx="11073384" cy="1234440"/>
          </a:xfrm>
          <a:prstGeom prst="roundRect">
            <a:avLst>
              <a:gd name="adj" fmla="val 8148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498848"/>
            <a:ext cx="420624" cy="420624"/>
          </a:xfrm>
          <a:prstGeom prst="ellipse">
            <a:avLst/>
          </a:prstGeom>
          <a:solidFill>
            <a:srgbClr val="9C5A00"/>
          </a:solidFill>
          <a:ln w="12700">
            <a:solidFill>
              <a:srgbClr val="9C5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26464" y="444398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Apoio ao Empregado (PAE)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26464" y="482803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confidencial de educação financeira, orientação jurídica e suporte psicológico. Prioridade para renegociação de dívida e alternativas ao consignado, com convênio local.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44348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 a 5ª, 6ª, 9ª e 10ª causas da GUT — a dimensão pessoal, que a empresa não controla mas pode amparar.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715000"/>
            <a:ext cx="11073384" cy="621792"/>
          </a:xfrm>
          <a:prstGeom prst="roundRect">
            <a:avLst>
              <a:gd name="adj" fmla="val 13235"/>
            </a:avLst>
          </a:prstGeom>
          <a:solidFill>
            <a:srgbClr val="141922"/>
          </a:solidFill>
          <a:ln w="12700">
            <a:solidFill>
              <a:srgbClr val="141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532120"/>
            <a:ext cx="11073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importa: as ações da Onda 1 geram a economia que financia as da Onda 2. Inverter a ordem transforma retenção em despesa.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saber se está funcionando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9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medição, o investimento em retenção vira opinião. Cinco indicadores, apuração mensal, painel único.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73384" cy="777240"/>
          </a:xfrm>
          <a:prstGeom prst="roundRect">
            <a:avLst>
              <a:gd name="adj" fmla="val 9412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7452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691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rotatividade mensal e acumulada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3212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(admissões + desligamentos) ÷ 2 ÷ quadro médio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28% ao ano até dez/2027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587752"/>
            <a:ext cx="11073384" cy="777240"/>
          </a:xfrm>
          <a:prstGeom prst="roundRect">
            <a:avLst>
              <a:gd name="adj" fmla="val 9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770632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89888" y="25877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nos primeiros 90 dias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5877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desligados com menos de 3 meses de casa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25877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qualidade da seleção e da integração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83864"/>
            <a:ext cx="11073384" cy="777240"/>
          </a:xfrm>
          <a:prstGeom prst="roundRect">
            <a:avLst>
              <a:gd name="adj" fmla="val 9412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66744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34838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casa dos desligados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4838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meses entre admissão e desligamento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34838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pico continuar em 24 meses, a "saída calculada" não foi quebrada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379976"/>
            <a:ext cx="11073384" cy="777240"/>
          </a:xfrm>
          <a:prstGeom prst="roundRect">
            <a:avLst>
              <a:gd name="adj" fmla="val 9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562856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89888" y="437997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1-on-1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43799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liderados com conversa registrada no mês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43799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95% — é o indicador de disciplina da liderança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276088"/>
            <a:ext cx="11073384" cy="777240"/>
          </a:xfrm>
          <a:prstGeom prst="roundRect">
            <a:avLst>
              <a:gd name="adj" fmla="val 9412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5458968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89888" y="52760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apurado de rotatividade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52760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substituições × custo unitário do modelo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52760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ciclo: transforma retenção em resultado financeiro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os cinco indicadores podem ser publicados no mesmo painel gerencial já usado pelo CD, com apuração no fechamento de cada mês.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sendo pedido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2011680"/>
            <a:ext cx="457200" cy="45720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o modelo de custo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3520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as premissas do slide 8 pelo quadro real e pela rotatividade efetiva dos últimos 12 meses, para converter a estimativa em número auditado.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2011680"/>
            <a:ext cx="457200" cy="45720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Autorizar a Onda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3520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cargos e salários em 60 dias e rotina de 1-on-1 em 30 dias. Custo orçamentário: zero. Custo real: disciplina de gestão.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9872" y="1737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C3A"/>
          </a:solidFill>
          <a:ln w="12700">
            <a:solidFill>
              <a:srgbClr val="232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Reservar a decisão da Onda 2 para o 4º mês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três meses de indicador na mão, a revisão do vale-alimentação deixa de ser um pedido e passa a ser uma conta.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5257800"/>
            <a:ext cx="11073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Rotatividade alta é a norma no comércio atacadista brasileiro. Justamente por isso, quebrá-la é vantagem competitiva — e o dinheiro para fazer isso já está sendo gasto.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Bartofil  |  CD Feira de Santana  |  Gestão de Pessoas &amp; Operações  |  Agosto de 2026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e base metodológica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107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INTERNO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073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Bartofil — Relatório de Diagnóstico de RH, "Análise Integrada de Turnover e Retenção", Ago/2026, v1.0: Diagrama de Ishikawa e Matriz GUT.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2395728"/>
            <a:ext cx="1107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INTERNACIONAL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2688336"/>
            <a:ext cx="11073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— Q12 Meta-Analysis (183.806 unidades de negócio, 53 setores, 90 países): efeitos sobre rotatividade, lucratividade, absenteísmo e segurança.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— State of the Global Workplace: faixa de 50% a 200% do salário anual por reposição.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SHRM — State of the Workplace 2025 e dados de cost-per-hire: reposição de seis a nove meses de salário.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Institute — Retention Report: 33% do salário anual por desligamento; carreira como razão evitável nº 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1107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BRASIL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4407408"/>
            <a:ext cx="110733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mínimo de 2026: R$ 1.621,00 (reajuste de 6,79%, Lei 14.663/2023).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Salário / CAGED — CNAE 4691-5/00, comércio atacadista de alimentos: rotatividade de 49% e salário médio setorial de R$ 2.817 (jun/2025 a mai/2026).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Half sobre dados do CAGED: Brasil no topo do ranking mundial de rotatividade.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Sindilojas-SP e FecomercioSP sobre o Novo CAGED: rotatividade do varejo paulistano em 60,3% (2025).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Pluxee — Pesquisa do Preço Médio da Refeição, 1º sem/2026: valor facial médio de R$ 583,75.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— "O que faz um bom dia para o trabalhador?": 76% apontam VR e VA.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CLT, arts. 477 e 487; Lei 12.506/2011 (aviso prévio proporcional); Lei 6.321/76 (PAT).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276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 de autoria própria, construído sobre os parâmetros declarados no slide de premissas. Valores em reais de agosto de 2026.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2026-08-06T03:26:07Z</dcterms:created>
  <dcterms:modified xsi:type="dcterms:W3CDTF">2026-08-06T03:26:07Z</dcterms:modified>
</cp:coreProperties>
</file>