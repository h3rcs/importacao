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5" y="2024062"/>
            <a:ext cx="5276849" cy="42862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3175" y="2043112"/>
            <a:ext cx="5238749" cy="42481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8325" y="510602"/>
            <a:ext cx="437959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CEE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F0F0F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CEE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F0F0F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CEE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CEE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3821" y="440355"/>
            <a:ext cx="9609983" cy="1592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CEE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9465" y="2645169"/>
            <a:ext cx="8053069" cy="3208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F0F0F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hyperlink" Target="https://thumbs.dreamstime.com/b/paisagem-da-cidade-de-chuva-escura-com-vibe-gotham-edif%C3%ADcios-silenciados-e-c%C3%A9u-violeta-estranho" TargetMode="External"/><Relationship Id="rId10" Type="http://schemas.openxmlformats.org/officeDocument/2006/relationships/hyperlink" Target="https://external-preview.redd.it/R-nqKjk-k9YOcP8PXtNqy3u4NGgFMm3BEkuC3TKmJ8I.jpg?width=640&amp;crop=smart&amp;auto=webp&amp;s=bf641c0ba174402335a0d750c" TargetMode="External"/><Relationship Id="rId11" Type="http://schemas.openxmlformats.org/officeDocument/2006/relationships/hyperlink" Target="http://www.reddit.com/" TargetMode="External"/><Relationship Id="rId12" Type="http://schemas.openxmlformats.org/officeDocument/2006/relationships/hyperlink" Target="https://png.pngtree.com/thumb_back/fw800/background/20250320/pngtree-digital-interface-displaying-a-silhouette-of-person-surrounded-by-icons-representing-image_17125359.jpg" TargetMode="External"/><Relationship Id="rId13" Type="http://schemas.openxmlformats.org/officeDocument/2006/relationships/hyperlink" Target="https://imgv2-1-f.scribdassets.com/img/document/638994517/original/89e33ad091/1?v=1" TargetMode="External"/><Relationship Id="rId14" Type="http://schemas.openxmlformats.org/officeDocument/2006/relationships/hyperlink" Target="https://img.pikbest.com/wp/202405/computer-monitor-gamer-s-digital-haven-exploring-a-3d-dark-neon-workspace-with-and-luminescent-chair_983305" TargetMode="External"/><Relationship Id="rId15" Type="http://schemas.openxmlformats.org/officeDocument/2006/relationships/hyperlink" Target="https://images.adsttc.com/adbr001cdn.archdaily.net/wp-content/uploads/2012/08/1343983497_1343062681_city_skyline_ipad_backgrounds.jpeg" TargetMode="External"/><Relationship Id="rId16" Type="http://schemas.openxmlformats.org/officeDocument/2006/relationships/hyperlink" Target="http://www.archdaily.com.br/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hyperlink" Target="https://st2.depositphotos.com/46950342/58485/v/600/depositphotos_584850718-stock-video-young-girl-doing-exhausting-exercise.jpg" TargetMode="External"/><Relationship Id="rId6" Type="http://schemas.openxmlformats.org/officeDocument/2006/relationships/hyperlink" Target="https://png.pngtree.com/background/20250526/original/pngtree-a-lone-warrior-stands-against-fiery-sunset-wielding-glowing-sword-picture-image_163127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72136" y="2159982"/>
            <a:ext cx="7156450" cy="1054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750" spc="-1090"/>
              <a:t>FOCO</a:t>
            </a:r>
            <a:r>
              <a:rPr dirty="0" sz="6750" spc="-465"/>
              <a:t> </a:t>
            </a:r>
            <a:r>
              <a:rPr dirty="0" sz="6750" spc="-869"/>
              <a:t>E</a:t>
            </a:r>
            <a:r>
              <a:rPr dirty="0" sz="6750" spc="-450"/>
              <a:t> </a:t>
            </a:r>
            <a:r>
              <a:rPr dirty="0" sz="6750" spc="-835"/>
              <a:t>PRODUTIVIDADE</a:t>
            </a:r>
            <a:endParaRPr sz="6750"/>
          </a:p>
        </p:txBody>
      </p:sp>
      <p:sp>
        <p:nvSpPr>
          <p:cNvPr id="4" name="object 4"/>
          <p:cNvSpPr txBox="1"/>
          <p:nvPr/>
        </p:nvSpPr>
        <p:spPr>
          <a:xfrm>
            <a:off x="3750672" y="3220304"/>
            <a:ext cx="4690745" cy="1553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455">
                <a:solidFill>
                  <a:srgbClr val="F0F0F0"/>
                </a:solidFill>
                <a:latin typeface="Trebuchet MS"/>
                <a:cs typeface="Trebuchet MS"/>
              </a:rPr>
              <a:t>O</a:t>
            </a:r>
            <a:r>
              <a:rPr dirty="0" sz="2400" spc="-15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295">
                <a:solidFill>
                  <a:srgbClr val="F0F0F0"/>
                </a:solidFill>
                <a:latin typeface="Trebuchet MS"/>
                <a:cs typeface="Trebuchet MS"/>
              </a:rPr>
              <a:t>MODO</a:t>
            </a:r>
            <a:r>
              <a:rPr dirty="0" sz="2400" spc="-15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254">
                <a:solidFill>
                  <a:srgbClr val="F0F0F0"/>
                </a:solidFill>
                <a:latin typeface="Trebuchet MS"/>
                <a:cs typeface="Trebuchet MS"/>
              </a:rPr>
              <a:t>BATMAN</a:t>
            </a:r>
            <a:r>
              <a:rPr dirty="0" sz="2400" spc="-15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310">
                <a:solidFill>
                  <a:srgbClr val="F0F0F0"/>
                </a:solidFill>
                <a:latin typeface="Trebuchet MS"/>
                <a:cs typeface="Trebuchet MS"/>
              </a:rPr>
              <a:t>DE</a:t>
            </a:r>
            <a:r>
              <a:rPr dirty="0" sz="2400" spc="-15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265">
                <a:solidFill>
                  <a:srgbClr val="F0F0F0"/>
                </a:solidFill>
                <a:latin typeface="Trebuchet MS"/>
                <a:cs typeface="Trebuchet MS"/>
              </a:rPr>
              <a:t>VIVER</a:t>
            </a:r>
            <a:r>
              <a:rPr dirty="0" sz="2400" spc="-15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310">
                <a:solidFill>
                  <a:srgbClr val="F0F0F0"/>
                </a:solidFill>
                <a:latin typeface="Trebuchet MS"/>
                <a:cs typeface="Trebuchet MS"/>
              </a:rPr>
              <a:t>E</a:t>
            </a:r>
            <a:r>
              <a:rPr dirty="0" sz="2400" spc="-15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325">
                <a:solidFill>
                  <a:srgbClr val="F0F0F0"/>
                </a:solidFill>
                <a:latin typeface="Trebuchet MS"/>
                <a:cs typeface="Trebuchet MS"/>
              </a:rPr>
              <a:t>VENCER</a:t>
            </a:r>
            <a:endParaRPr sz="2400">
              <a:latin typeface="Trebuchet MS"/>
              <a:cs typeface="Trebuchet MS"/>
            </a:endParaRPr>
          </a:p>
          <a:p>
            <a:pPr algn="ctr" marL="12700" marR="5080">
              <a:lnSpc>
                <a:spcPct val="159900"/>
              </a:lnSpc>
              <a:spcBef>
                <a:spcPts val="2240"/>
              </a:spcBef>
            </a:pP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Estratégias </a:t>
            </a:r>
            <a:r>
              <a:rPr dirty="0" sz="1800" spc="95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1800" spc="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0">
                <a:solidFill>
                  <a:srgbClr val="F0F0F0"/>
                </a:solidFill>
                <a:latin typeface="Lucida Sans Unicode"/>
                <a:cs typeface="Lucida Sans Unicode"/>
              </a:rPr>
              <a:t>Foco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 Absoluto</a:t>
            </a:r>
            <a:r>
              <a:rPr dirty="0" sz="1800" spc="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0">
                <a:solidFill>
                  <a:srgbClr val="F0F0F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Disciplina Operacional.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8325" y="543941"/>
            <a:ext cx="2980055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515"/>
              <a:t>A</a:t>
            </a:r>
            <a:r>
              <a:rPr dirty="0" spc="-325"/>
              <a:t> </a:t>
            </a:r>
            <a:r>
              <a:rPr dirty="0" spc="-610"/>
              <a:t>VANTAGEM </a:t>
            </a:r>
            <a:r>
              <a:rPr dirty="0" spc="-415"/>
              <a:t>ASSIMÉTRICA</a:t>
            </a:r>
          </a:p>
        </p:txBody>
      </p:sp>
      <p:sp>
        <p:nvSpPr>
          <p:cNvPr id="4" name="object 4"/>
          <p:cNvSpPr/>
          <p:nvPr/>
        </p:nvSpPr>
        <p:spPr>
          <a:xfrm>
            <a:off x="581025" y="2552700"/>
            <a:ext cx="4943475" cy="38100"/>
          </a:xfrm>
          <a:custGeom>
            <a:avLst/>
            <a:gdLst/>
            <a:ahLst/>
            <a:cxnLst/>
            <a:rect l="l" t="t" r="r" b="b"/>
            <a:pathLst>
              <a:path w="4943475" h="38100">
                <a:moveTo>
                  <a:pt x="4943474" y="38099"/>
                </a:moveTo>
                <a:lnTo>
                  <a:pt x="0" y="38099"/>
                </a:lnTo>
                <a:lnTo>
                  <a:pt x="0" y="0"/>
                </a:lnTo>
                <a:lnTo>
                  <a:pt x="4943474" y="0"/>
                </a:lnTo>
                <a:lnTo>
                  <a:pt x="4943474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8325" y="3196844"/>
            <a:ext cx="4443730" cy="3095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F0F0F0"/>
                </a:solidFill>
                <a:latin typeface="Lucida Sans Unicode"/>
                <a:cs typeface="Lucida Sans Unicode"/>
              </a:rPr>
              <a:t>“Enquanto</a:t>
            </a:r>
            <a:r>
              <a:rPr dirty="0" sz="1950" spc="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235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950" spc="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00">
                <a:solidFill>
                  <a:srgbClr val="F0F0F0"/>
                </a:solidFill>
                <a:latin typeface="Lucida Sans Unicode"/>
                <a:cs typeface="Lucida Sans Unicode"/>
              </a:rPr>
              <a:t>cidade</a:t>
            </a:r>
            <a:r>
              <a:rPr dirty="0" sz="1950" spc="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F0F0F0"/>
                </a:solidFill>
                <a:latin typeface="Lucida Sans Unicode"/>
                <a:cs typeface="Lucida Sans Unicode"/>
              </a:rPr>
              <a:t>dorme,</a:t>
            </a:r>
            <a:r>
              <a:rPr dirty="0" sz="1950" spc="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80">
                <a:solidFill>
                  <a:srgbClr val="F0F0F0"/>
                </a:solidFill>
                <a:latin typeface="Lucida Sans Unicode"/>
                <a:cs typeface="Lucida Sans Unicode"/>
              </a:rPr>
              <a:t>alguém</a:t>
            </a: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dirty="0" sz="1950" spc="85">
                <a:solidFill>
                  <a:srgbClr val="F0F0F0"/>
                </a:solidFill>
                <a:latin typeface="Lucida Sans Unicode"/>
                <a:cs typeface="Lucida Sans Unicode"/>
              </a:rPr>
              <a:t>está</a:t>
            </a:r>
            <a:r>
              <a:rPr dirty="0" sz="1950" spc="-1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70">
                <a:solidFill>
                  <a:srgbClr val="F0F0F0"/>
                </a:solidFill>
                <a:latin typeface="Lucida Sans Unicode"/>
                <a:cs typeface="Lucida Sans Unicode"/>
              </a:rPr>
              <a:t>sempre</a:t>
            </a:r>
            <a:r>
              <a:rPr dirty="0" sz="1950" spc="-9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45">
                <a:solidFill>
                  <a:srgbClr val="F0F0F0"/>
                </a:solidFill>
                <a:latin typeface="Lucida Sans Unicode"/>
                <a:cs typeface="Lucida Sans Unicode"/>
              </a:rPr>
              <a:t>em</a:t>
            </a:r>
            <a:r>
              <a:rPr dirty="0" sz="1950" spc="-9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F0F0F0"/>
                </a:solidFill>
                <a:latin typeface="Lucida Sans Unicode"/>
                <a:cs typeface="Lucida Sans Unicode"/>
              </a:rPr>
              <a:t>movimento…”</a:t>
            </a:r>
            <a:endParaRPr sz="19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100" spc="-135">
                <a:solidFill>
                  <a:srgbClr val="FCEE00"/>
                </a:solidFill>
                <a:latin typeface="Arial Black"/>
                <a:cs typeface="Arial Black"/>
              </a:rPr>
              <a:t>Foco.</a:t>
            </a:r>
            <a:r>
              <a:rPr dirty="0" sz="2100" spc="-19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2100" spc="-75">
                <a:solidFill>
                  <a:srgbClr val="FCEE00"/>
                </a:solidFill>
                <a:latin typeface="Arial Black"/>
                <a:cs typeface="Arial Black"/>
              </a:rPr>
              <a:t>Disciplina.</a:t>
            </a:r>
            <a:r>
              <a:rPr dirty="0" sz="2100" spc="-18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2100" spc="-10">
                <a:solidFill>
                  <a:srgbClr val="FCEE00"/>
                </a:solidFill>
                <a:latin typeface="Arial Black"/>
                <a:cs typeface="Arial Black"/>
              </a:rPr>
              <a:t>Estratégia.</a:t>
            </a:r>
            <a:endParaRPr sz="2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100">
              <a:latin typeface="Arial Black"/>
              <a:cs typeface="Arial Black"/>
            </a:endParaRPr>
          </a:p>
          <a:p>
            <a:pPr marL="12700" marR="226060">
              <a:lnSpc>
                <a:spcPct val="160000"/>
              </a:lnSpc>
            </a:pPr>
            <a:r>
              <a:rPr dirty="0" sz="1950">
                <a:solidFill>
                  <a:srgbClr val="F0F0F0"/>
                </a:solidFill>
                <a:latin typeface="Lucida Sans Unicode"/>
                <a:cs typeface="Lucida Sans Unicode"/>
              </a:rPr>
              <a:t>Estes</a:t>
            </a:r>
            <a:r>
              <a:rPr dirty="0" sz="195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95">
                <a:solidFill>
                  <a:srgbClr val="F0F0F0"/>
                </a:solidFill>
                <a:latin typeface="Lucida Sans Unicode"/>
                <a:cs typeface="Lucida Sans Unicode"/>
              </a:rPr>
              <a:t>são</a:t>
            </a:r>
            <a:r>
              <a:rPr dirty="0" sz="1950" spc="-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F0F0F0"/>
                </a:solidFill>
                <a:latin typeface="Lucida Sans Unicode"/>
                <a:cs typeface="Lucida Sans Unicode"/>
              </a:rPr>
              <a:t>os</a:t>
            </a:r>
            <a:r>
              <a:rPr dirty="0" sz="1950" spc="-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F0F0F0"/>
                </a:solidFill>
                <a:latin typeface="Lucida Sans Unicode"/>
                <a:cs typeface="Lucida Sans Unicode"/>
              </a:rPr>
              <a:t>pilares</a:t>
            </a:r>
            <a:r>
              <a:rPr dirty="0" sz="1950" spc="-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60">
                <a:solidFill>
                  <a:srgbClr val="F0F0F0"/>
                </a:solidFill>
                <a:latin typeface="Lucida Sans Unicode"/>
                <a:cs typeface="Lucida Sans Unicode"/>
              </a:rPr>
              <a:t>da</a:t>
            </a:r>
            <a:r>
              <a:rPr dirty="0" sz="195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05">
                <a:solidFill>
                  <a:srgbClr val="F0F0F0"/>
                </a:solidFill>
                <a:latin typeface="Lucida Sans Unicode"/>
                <a:cs typeface="Lucida Sans Unicode"/>
              </a:rPr>
              <a:t>Vantagem </a:t>
            </a:r>
            <a:r>
              <a:rPr dirty="0" sz="1950" spc="-10">
                <a:solidFill>
                  <a:srgbClr val="F0F0F0"/>
                </a:solidFill>
                <a:latin typeface="Lucida Sans Unicode"/>
                <a:cs typeface="Lucida Sans Unicode"/>
              </a:rPr>
              <a:t>Assimétrica.</a:t>
            </a:r>
            <a:endParaRPr sz="195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100" y="9525"/>
            <a:ext cx="6048374" cy="6848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615"/>
              <a:t>POR</a:t>
            </a:r>
            <a:r>
              <a:rPr dirty="0" spc="-325"/>
              <a:t> </a:t>
            </a:r>
            <a:r>
              <a:rPr dirty="0" spc="-780"/>
              <a:t>QUE</a:t>
            </a:r>
            <a:r>
              <a:rPr dirty="0" spc="-325"/>
              <a:t> </a:t>
            </a:r>
            <a:r>
              <a:rPr dirty="0" spc="-910"/>
              <a:t>O</a:t>
            </a:r>
            <a:r>
              <a:rPr dirty="0" spc="-320"/>
              <a:t> </a:t>
            </a:r>
            <a:r>
              <a:rPr dirty="0" spc="-360"/>
              <a:t>BATMAN?</a:t>
            </a:r>
          </a:p>
        </p:txBody>
      </p:sp>
      <p:sp>
        <p:nvSpPr>
          <p:cNvPr id="15" name="object 15"/>
          <p:cNvSpPr/>
          <p:nvPr/>
        </p:nvSpPr>
        <p:spPr>
          <a:xfrm>
            <a:off x="581025" y="1638300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400300"/>
            <a:ext cx="3422599" cy="3533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3650" y="2724150"/>
            <a:ext cx="457199" cy="457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2095" y="3394583"/>
            <a:ext cx="1439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455">
                <a:solidFill>
                  <a:srgbClr val="0A84FF"/>
                </a:solidFill>
                <a:latin typeface="Trebuchet MS"/>
                <a:cs typeface="Trebuchet MS"/>
              </a:rPr>
              <a:t>O</a:t>
            </a:r>
            <a:r>
              <a:rPr dirty="0" sz="2400" spc="-165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400" spc="-345">
                <a:solidFill>
                  <a:srgbClr val="0A84FF"/>
                </a:solidFill>
                <a:latin typeface="Trebuchet MS"/>
                <a:cs typeface="Trebuchet MS"/>
              </a:rPr>
              <a:t>ARQUÉTIPO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595" y="4199254"/>
            <a:ext cx="279971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Ele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 o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arquétipo </a:t>
            </a:r>
            <a:r>
              <a:rPr dirty="0" sz="1500" spc="-25">
                <a:solidFill>
                  <a:srgbClr val="F0F0F0"/>
                </a:solidFill>
                <a:latin typeface="Lucida Sans Unicode"/>
                <a:cs typeface="Lucida Sans Unicode"/>
              </a:rPr>
              <a:t>do</a:t>
            </a:r>
            <a:endParaRPr sz="150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60000"/>
              </a:lnSpc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potencial</a:t>
            </a:r>
            <a:r>
              <a:rPr dirty="0" sz="15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75">
                <a:solidFill>
                  <a:srgbClr val="F0F0F0"/>
                </a:solidFill>
                <a:latin typeface="Lucida Sans Unicode"/>
                <a:cs typeface="Lucida Sans Unicode"/>
              </a:rPr>
              <a:t>humano</a:t>
            </a:r>
            <a:r>
              <a:rPr dirty="0" sz="15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5">
                <a:solidFill>
                  <a:srgbClr val="F0F0F0"/>
                </a:solidFill>
                <a:latin typeface="Lucida Sans Unicode"/>
                <a:cs typeface="Lucida Sans Unicode"/>
              </a:rPr>
              <a:t>levado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80">
                <a:solidFill>
                  <a:srgbClr val="F0F0F0"/>
                </a:solidFill>
                <a:latin typeface="Lucida Sans Unicode"/>
                <a:cs typeface="Lucida Sans Unicode"/>
              </a:rPr>
              <a:t>ao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limite</a:t>
            </a:r>
            <a:r>
              <a:rPr dirty="0" sz="1500" spc="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absoluto</a:t>
            </a:r>
            <a:r>
              <a:rPr dirty="0" sz="15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65">
                <a:solidFill>
                  <a:srgbClr val="F0F0F0"/>
                </a:solidFill>
                <a:latin typeface="Lucida Sans Unicode"/>
                <a:cs typeface="Lucida Sans Unicode"/>
              </a:rPr>
              <a:t>pela</a:t>
            </a:r>
            <a:r>
              <a:rPr dirty="0" sz="15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vontade.</a:t>
            </a:r>
            <a:endParaRPr sz="15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4625" y="2400300"/>
            <a:ext cx="3422599" cy="3533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67251" y="2724150"/>
            <a:ext cx="457199" cy="457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54215" y="3394583"/>
            <a:ext cx="2282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90">
                <a:solidFill>
                  <a:srgbClr val="0A84FF"/>
                </a:solidFill>
                <a:latin typeface="Trebuchet MS"/>
                <a:cs typeface="Trebuchet MS"/>
              </a:rPr>
              <a:t>INTELIGÊNCIA</a:t>
            </a:r>
            <a:r>
              <a:rPr dirty="0" sz="2400" spc="-125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400" spc="-330">
                <a:solidFill>
                  <a:srgbClr val="0A84FF"/>
                </a:solidFill>
                <a:latin typeface="Trebuchet MS"/>
                <a:cs typeface="Trebuchet MS"/>
              </a:rPr>
              <a:t>TÁTICA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1338" y="4199254"/>
            <a:ext cx="2809240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Ele</a:t>
            </a:r>
            <a:r>
              <a:rPr dirty="0" sz="1500" spc="-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80">
                <a:solidFill>
                  <a:srgbClr val="F0F0F0"/>
                </a:solidFill>
                <a:latin typeface="Lucida Sans Unicode"/>
                <a:cs typeface="Lucida Sans Unicode"/>
              </a:rPr>
              <a:t>não</a:t>
            </a:r>
            <a:r>
              <a:rPr dirty="0" sz="1500" spc="-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reage.</a:t>
            </a:r>
            <a:r>
              <a:rPr dirty="0" sz="1500" spc="-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Ele</a:t>
            </a:r>
            <a:r>
              <a:rPr dirty="0" sz="1500" spc="-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0">
                <a:solidFill>
                  <a:srgbClr val="F0F0F0"/>
                </a:solidFill>
                <a:latin typeface="Lucida Sans Unicode"/>
                <a:cs typeface="Lucida Sans Unicode"/>
              </a:rPr>
              <a:t>antecipa.</a:t>
            </a:r>
            <a:r>
              <a:rPr dirty="0" sz="1500" spc="-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5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endParaRPr sz="1500">
              <a:latin typeface="Lucida Sans Unicode"/>
              <a:cs typeface="Lucida Sans Unicode"/>
            </a:endParaRPr>
          </a:p>
          <a:p>
            <a:pPr algn="ctr" marL="374015" marR="366395">
              <a:lnSpc>
                <a:spcPct val="160000"/>
              </a:lnSpc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vitória</a:t>
            </a:r>
            <a:r>
              <a:rPr dirty="0" sz="15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1500" spc="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definida</a:t>
            </a:r>
            <a:r>
              <a:rPr dirty="0" sz="1500" spc="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0">
                <a:solidFill>
                  <a:srgbClr val="F0F0F0"/>
                </a:solidFill>
                <a:latin typeface="Lucida Sans Unicode"/>
                <a:cs typeface="Lucida Sans Unicode"/>
              </a:rPr>
              <a:t>pelo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preparo</a:t>
            </a:r>
            <a:r>
              <a:rPr dirty="0" sz="1500" spc="2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obsessivo.</a:t>
            </a:r>
            <a:endParaRPr sz="15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8225" y="2400300"/>
            <a:ext cx="3422599" cy="3533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70850" y="2724150"/>
            <a:ext cx="457199" cy="457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49790" y="3394583"/>
            <a:ext cx="2098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70">
                <a:solidFill>
                  <a:srgbClr val="0A84FF"/>
                </a:solidFill>
                <a:latin typeface="Trebuchet MS"/>
                <a:cs typeface="Trebuchet MS"/>
              </a:rPr>
              <a:t>OTIMIZAÇÃO</a:t>
            </a:r>
            <a:r>
              <a:rPr dirty="0" sz="2400" spc="-155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400" spc="-400">
                <a:solidFill>
                  <a:srgbClr val="0A84FF"/>
                </a:solidFill>
                <a:latin typeface="Trebuchet MS"/>
                <a:cs typeface="Trebuchet MS"/>
              </a:rPr>
              <a:t>TOTAL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27716" y="4199254"/>
            <a:ext cx="2543810" cy="135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3525">
              <a:lnSpc>
                <a:spcPct val="100000"/>
              </a:lnSpc>
              <a:spcBef>
                <a:spcPts val="100"/>
              </a:spcBef>
            </a:pPr>
            <a:r>
              <a:rPr dirty="0" sz="1500" spc="135">
                <a:solidFill>
                  <a:srgbClr val="F0F0F0"/>
                </a:solidFill>
                <a:latin typeface="Lucida Sans Unicode"/>
                <a:cs typeface="Lucida Sans Unicode"/>
              </a:rPr>
              <a:t>Cada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segundo,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20">
                <a:solidFill>
                  <a:srgbClr val="F0F0F0"/>
                </a:solidFill>
                <a:latin typeface="Lucida Sans Unicode"/>
                <a:cs typeface="Lucida Sans Unicode"/>
              </a:rPr>
              <a:t>cada</a:t>
            </a:r>
            <a:endParaRPr sz="1500">
              <a:latin typeface="Lucida Sans Unicode"/>
              <a:cs typeface="Lucida Sans Unicode"/>
            </a:endParaRPr>
          </a:p>
          <a:p>
            <a:pPr marL="12700" marR="5080" indent="354965">
              <a:lnSpc>
                <a:spcPct val="160000"/>
              </a:lnSpc>
            </a:pPr>
            <a:r>
              <a:rPr dirty="0" sz="1500" spc="55">
                <a:solidFill>
                  <a:srgbClr val="F0F0F0"/>
                </a:solidFill>
                <a:latin typeface="Lucida Sans Unicode"/>
                <a:cs typeface="Lucida Sans Unicode"/>
              </a:rPr>
              <a:t>ferramenta</a:t>
            </a:r>
            <a:r>
              <a:rPr dirty="0" sz="1500" spc="-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e</a:t>
            </a:r>
            <a:r>
              <a:rPr dirty="0" sz="1500" spc="-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20">
                <a:solidFill>
                  <a:srgbClr val="F0F0F0"/>
                </a:solidFill>
                <a:latin typeface="Lucida Sans Unicode"/>
                <a:cs typeface="Lucida Sans Unicode"/>
              </a:rPr>
              <a:t>cada </a:t>
            </a:r>
            <a:r>
              <a:rPr dirty="0" sz="1500" spc="60">
                <a:solidFill>
                  <a:srgbClr val="F0F0F0"/>
                </a:solidFill>
                <a:latin typeface="Lucida Sans Unicode"/>
                <a:cs typeface="Lucida Sans Unicode"/>
              </a:rPr>
              <a:t>pensamento</a:t>
            </a:r>
            <a:r>
              <a:rPr dirty="0" sz="150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75">
                <a:solidFill>
                  <a:srgbClr val="F0F0F0"/>
                </a:solidFill>
                <a:latin typeface="Lucida Sans Unicode"/>
                <a:cs typeface="Lucida Sans Unicode"/>
              </a:rPr>
              <a:t>são</a:t>
            </a:r>
            <a:r>
              <a:rPr dirty="0" sz="1500" spc="-6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recursos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otimizados</a:t>
            </a:r>
            <a:r>
              <a:rPr dirty="0" sz="15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5">
                <a:solidFill>
                  <a:srgbClr val="F0F0F0"/>
                </a:solidFill>
                <a:latin typeface="Lucida Sans Unicode"/>
                <a:cs typeface="Lucida Sans Unicode"/>
              </a:rPr>
              <a:t>para</a:t>
            </a:r>
            <a:r>
              <a:rPr dirty="0" sz="15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8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5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missão.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68325" y="2285682"/>
            <a:ext cx="4776470" cy="3231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225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0F0F0"/>
                </a:solidFill>
                <a:latin typeface="Lucida Sans Unicode"/>
                <a:cs typeface="Lucida Sans Unicode"/>
              </a:rPr>
              <a:t>vitória</a:t>
            </a:r>
            <a:r>
              <a:rPr dirty="0" sz="225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35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225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0F0F0"/>
                </a:solidFill>
                <a:latin typeface="Lucida Sans Unicode"/>
                <a:cs typeface="Lucida Sans Unicode"/>
              </a:rPr>
              <a:t>definida</a:t>
            </a:r>
            <a:r>
              <a:rPr dirty="0" sz="225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70">
                <a:solidFill>
                  <a:srgbClr val="FCEE00"/>
                </a:solidFill>
                <a:latin typeface="Arial Black"/>
                <a:cs typeface="Arial Black"/>
              </a:rPr>
              <a:t>antes</a:t>
            </a:r>
            <a:r>
              <a:rPr dirty="0" sz="2250" spc="-6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2250" spc="160">
                <a:solidFill>
                  <a:srgbClr val="F0F0F0"/>
                </a:solidFill>
                <a:latin typeface="Lucida Sans Unicode"/>
                <a:cs typeface="Lucida Sans Unicode"/>
              </a:rPr>
              <a:t>da</a:t>
            </a:r>
            <a:endParaRPr sz="2250">
              <a:latin typeface="Lucida Sans Unicode"/>
              <a:cs typeface="Lucida Sans Unicode"/>
            </a:endParaRPr>
          </a:p>
          <a:p>
            <a:pPr marL="12700" marR="5080">
              <a:lnSpc>
                <a:spcPct val="160000"/>
              </a:lnSpc>
            </a:pPr>
            <a:r>
              <a:rPr dirty="0" sz="2250" spc="75">
                <a:solidFill>
                  <a:srgbClr val="F0F0F0"/>
                </a:solidFill>
                <a:latin typeface="Lucida Sans Unicode"/>
                <a:cs typeface="Lucida Sans Unicode"/>
              </a:rPr>
              <a:t>batalha.</a:t>
            </a:r>
            <a:r>
              <a:rPr dirty="0" sz="2250" spc="-1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2250" spc="-10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50">
                <a:solidFill>
                  <a:srgbClr val="F0F0F0"/>
                </a:solidFill>
                <a:latin typeface="Lucida Sans Unicode"/>
                <a:cs typeface="Lucida Sans Unicode"/>
              </a:rPr>
              <a:t>Foco</a:t>
            </a:r>
            <a:r>
              <a:rPr dirty="0" sz="2250" spc="-10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35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2250" spc="-10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27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2250" spc="-10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10">
                <a:solidFill>
                  <a:srgbClr val="F0F0F0"/>
                </a:solidFill>
                <a:latin typeface="Lucida Sans Unicode"/>
                <a:cs typeface="Lucida Sans Unicode"/>
              </a:rPr>
              <a:t>sua</a:t>
            </a:r>
            <a:r>
              <a:rPr dirty="0" sz="2250" spc="-10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30">
                <a:solidFill>
                  <a:srgbClr val="F0F0F0"/>
                </a:solidFill>
                <a:latin typeface="Lucida Sans Unicode"/>
                <a:cs typeface="Lucida Sans Unicode"/>
              </a:rPr>
              <a:t>arena</a:t>
            </a:r>
            <a:r>
              <a:rPr dirty="0" sz="2250" spc="-1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90">
                <a:solidFill>
                  <a:srgbClr val="F0F0F0"/>
                </a:solidFill>
                <a:latin typeface="Lucida Sans Unicode"/>
                <a:cs typeface="Lucida Sans Unicode"/>
              </a:rPr>
              <a:t>de </a:t>
            </a:r>
            <a:r>
              <a:rPr dirty="0" sz="2250" spc="80">
                <a:solidFill>
                  <a:srgbClr val="F0F0F0"/>
                </a:solidFill>
                <a:latin typeface="Lucida Sans Unicode"/>
                <a:cs typeface="Lucida Sans Unicode"/>
              </a:rPr>
              <a:t>preparação.</a:t>
            </a:r>
            <a:endParaRPr sz="2250">
              <a:latin typeface="Lucida Sans Unicode"/>
              <a:cs typeface="Lucida Sans Unicode"/>
            </a:endParaRPr>
          </a:p>
          <a:p>
            <a:pPr marL="374650" marR="1166495">
              <a:lnSpc>
                <a:spcPct val="181400"/>
              </a:lnSpc>
              <a:spcBef>
                <a:spcPts val="1165"/>
              </a:spcBef>
            </a:pPr>
            <a:r>
              <a:rPr dirty="0" sz="1950" spc="-50">
                <a:solidFill>
                  <a:srgbClr val="F0F0F0"/>
                </a:solidFill>
                <a:latin typeface="Lucida Sans Unicode"/>
                <a:cs typeface="Lucida Sans Unicode"/>
              </a:rPr>
              <a:t>DEEP</a:t>
            </a:r>
            <a:r>
              <a:rPr dirty="0" sz="195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F0F0F0"/>
                </a:solidFill>
                <a:latin typeface="Lucida Sans Unicode"/>
                <a:cs typeface="Lucida Sans Unicode"/>
              </a:rPr>
              <a:t>WORK</a:t>
            </a:r>
            <a:r>
              <a:rPr dirty="0" sz="195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F0F0F0"/>
                </a:solidFill>
                <a:latin typeface="Lucida Sans Unicode"/>
                <a:cs typeface="Lucida Sans Unicode"/>
              </a:rPr>
              <a:t>INTENCIONAL PREPARO</a:t>
            </a:r>
            <a:r>
              <a:rPr dirty="0" sz="1950" spc="-1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F0F0F0"/>
                </a:solidFill>
                <a:latin typeface="Lucida Sans Unicode"/>
                <a:cs typeface="Lucida Sans Unicode"/>
              </a:rPr>
              <a:t>OBSESSIVO CONSISTÊNCIA</a:t>
            </a:r>
            <a:r>
              <a:rPr dirty="0" sz="1950" spc="-1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60">
                <a:solidFill>
                  <a:srgbClr val="F0F0F0"/>
                </a:solidFill>
                <a:latin typeface="Lucida Sans Unicode"/>
                <a:cs typeface="Lucida Sans Unicode"/>
              </a:rPr>
              <a:t>INABALÁVEL</a:t>
            </a:r>
            <a:endParaRPr sz="195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4251148"/>
            <a:ext cx="219074" cy="1559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4781031"/>
            <a:ext cx="219074" cy="1559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5329259"/>
            <a:ext cx="219074" cy="155927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6334125" y="2024062"/>
            <a:ext cx="5276850" cy="4286250"/>
            <a:chOff x="6334125" y="2024062"/>
            <a:chExt cx="5276850" cy="4286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125" y="2024062"/>
              <a:ext cx="5276849" cy="4286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3175" y="2043112"/>
              <a:ext cx="5238749" cy="4248149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947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515"/>
              <a:t>A</a:t>
            </a:r>
            <a:r>
              <a:rPr dirty="0" spc="-320"/>
              <a:t> </a:t>
            </a:r>
            <a:r>
              <a:rPr dirty="0" spc="-565"/>
              <a:t>LIÇÃO</a:t>
            </a:r>
            <a:r>
              <a:rPr dirty="0" spc="-320"/>
              <a:t> </a:t>
            </a:r>
            <a:r>
              <a:rPr dirty="0" spc="-780"/>
              <a:t>DO</a:t>
            </a:r>
            <a:r>
              <a:rPr dirty="0" spc="-315"/>
              <a:t> </a:t>
            </a:r>
            <a:r>
              <a:rPr dirty="0" spc="-605"/>
              <a:t>ESTRATEGISTA</a:t>
            </a:r>
          </a:p>
        </p:txBody>
      </p:sp>
      <p:sp>
        <p:nvSpPr>
          <p:cNvPr id="10" name="object 10"/>
          <p:cNvSpPr/>
          <p:nvPr/>
        </p:nvSpPr>
        <p:spPr>
          <a:xfrm>
            <a:off x="581025" y="1604962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68325" y="2450274"/>
            <a:ext cx="5296535" cy="2021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25">
                <a:solidFill>
                  <a:srgbClr val="F0F0F0"/>
                </a:solidFill>
                <a:latin typeface="Trebuchet MS"/>
                <a:cs typeface="Trebuchet MS"/>
              </a:rPr>
              <a:t>Identifique</a:t>
            </a:r>
            <a:r>
              <a:rPr dirty="0" sz="3600" spc="-22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3600" spc="-114">
                <a:solidFill>
                  <a:srgbClr val="F0F0F0"/>
                </a:solidFill>
                <a:latin typeface="Trebuchet MS"/>
                <a:cs typeface="Trebuchet MS"/>
              </a:rPr>
              <a:t>SuaS</a:t>
            </a:r>
            <a:r>
              <a:rPr dirty="0" sz="3600" spc="-21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3600" spc="-45">
                <a:solidFill>
                  <a:srgbClr val="F0F0F0"/>
                </a:solidFill>
                <a:latin typeface="Trebuchet MS"/>
                <a:cs typeface="Trebuchet MS"/>
              </a:rPr>
              <a:t>'NêmeSiS':</a:t>
            </a:r>
            <a:endParaRPr sz="36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2750"/>
              </a:spcBef>
            </a:pPr>
            <a:r>
              <a:rPr dirty="0" sz="2250">
                <a:solidFill>
                  <a:srgbClr val="F0F0F0"/>
                </a:solidFill>
                <a:latin typeface="Lucida Sans Unicode"/>
                <a:cs typeface="Lucida Sans Unicode"/>
              </a:rPr>
              <a:t>Quais</a:t>
            </a:r>
            <a:r>
              <a:rPr dirty="0" sz="2250" spc="-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10">
                <a:solidFill>
                  <a:srgbClr val="F0F0F0"/>
                </a:solidFill>
                <a:latin typeface="Lucida Sans Unicode"/>
                <a:cs typeface="Lucida Sans Unicode"/>
              </a:rPr>
              <a:t>são</a:t>
            </a:r>
            <a:r>
              <a:rPr dirty="0" sz="225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40">
                <a:solidFill>
                  <a:srgbClr val="F0F0F0"/>
                </a:solidFill>
                <a:latin typeface="Lucida Sans Unicode"/>
                <a:cs typeface="Lucida Sans Unicode"/>
              </a:rPr>
              <a:t>as</a:t>
            </a:r>
            <a:r>
              <a:rPr dirty="0" sz="225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65">
                <a:solidFill>
                  <a:srgbClr val="F0F0F0"/>
                </a:solidFill>
                <a:latin typeface="Lucida Sans Unicode"/>
                <a:cs typeface="Lucida Sans Unicode"/>
              </a:rPr>
              <a:t>forças</a:t>
            </a:r>
            <a:r>
              <a:rPr dirty="0" sz="225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90">
                <a:solidFill>
                  <a:srgbClr val="F0F0F0"/>
                </a:solidFill>
                <a:latin typeface="Lucida Sans Unicode"/>
                <a:cs typeface="Lucida Sans Unicode"/>
              </a:rPr>
              <a:t>que</a:t>
            </a:r>
            <a:r>
              <a:rPr dirty="0" sz="225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10">
                <a:solidFill>
                  <a:srgbClr val="F0F0F0"/>
                </a:solidFill>
                <a:latin typeface="Lucida Sans Unicode"/>
                <a:cs typeface="Lucida Sans Unicode"/>
              </a:rPr>
              <a:t>drenam</a:t>
            </a:r>
            <a:r>
              <a:rPr dirty="0" sz="2250" spc="-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85">
                <a:solidFill>
                  <a:srgbClr val="F0F0F0"/>
                </a:solidFill>
                <a:latin typeface="Lucida Sans Unicode"/>
                <a:cs typeface="Lucida Sans Unicode"/>
              </a:rPr>
              <a:t>sua </a:t>
            </a:r>
            <a:r>
              <a:rPr dirty="0" sz="2250" spc="65">
                <a:solidFill>
                  <a:srgbClr val="F0F0F0"/>
                </a:solidFill>
                <a:latin typeface="Lucida Sans Unicode"/>
                <a:cs typeface="Lucida Sans Unicode"/>
              </a:rPr>
              <a:t>energia</a:t>
            </a:r>
            <a:r>
              <a:rPr dirty="0" sz="2250" spc="-8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65">
                <a:solidFill>
                  <a:srgbClr val="F0F0F0"/>
                </a:solidFill>
                <a:latin typeface="Lucida Sans Unicode"/>
                <a:cs typeface="Lucida Sans Unicode"/>
              </a:rPr>
              <a:t>cognitiva?</a:t>
            </a:r>
            <a:endParaRPr sz="2250">
              <a:latin typeface="Lucida Sans Unicode"/>
              <a:cs typeface="Lucida Sans Unicode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6334125" y="2024062"/>
            <a:ext cx="5276850" cy="4286250"/>
            <a:chOff x="6334125" y="2024062"/>
            <a:chExt cx="5276850" cy="4286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125" y="2024062"/>
              <a:ext cx="5276849" cy="4286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3175" y="2043112"/>
              <a:ext cx="5238749" cy="424814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947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509"/>
              <a:t>MAPEANDO</a:t>
            </a:r>
            <a:r>
              <a:rPr dirty="0" spc="-305"/>
              <a:t> </a:t>
            </a:r>
            <a:r>
              <a:rPr dirty="0" spc="-910"/>
              <a:t>O</a:t>
            </a:r>
            <a:r>
              <a:rPr dirty="0" spc="-305"/>
              <a:t> </a:t>
            </a:r>
            <a:r>
              <a:rPr dirty="0" spc="-470"/>
              <a:t>CAMPO</a:t>
            </a:r>
          </a:p>
        </p:txBody>
      </p:sp>
      <p:sp>
        <p:nvSpPr>
          <p:cNvPr id="7" name="object 7"/>
          <p:cNvSpPr/>
          <p:nvPr/>
        </p:nvSpPr>
        <p:spPr>
          <a:xfrm>
            <a:off x="581025" y="1604962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530"/>
              <a:t>OS</a:t>
            </a:r>
            <a:r>
              <a:rPr dirty="0" spc="-305"/>
              <a:t> </a:t>
            </a:r>
            <a:r>
              <a:rPr dirty="0" spc="-480"/>
              <a:t>ADVERSÁRIOS</a:t>
            </a:r>
            <a:r>
              <a:rPr dirty="0" spc="-305"/>
              <a:t> </a:t>
            </a:r>
            <a:r>
              <a:rPr dirty="0" spc="-550"/>
              <a:t>MODERNOS</a:t>
            </a:r>
          </a:p>
        </p:txBody>
      </p:sp>
      <p:sp>
        <p:nvSpPr>
          <p:cNvPr id="9" name="object 9"/>
          <p:cNvSpPr/>
          <p:nvPr/>
        </p:nvSpPr>
        <p:spPr>
          <a:xfrm>
            <a:off x="581025" y="1638300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0" y="2228254"/>
            <a:ext cx="219074" cy="28574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225675" y="2206409"/>
            <a:ext cx="8146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solidFill>
                  <a:srgbClr val="FCEE00"/>
                </a:solidFill>
                <a:latin typeface="Arial Black"/>
                <a:cs typeface="Arial Black"/>
              </a:rPr>
              <a:t>O</a:t>
            </a:r>
            <a:r>
              <a:rPr dirty="0" sz="1800" spc="-14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70">
                <a:solidFill>
                  <a:srgbClr val="FCEE00"/>
                </a:solidFill>
                <a:latin typeface="Arial Black"/>
                <a:cs typeface="Arial Black"/>
              </a:rPr>
              <a:t>ALGORITMO</a:t>
            </a:r>
            <a:r>
              <a:rPr dirty="0" sz="1800" spc="-14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90">
                <a:solidFill>
                  <a:srgbClr val="FCEE00"/>
                </a:solidFill>
                <a:latin typeface="Arial Black"/>
                <a:cs typeface="Arial Black"/>
              </a:rPr>
              <a:t>DA</a:t>
            </a:r>
            <a:r>
              <a:rPr dirty="0" sz="1800" spc="-14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20">
                <a:solidFill>
                  <a:srgbClr val="FCEE00"/>
                </a:solidFill>
                <a:latin typeface="Arial Black"/>
                <a:cs typeface="Arial Black"/>
              </a:rPr>
              <a:t>DOPAMINA:</a:t>
            </a:r>
            <a:r>
              <a:rPr dirty="0" sz="1800" spc="-2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8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"Economia</a:t>
            </a:r>
            <a:r>
              <a:rPr dirty="0" sz="18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35">
                <a:solidFill>
                  <a:srgbClr val="F0F0F0"/>
                </a:solidFill>
                <a:latin typeface="Lucida Sans Unicode"/>
                <a:cs typeface="Lucida Sans Unicode"/>
              </a:rPr>
              <a:t>da</a:t>
            </a:r>
            <a:r>
              <a:rPr dirty="0" sz="1800" spc="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Atenção"</a:t>
            </a:r>
            <a:r>
              <a:rPr dirty="0" sz="18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5">
                <a:solidFill>
                  <a:srgbClr val="F0F0F0"/>
                </a:solidFill>
                <a:latin typeface="Lucida Sans Unicode"/>
                <a:cs typeface="Lucida Sans Unicode"/>
              </a:rPr>
              <a:t>projetada</a:t>
            </a:r>
            <a:r>
              <a:rPr dirty="0" sz="18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85">
                <a:solidFill>
                  <a:srgbClr val="F0F0F0"/>
                </a:solidFill>
                <a:latin typeface="Lucida Sans Unicode"/>
                <a:cs typeface="Lucida Sans Unicode"/>
              </a:rPr>
              <a:t>para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Lucida Sans Unicode"/>
                <a:cs typeface="Lucida Sans Unicode"/>
              </a:rPr>
              <a:t>viciar.</a:t>
            </a:r>
            <a:endParaRPr sz="1800">
              <a:latin typeface="Lucida Sans Unicode"/>
              <a:cs typeface="Lucida Sans Unicode"/>
            </a:endParaRPr>
          </a:p>
          <a:p>
            <a:pPr marL="168275" marR="729615">
              <a:lnSpc>
                <a:spcPct val="159900"/>
              </a:lnSpc>
              <a:spcBef>
                <a:spcPts val="725"/>
              </a:spcBef>
            </a:pPr>
            <a:r>
              <a:rPr dirty="0" sz="1800" spc="-90">
                <a:solidFill>
                  <a:srgbClr val="FCEE00"/>
                </a:solidFill>
                <a:latin typeface="Arial Black"/>
                <a:cs typeface="Arial Black"/>
              </a:rPr>
              <a:t>O</a:t>
            </a:r>
            <a:r>
              <a:rPr dirty="0" sz="1800" spc="-16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75">
                <a:solidFill>
                  <a:srgbClr val="FCEE00"/>
                </a:solidFill>
                <a:latin typeface="Arial Black"/>
                <a:cs typeface="Arial Black"/>
              </a:rPr>
              <a:t>RUÍDO</a:t>
            </a: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 CONSTANTE:</a:t>
            </a:r>
            <a:r>
              <a:rPr dirty="0" sz="1800" spc="-5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90">
                <a:latin typeface="Lucida Sans Unicode"/>
                <a:cs typeface="Lucida Sans Unicode"/>
              </a:rPr>
              <a:t>Fragmentação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Cognitiva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130">
                <a:latin typeface="Lucida Sans Unicode"/>
                <a:cs typeface="Lucida Sans Unicode"/>
              </a:rPr>
              <a:t>causada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-25">
                <a:latin typeface="Lucida Sans Unicode"/>
                <a:cs typeface="Lucida Sans Unicode"/>
              </a:rPr>
              <a:t>por </a:t>
            </a:r>
            <a:r>
              <a:rPr dirty="0" sz="1800" spc="-10">
                <a:latin typeface="Lucida Sans Unicode"/>
                <a:cs typeface="Lucida Sans Unicode"/>
              </a:rPr>
              <a:t>interrupções.</a:t>
            </a:r>
            <a:endParaRPr sz="1800">
              <a:latin typeface="Lucida Sans Unicode"/>
              <a:cs typeface="Lucida Sans Unicode"/>
            </a:endParaRPr>
          </a:p>
          <a:p>
            <a:pPr marL="168275" marR="638810">
              <a:lnSpc>
                <a:spcPct val="159900"/>
              </a:lnSpc>
              <a:spcBef>
                <a:spcPts val="725"/>
              </a:spcBef>
            </a:pPr>
            <a:r>
              <a:rPr dirty="0" sz="1800" spc="-90">
                <a:solidFill>
                  <a:srgbClr val="FCEE00"/>
                </a:solidFill>
                <a:latin typeface="Arial Black"/>
                <a:cs typeface="Arial Black"/>
              </a:rPr>
              <a:t>A</a:t>
            </a:r>
            <a:r>
              <a:rPr dirty="0" sz="1800" spc="-16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75">
                <a:solidFill>
                  <a:srgbClr val="FCEE00"/>
                </a:solidFill>
                <a:latin typeface="Arial Black"/>
                <a:cs typeface="Arial Black"/>
              </a:rPr>
              <a:t>INÉRCIA</a:t>
            </a:r>
            <a:r>
              <a:rPr dirty="0" sz="1800" spc="-16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90">
                <a:solidFill>
                  <a:srgbClr val="FCEE00"/>
                </a:solidFill>
                <a:latin typeface="Arial Black"/>
                <a:cs typeface="Arial Black"/>
              </a:rPr>
              <a:t>DA</a:t>
            </a: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35">
                <a:solidFill>
                  <a:srgbClr val="FCEE00"/>
                </a:solidFill>
                <a:latin typeface="Arial Black"/>
                <a:cs typeface="Arial Black"/>
              </a:rPr>
              <a:t>PROCRASTINAÇÃO:</a:t>
            </a:r>
            <a:r>
              <a:rPr dirty="0" sz="1800" spc="-5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resistência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135">
                <a:latin typeface="Lucida Sans Unicode"/>
                <a:cs typeface="Lucida Sans Unicode"/>
              </a:rPr>
              <a:t>da</a:t>
            </a:r>
            <a:r>
              <a:rPr dirty="0" sz="1800" spc="-20">
                <a:latin typeface="Lucida Sans Unicode"/>
                <a:cs typeface="Lucida Sans Unicode"/>
              </a:rPr>
              <a:t> </a:t>
            </a:r>
            <a:r>
              <a:rPr dirty="0" sz="1800" spc="95">
                <a:latin typeface="Lucida Sans Unicode"/>
                <a:cs typeface="Lucida Sans Unicode"/>
              </a:rPr>
              <a:t>amígdala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100">
                <a:latin typeface="Lucida Sans Unicode"/>
                <a:cs typeface="Lucida Sans Unicode"/>
              </a:rPr>
              <a:t>ao </a:t>
            </a:r>
            <a:r>
              <a:rPr dirty="0" sz="1800">
                <a:latin typeface="Lucida Sans Unicode"/>
                <a:cs typeface="Lucida Sans Unicode"/>
              </a:rPr>
              <a:t>esforço</a:t>
            </a:r>
            <a:r>
              <a:rPr dirty="0" sz="1800" spc="16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focado.</a:t>
            </a:r>
            <a:endParaRPr sz="1800">
              <a:latin typeface="Lucida Sans Unicode"/>
              <a:cs typeface="Lucida Sans Unicode"/>
            </a:endParaRPr>
          </a:p>
          <a:p>
            <a:pPr marL="168275" marR="5080">
              <a:lnSpc>
                <a:spcPct val="159900"/>
              </a:lnSpc>
              <a:spcBef>
                <a:spcPts val="725"/>
              </a:spcBef>
            </a:pPr>
            <a:r>
              <a:rPr dirty="0" sz="1800" spc="-90">
                <a:solidFill>
                  <a:srgbClr val="FCEE00"/>
                </a:solidFill>
                <a:latin typeface="Arial Black"/>
                <a:cs typeface="Arial Black"/>
              </a:rPr>
              <a:t>A</a:t>
            </a: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35">
                <a:solidFill>
                  <a:srgbClr val="FCEE00"/>
                </a:solidFill>
                <a:latin typeface="Arial Black"/>
                <a:cs typeface="Arial Black"/>
              </a:rPr>
              <a:t>FADIGA</a:t>
            </a: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FCEE00"/>
                </a:solidFill>
                <a:latin typeface="Arial Black"/>
                <a:cs typeface="Arial Black"/>
              </a:rPr>
              <a:t>DE</a:t>
            </a: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35">
                <a:solidFill>
                  <a:srgbClr val="FCEE00"/>
                </a:solidFill>
                <a:latin typeface="Arial Black"/>
                <a:cs typeface="Arial Black"/>
              </a:rPr>
              <a:t>DECISÃO:</a:t>
            </a:r>
            <a:r>
              <a:rPr dirty="0" sz="1800" spc="-4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A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exaustão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do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córtex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pré-frontal</a:t>
            </a:r>
            <a:r>
              <a:rPr dirty="0" sz="1800" spc="-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pelo</a:t>
            </a:r>
            <a:r>
              <a:rPr dirty="0" sz="1800" spc="-15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excesso </a:t>
            </a:r>
            <a:r>
              <a:rPr dirty="0" sz="1800" spc="95">
                <a:latin typeface="Lucida Sans Unicode"/>
                <a:cs typeface="Lucida Sans Unicode"/>
              </a:rPr>
              <a:t>de</a:t>
            </a:r>
            <a:r>
              <a:rPr dirty="0" sz="1800" spc="-90">
                <a:latin typeface="Lucida Sans Unicode"/>
                <a:cs typeface="Lucida Sans Unicode"/>
              </a:rPr>
              <a:t> </a:t>
            </a:r>
            <a:r>
              <a:rPr dirty="0" sz="1800" spc="-10">
                <a:latin typeface="Lucida Sans Unicode"/>
                <a:cs typeface="Lucida Sans Unicode"/>
              </a:rPr>
              <a:t>escolhas.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9750" y="3197721"/>
            <a:ext cx="361949" cy="28574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158203" y="2296112"/>
            <a:ext cx="1343660" cy="1228090"/>
          </a:xfrm>
          <a:custGeom>
            <a:avLst/>
            <a:gdLst/>
            <a:ahLst/>
            <a:cxnLst/>
            <a:rect l="l" t="t" r="r" b="b"/>
            <a:pathLst>
              <a:path w="1343659" h="1228089">
                <a:moveTo>
                  <a:pt x="1138845" y="1227546"/>
                </a:moveTo>
                <a:lnTo>
                  <a:pt x="204595" y="1227546"/>
                </a:lnTo>
                <a:lnTo>
                  <a:pt x="157683" y="1222143"/>
                </a:lnTo>
                <a:lnTo>
                  <a:pt x="114619" y="1206751"/>
                </a:lnTo>
                <a:lnTo>
                  <a:pt x="76631" y="1182599"/>
                </a:lnTo>
                <a:lnTo>
                  <a:pt x="44947" y="1150915"/>
                </a:lnTo>
                <a:lnTo>
                  <a:pt x="20795" y="1112927"/>
                </a:lnTo>
                <a:lnTo>
                  <a:pt x="5403" y="1069863"/>
                </a:lnTo>
                <a:lnTo>
                  <a:pt x="0" y="1022951"/>
                </a:lnTo>
                <a:lnTo>
                  <a:pt x="0" y="204595"/>
                </a:lnTo>
                <a:lnTo>
                  <a:pt x="5403" y="157683"/>
                </a:lnTo>
                <a:lnTo>
                  <a:pt x="20795" y="114619"/>
                </a:lnTo>
                <a:lnTo>
                  <a:pt x="44947" y="76631"/>
                </a:lnTo>
                <a:lnTo>
                  <a:pt x="76631" y="44947"/>
                </a:lnTo>
                <a:lnTo>
                  <a:pt x="114619" y="20795"/>
                </a:lnTo>
                <a:lnTo>
                  <a:pt x="157683" y="5403"/>
                </a:lnTo>
                <a:lnTo>
                  <a:pt x="204595" y="0"/>
                </a:lnTo>
                <a:lnTo>
                  <a:pt x="1138845" y="0"/>
                </a:lnTo>
                <a:lnTo>
                  <a:pt x="1178946" y="3967"/>
                </a:lnTo>
                <a:lnTo>
                  <a:pt x="1217140" y="15573"/>
                </a:lnTo>
                <a:lnTo>
                  <a:pt x="1252355" y="34374"/>
                </a:lnTo>
                <a:lnTo>
                  <a:pt x="1283515" y="59924"/>
                </a:lnTo>
                <a:lnTo>
                  <a:pt x="1309066" y="91085"/>
                </a:lnTo>
                <a:lnTo>
                  <a:pt x="1327867" y="126300"/>
                </a:lnTo>
                <a:lnTo>
                  <a:pt x="1339473" y="164494"/>
                </a:lnTo>
                <a:lnTo>
                  <a:pt x="1343440" y="204595"/>
                </a:lnTo>
                <a:lnTo>
                  <a:pt x="1343440" y="1022951"/>
                </a:lnTo>
                <a:lnTo>
                  <a:pt x="1338037" y="1069863"/>
                </a:lnTo>
                <a:lnTo>
                  <a:pt x="1322645" y="1112927"/>
                </a:lnTo>
                <a:lnTo>
                  <a:pt x="1298493" y="1150915"/>
                </a:lnTo>
                <a:lnTo>
                  <a:pt x="1266809" y="1182599"/>
                </a:lnTo>
                <a:lnTo>
                  <a:pt x="1228821" y="1206751"/>
                </a:lnTo>
                <a:lnTo>
                  <a:pt x="1185757" y="1222143"/>
                </a:lnTo>
                <a:lnTo>
                  <a:pt x="1138845" y="1227546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240753" y="2308178"/>
            <a:ext cx="937894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555">
                <a:solidFill>
                  <a:srgbClr val="FFFFFF"/>
                </a:solidFill>
                <a:latin typeface="Trebuchet MS"/>
                <a:cs typeface="Trebuchet MS"/>
              </a:rPr>
              <a:t>ZAP!</a:t>
            </a:r>
            <a:endParaRPr sz="45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9750" y="4167187"/>
            <a:ext cx="361949" cy="2857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9750" y="5136653"/>
            <a:ext cx="247649" cy="285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15"/>
              <a:t>A</a:t>
            </a:r>
            <a:r>
              <a:rPr dirty="0" spc="-325"/>
              <a:t> </a:t>
            </a:r>
            <a:r>
              <a:rPr dirty="0" spc="-620"/>
              <a:t>BATALHA</a:t>
            </a:r>
            <a:r>
              <a:rPr dirty="0" spc="-320"/>
              <a:t> </a:t>
            </a:r>
            <a:r>
              <a:rPr dirty="0" spc="-625"/>
              <a:t>INTERNA</a:t>
            </a:r>
          </a:p>
        </p:txBody>
      </p:sp>
      <p:sp>
        <p:nvSpPr>
          <p:cNvPr id="4" name="object 4"/>
          <p:cNvSpPr/>
          <p:nvPr/>
        </p:nvSpPr>
        <p:spPr>
          <a:xfrm>
            <a:off x="581025" y="1604962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568325" y="2134806"/>
            <a:ext cx="5152390" cy="1877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70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2700" spc="-1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60">
                <a:solidFill>
                  <a:srgbClr val="F0F0F0"/>
                </a:solidFill>
                <a:latin typeface="Lucida Sans Unicode"/>
                <a:cs typeface="Lucida Sans Unicode"/>
              </a:rPr>
              <a:t>luta</a:t>
            </a:r>
            <a:r>
              <a:rPr dirty="0" sz="2700" spc="-1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40">
                <a:solidFill>
                  <a:srgbClr val="F0F0F0"/>
                </a:solidFill>
                <a:latin typeface="Lucida Sans Unicode"/>
                <a:cs typeface="Lucida Sans Unicode"/>
              </a:rPr>
              <a:t>não</a:t>
            </a:r>
            <a:r>
              <a:rPr dirty="0" sz="2700" spc="-1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65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2700" spc="-1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5">
                <a:solidFill>
                  <a:srgbClr val="F0F0F0"/>
                </a:solidFill>
                <a:latin typeface="Lucida Sans Unicode"/>
                <a:cs typeface="Lucida Sans Unicode"/>
              </a:rPr>
              <a:t>contra</a:t>
            </a:r>
            <a:r>
              <a:rPr dirty="0" sz="2700" spc="-1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2700" spc="-1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F0F0F0"/>
                </a:solidFill>
                <a:latin typeface="Lucida Sans Unicode"/>
                <a:cs typeface="Lucida Sans Unicode"/>
              </a:rPr>
              <a:t>Coringa. </a:t>
            </a:r>
            <a:r>
              <a:rPr dirty="0" sz="2700" spc="-9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2700" spc="-1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5">
                <a:solidFill>
                  <a:srgbClr val="F0F0F0"/>
                </a:solidFill>
                <a:latin typeface="Lucida Sans Unicode"/>
                <a:cs typeface="Lucida Sans Unicode"/>
              </a:rPr>
              <a:t>contra</a:t>
            </a:r>
            <a:r>
              <a:rPr dirty="0" sz="2700" spc="-1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325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2700" spc="-1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0">
                <a:solidFill>
                  <a:srgbClr val="F0F0F0"/>
                </a:solidFill>
                <a:latin typeface="Lucida Sans Unicode"/>
                <a:cs typeface="Lucida Sans Unicode"/>
              </a:rPr>
              <a:t>arquitetura</a:t>
            </a:r>
            <a:r>
              <a:rPr dirty="0" sz="2700" spc="-1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14">
                <a:solidFill>
                  <a:srgbClr val="F0F0F0"/>
                </a:solidFill>
                <a:latin typeface="Lucida Sans Unicode"/>
                <a:cs typeface="Lucida Sans Unicode"/>
              </a:rPr>
              <a:t>de </a:t>
            </a:r>
            <a:r>
              <a:rPr dirty="0" sz="2700" spc="90">
                <a:solidFill>
                  <a:srgbClr val="F0F0F0"/>
                </a:solidFill>
                <a:latin typeface="Lucida Sans Unicode"/>
                <a:cs typeface="Lucida Sans Unicode"/>
              </a:rPr>
              <a:t>distração</a:t>
            </a:r>
            <a:r>
              <a:rPr dirty="0" sz="2700" spc="-1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10">
                <a:solidFill>
                  <a:srgbClr val="F0F0F0"/>
                </a:solidFill>
                <a:latin typeface="Lucida Sans Unicode"/>
                <a:cs typeface="Lucida Sans Unicode"/>
              </a:rPr>
              <a:t>que</a:t>
            </a:r>
            <a:r>
              <a:rPr dirty="0" sz="2700" spc="-114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45">
                <a:solidFill>
                  <a:srgbClr val="F0F0F0"/>
                </a:solidFill>
                <a:latin typeface="Lucida Sans Unicode"/>
                <a:cs typeface="Lucida Sans Unicode"/>
              </a:rPr>
              <a:t>você</a:t>
            </a:r>
            <a:r>
              <a:rPr dirty="0" sz="2700" spc="-114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70">
                <a:solidFill>
                  <a:srgbClr val="FCEE00"/>
                </a:solidFill>
                <a:latin typeface="Arial Black"/>
                <a:cs typeface="Arial Black"/>
              </a:rPr>
              <a:t>ACEITOU</a:t>
            </a:r>
            <a:r>
              <a:rPr dirty="0" sz="2700" spc="-270">
                <a:solidFill>
                  <a:srgbClr val="F0F0F0"/>
                </a:solidFill>
                <a:latin typeface="Lucida Sans Unicode"/>
                <a:cs typeface="Lucida Sans Unicode"/>
              </a:rPr>
              <a:t>.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8325" y="543941"/>
            <a:ext cx="3446145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610"/>
              <a:t>ENGENHARIA</a:t>
            </a:r>
            <a:r>
              <a:rPr dirty="0" spc="-315"/>
              <a:t> </a:t>
            </a:r>
            <a:r>
              <a:rPr dirty="0" spc="-640"/>
              <a:t>DE </a:t>
            </a:r>
            <a:r>
              <a:rPr dirty="0" spc="-495"/>
              <a:t>AMBIENTE</a:t>
            </a:r>
          </a:p>
        </p:txBody>
      </p:sp>
      <p:sp>
        <p:nvSpPr>
          <p:cNvPr id="4" name="object 4"/>
          <p:cNvSpPr/>
          <p:nvPr/>
        </p:nvSpPr>
        <p:spPr>
          <a:xfrm>
            <a:off x="581025" y="2552700"/>
            <a:ext cx="4943475" cy="38100"/>
          </a:xfrm>
          <a:custGeom>
            <a:avLst/>
            <a:gdLst/>
            <a:ahLst/>
            <a:cxnLst/>
            <a:rect l="l" t="t" r="r" b="b"/>
            <a:pathLst>
              <a:path w="4943475" h="38100">
                <a:moveTo>
                  <a:pt x="4943474" y="38099"/>
                </a:moveTo>
                <a:lnTo>
                  <a:pt x="0" y="38099"/>
                </a:lnTo>
                <a:lnTo>
                  <a:pt x="0" y="0"/>
                </a:lnTo>
                <a:lnTo>
                  <a:pt x="4943474" y="0"/>
                </a:lnTo>
                <a:lnTo>
                  <a:pt x="4943474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55625" y="3215132"/>
            <a:ext cx="4942205" cy="3552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100" spc="55">
                <a:solidFill>
                  <a:srgbClr val="F0F0F0"/>
                </a:solidFill>
                <a:latin typeface="Lucida Sans Unicode"/>
                <a:cs typeface="Lucida Sans Unicode"/>
              </a:rPr>
              <a:t>Construa</a:t>
            </a:r>
            <a:r>
              <a:rPr dirty="0" sz="2100" spc="-5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0F0F0"/>
                </a:solidFill>
                <a:latin typeface="Lucida Sans Unicode"/>
                <a:cs typeface="Lucida Sans Unicode"/>
              </a:rPr>
              <a:t>sua</a:t>
            </a:r>
            <a:r>
              <a:rPr dirty="0" sz="21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Fortaleza</a:t>
            </a:r>
            <a:r>
              <a:rPr dirty="0" sz="2100" spc="-5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0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0F0F0"/>
                </a:solidFill>
                <a:latin typeface="Lucida Sans Unicode"/>
                <a:cs typeface="Lucida Sans Unicode"/>
              </a:rPr>
              <a:t>Foco.</a:t>
            </a:r>
            <a:endParaRPr sz="2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100">
              <a:latin typeface="Lucida Sans Unicode"/>
              <a:cs typeface="Lucida Sans Unicode"/>
            </a:endParaRPr>
          </a:p>
          <a:p>
            <a:pPr marL="368300">
              <a:lnSpc>
                <a:spcPct val="100000"/>
              </a:lnSpc>
              <a:spcBef>
                <a:spcPts val="5"/>
              </a:spcBef>
            </a:pPr>
            <a:r>
              <a:rPr dirty="0" sz="1800" spc="-210">
                <a:solidFill>
                  <a:srgbClr val="F0F0F0"/>
                </a:solidFill>
                <a:latin typeface="Arial Black"/>
                <a:cs typeface="Arial Black"/>
              </a:rPr>
              <a:t>ARQUITETURA</a:t>
            </a:r>
            <a:r>
              <a:rPr dirty="0" sz="1800" spc="-165">
                <a:solidFill>
                  <a:srgbClr val="F0F0F0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F0F0F0"/>
                </a:solidFill>
                <a:latin typeface="Arial Black"/>
                <a:cs typeface="Arial Black"/>
              </a:rPr>
              <a:t>DE</a:t>
            </a:r>
            <a:r>
              <a:rPr dirty="0" sz="1800" spc="-160">
                <a:solidFill>
                  <a:srgbClr val="F0F0F0"/>
                </a:solidFill>
                <a:latin typeface="Arial Black"/>
                <a:cs typeface="Arial Black"/>
              </a:rPr>
              <a:t> </a:t>
            </a:r>
            <a:r>
              <a:rPr dirty="0" sz="1800" spc="-185">
                <a:solidFill>
                  <a:srgbClr val="F0F0F0"/>
                </a:solidFill>
                <a:latin typeface="Arial Black"/>
                <a:cs typeface="Arial Black"/>
              </a:rPr>
              <a:t>SILÊNCIO:</a:t>
            </a:r>
            <a:r>
              <a:rPr dirty="0" sz="1800" spc="-50">
                <a:solidFill>
                  <a:srgbClr val="F0F0F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Crie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70">
                <a:solidFill>
                  <a:srgbClr val="F0F0F0"/>
                </a:solidFill>
                <a:latin typeface="Lucida Sans Unicode"/>
                <a:cs typeface="Lucida Sans Unicode"/>
              </a:rPr>
              <a:t>um</a:t>
            </a:r>
            <a:endParaRPr sz="1800">
              <a:latin typeface="Lucida Sans Unicode"/>
              <a:cs typeface="Lucida Sans Unicode"/>
            </a:endParaRPr>
          </a:p>
          <a:p>
            <a:pPr marL="368300">
              <a:lnSpc>
                <a:spcPct val="100000"/>
              </a:lnSpc>
              <a:spcBef>
                <a:spcPts val="1295"/>
              </a:spcBef>
            </a:pPr>
            <a:r>
              <a:rPr dirty="0" sz="1800" spc="100">
                <a:solidFill>
                  <a:srgbClr val="F0F0F0"/>
                </a:solidFill>
                <a:latin typeface="Lucida Sans Unicode"/>
                <a:cs typeface="Lucida Sans Unicode"/>
              </a:rPr>
              <a:t>espaço</a:t>
            </a:r>
            <a:r>
              <a:rPr dirty="0" sz="18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físico</a:t>
            </a:r>
            <a:r>
              <a:rPr dirty="0" sz="18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otimizado</a:t>
            </a:r>
            <a:r>
              <a:rPr dirty="0" sz="1800" spc="-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05">
                <a:solidFill>
                  <a:srgbClr val="F0F0F0"/>
                </a:solidFill>
                <a:latin typeface="Lucida Sans Unicode"/>
                <a:cs typeface="Lucida Sans Unicode"/>
              </a:rPr>
              <a:t>para</a:t>
            </a:r>
            <a:r>
              <a:rPr dirty="0" sz="18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'Deep</a:t>
            </a:r>
            <a:endParaRPr sz="1800">
              <a:latin typeface="Lucida Sans Unicode"/>
              <a:cs typeface="Lucida Sans Unicode"/>
            </a:endParaRPr>
          </a:p>
          <a:p>
            <a:pPr marL="368300">
              <a:lnSpc>
                <a:spcPct val="100000"/>
              </a:lnSpc>
              <a:spcBef>
                <a:spcPts val="140"/>
              </a:spcBef>
            </a:pPr>
            <a:r>
              <a:rPr dirty="0" sz="1800" spc="-1520">
                <a:solidFill>
                  <a:srgbClr val="F0F0F0"/>
                </a:solidFill>
                <a:latin typeface="Arial Black"/>
                <a:cs typeface="Arial Black"/>
              </a:rPr>
              <a:t>B</a:t>
            </a:r>
            <a:r>
              <a:rPr dirty="0" baseline="-35493" sz="2700" spc="-907">
                <a:solidFill>
                  <a:srgbClr val="F0F0F0"/>
                </a:solidFill>
                <a:latin typeface="Lucida Sans Unicode"/>
                <a:cs typeface="Lucida Sans Unicode"/>
              </a:rPr>
              <a:t>W</a:t>
            </a:r>
            <a:r>
              <a:rPr dirty="0" sz="1800" spc="-509">
                <a:solidFill>
                  <a:srgbClr val="F0F0F0"/>
                </a:solidFill>
                <a:latin typeface="Arial Black"/>
                <a:cs typeface="Arial Black"/>
              </a:rPr>
              <a:t>L</a:t>
            </a:r>
            <a:r>
              <a:rPr dirty="0" baseline="-35493" sz="2700" spc="-1402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1800" spc="-100">
                <a:solidFill>
                  <a:srgbClr val="F0F0F0"/>
                </a:solidFill>
                <a:latin typeface="Arial Black"/>
                <a:cs typeface="Arial Black"/>
              </a:rPr>
              <a:t>I</a:t>
            </a:r>
            <a:r>
              <a:rPr dirty="0" sz="1800" spc="-1240">
                <a:solidFill>
                  <a:srgbClr val="F0F0F0"/>
                </a:solidFill>
                <a:latin typeface="Arial Black"/>
                <a:cs typeface="Arial Black"/>
              </a:rPr>
              <a:t>N</a:t>
            </a:r>
            <a:r>
              <a:rPr dirty="0" baseline="-35493" sz="2700" spc="-150">
                <a:solidFill>
                  <a:srgbClr val="F0F0F0"/>
                </a:solidFill>
                <a:latin typeface="Lucida Sans Unicode"/>
                <a:cs typeface="Lucida Sans Unicode"/>
              </a:rPr>
              <a:t>r</a:t>
            </a:r>
            <a:r>
              <a:rPr dirty="0" baseline="-35493" sz="2700" spc="-1139">
                <a:solidFill>
                  <a:srgbClr val="F0F0F0"/>
                </a:solidFill>
                <a:latin typeface="Lucida Sans Unicode"/>
                <a:cs typeface="Lucida Sans Unicode"/>
              </a:rPr>
              <a:t>k</a:t>
            </a:r>
            <a:r>
              <a:rPr dirty="0" sz="1800" spc="-894">
                <a:solidFill>
                  <a:srgbClr val="F0F0F0"/>
                </a:solidFill>
                <a:latin typeface="Arial Black"/>
                <a:cs typeface="Arial Black"/>
              </a:rPr>
              <a:t>D</a:t>
            </a:r>
            <a:r>
              <a:rPr dirty="0" baseline="-35493" sz="2700" spc="-150">
                <a:solidFill>
                  <a:srgbClr val="F0F0F0"/>
                </a:solidFill>
                <a:latin typeface="Lucida Sans Unicode"/>
                <a:cs typeface="Lucida Sans Unicode"/>
              </a:rPr>
              <a:t>'</a:t>
            </a:r>
            <a:r>
              <a:rPr dirty="0" baseline="-35493" sz="2700" spc="-52">
                <a:solidFill>
                  <a:srgbClr val="F0F0F0"/>
                </a:solidFill>
                <a:latin typeface="Lucida Sans Unicode"/>
                <a:cs typeface="Lucida Sans Unicode"/>
              </a:rPr>
              <a:t>.</a:t>
            </a:r>
            <a:r>
              <a:rPr dirty="0" sz="1800" spc="-100">
                <a:solidFill>
                  <a:srgbClr val="F0F0F0"/>
                </a:solidFill>
                <a:latin typeface="Arial Black"/>
                <a:cs typeface="Arial Black"/>
              </a:rPr>
              <a:t>AGEM</a:t>
            </a:r>
            <a:r>
              <a:rPr dirty="0" sz="1800" spc="-170">
                <a:solidFill>
                  <a:srgbClr val="F0F0F0"/>
                </a:solidFill>
                <a:latin typeface="Arial Black"/>
                <a:cs typeface="Arial Black"/>
              </a:rPr>
              <a:t> DIGITAL:</a:t>
            </a:r>
            <a:r>
              <a:rPr dirty="0" sz="1800" spc="-55">
                <a:solidFill>
                  <a:srgbClr val="F0F0F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Use</a:t>
            </a:r>
            <a:r>
              <a:rPr dirty="0" sz="1800" spc="-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45">
                <a:solidFill>
                  <a:srgbClr val="F0F0F0"/>
                </a:solidFill>
                <a:latin typeface="Lucida Sans Unicode"/>
                <a:cs typeface="Lucida Sans Unicode"/>
              </a:rPr>
              <a:t>ferramentas</a:t>
            </a:r>
            <a:endParaRPr sz="1800">
              <a:latin typeface="Lucida Sans Unicode"/>
              <a:cs typeface="Lucida Sans Unicode"/>
            </a:endParaRPr>
          </a:p>
          <a:p>
            <a:pPr marL="368300">
              <a:lnSpc>
                <a:spcPct val="100000"/>
              </a:lnSpc>
              <a:spcBef>
                <a:spcPts val="1295"/>
              </a:spcBef>
            </a:pPr>
            <a:r>
              <a:rPr dirty="0" sz="1800" spc="105">
                <a:solidFill>
                  <a:srgbClr val="F0F0F0"/>
                </a:solidFill>
                <a:latin typeface="Lucida Sans Unicode"/>
                <a:cs typeface="Lucida Sans Unicode"/>
              </a:rPr>
              <a:t>para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 bloquear o ruído </a:t>
            </a:r>
            <a:r>
              <a:rPr dirty="0" sz="1800" spc="60">
                <a:solidFill>
                  <a:srgbClr val="F0F0F0"/>
                </a:solidFill>
                <a:latin typeface="Lucida Sans Unicode"/>
                <a:cs typeface="Lucida Sans Unicode"/>
              </a:rPr>
              <a:t>(apps,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sites).</a:t>
            </a:r>
            <a:endParaRPr sz="1800">
              <a:latin typeface="Lucida Sans Unicode"/>
              <a:cs typeface="Lucida Sans Unicode"/>
            </a:endParaRPr>
          </a:p>
          <a:p>
            <a:pPr marL="368300">
              <a:lnSpc>
                <a:spcPct val="100000"/>
              </a:lnSpc>
              <a:spcBef>
                <a:spcPts val="145"/>
              </a:spcBef>
            </a:pPr>
            <a:r>
              <a:rPr dirty="0" sz="1800" spc="-195">
                <a:solidFill>
                  <a:srgbClr val="F0F0F0"/>
                </a:solidFill>
                <a:latin typeface="Arial Black"/>
                <a:cs typeface="Arial Black"/>
              </a:rPr>
              <a:t>CLAREZA</a:t>
            </a:r>
            <a:r>
              <a:rPr dirty="0" sz="1800" spc="-210">
                <a:solidFill>
                  <a:srgbClr val="F0F0F0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F0F0F0"/>
                </a:solidFill>
                <a:latin typeface="Arial Black"/>
                <a:cs typeface="Arial Black"/>
              </a:rPr>
              <a:t>DE</a:t>
            </a:r>
            <a:r>
              <a:rPr dirty="0" sz="1800" spc="-204">
                <a:solidFill>
                  <a:srgbClr val="F0F0F0"/>
                </a:solidFill>
                <a:latin typeface="Arial Black"/>
                <a:cs typeface="Arial Black"/>
              </a:rPr>
              <a:t> </a:t>
            </a:r>
            <a:r>
              <a:rPr dirty="0" sz="1800" spc="-125">
                <a:solidFill>
                  <a:srgbClr val="F0F0F0"/>
                </a:solidFill>
                <a:latin typeface="Arial Black"/>
                <a:cs typeface="Arial Black"/>
              </a:rPr>
              <a:t>MISSÃO:</a:t>
            </a:r>
            <a:r>
              <a:rPr dirty="0" sz="1800" spc="-100">
                <a:solidFill>
                  <a:srgbClr val="F0F0F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800" spc="-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65">
                <a:solidFill>
                  <a:srgbClr val="F0F0F0"/>
                </a:solidFill>
                <a:latin typeface="Lucida Sans Unicode"/>
                <a:cs typeface="Lucida Sans Unicode"/>
              </a:rPr>
              <a:t>sua</a:t>
            </a:r>
            <a:endParaRPr sz="1800">
              <a:latin typeface="Lucida Sans Unicode"/>
              <a:cs typeface="Lucida Sans Unicode"/>
            </a:endParaRPr>
          </a:p>
          <a:p>
            <a:pPr marL="368300" marR="43180">
              <a:lnSpc>
                <a:spcPct val="159900"/>
              </a:lnSpc>
            </a:pPr>
            <a:r>
              <a:rPr dirty="0" sz="1800" spc="50">
                <a:solidFill>
                  <a:srgbClr val="F0F0F0"/>
                </a:solidFill>
                <a:latin typeface="Lucida Sans Unicode"/>
                <a:cs typeface="Lucida Sans Unicode"/>
              </a:rPr>
              <a:t>"Batcaverna"</a:t>
            </a:r>
            <a:r>
              <a:rPr dirty="0" sz="1800" spc="-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1800" spc="-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95">
                <a:solidFill>
                  <a:srgbClr val="F0F0F0"/>
                </a:solidFill>
                <a:latin typeface="Lucida Sans Unicode"/>
                <a:cs typeface="Lucida Sans Unicode"/>
              </a:rPr>
              <a:t>um</a:t>
            </a:r>
            <a:r>
              <a:rPr dirty="0" sz="1800" spc="-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local</a:t>
            </a:r>
            <a:r>
              <a:rPr dirty="0" sz="1800" spc="-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95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1800" spc="-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*execução*, </a:t>
            </a:r>
            <a:r>
              <a:rPr dirty="0" sz="1800" spc="95">
                <a:solidFill>
                  <a:srgbClr val="F0F0F0"/>
                </a:solidFill>
                <a:latin typeface="Lucida Sans Unicode"/>
                <a:cs typeface="Lucida Sans Unicode"/>
              </a:rPr>
              <a:t>não</a:t>
            </a:r>
            <a:r>
              <a:rPr dirty="0" sz="1800" spc="-9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95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1800" spc="-8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5">
                <a:solidFill>
                  <a:srgbClr val="F0F0F0"/>
                </a:solidFill>
                <a:latin typeface="Lucida Sans Unicode"/>
                <a:cs typeface="Lucida Sans Unicode"/>
              </a:rPr>
              <a:t>planejamento.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4251900"/>
            <a:ext cx="200024" cy="146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4974097"/>
            <a:ext cx="200024" cy="1463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5705438"/>
            <a:ext cx="200024" cy="1463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100" y="9525"/>
            <a:ext cx="6048374" cy="6848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166937"/>
            <a:ext cx="3422599" cy="4000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585" y="3161220"/>
            <a:ext cx="2585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35">
                <a:solidFill>
                  <a:srgbClr val="0A84FF"/>
                </a:solidFill>
                <a:latin typeface="Trebuchet MS"/>
                <a:cs typeface="Trebuchet MS"/>
              </a:rPr>
              <a:t>INTENÇÃO</a:t>
            </a:r>
            <a:r>
              <a:rPr dirty="0" sz="2400" spc="-13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400" spc="-310">
                <a:solidFill>
                  <a:srgbClr val="0A84FF"/>
                </a:solidFill>
                <a:latin typeface="Trebuchet MS"/>
                <a:cs typeface="Trebuchet MS"/>
              </a:rPr>
              <a:t>ESTRATÉGICA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4625" y="2166937"/>
            <a:ext cx="3422599" cy="400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36603" y="3161220"/>
            <a:ext cx="191706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20">
                <a:solidFill>
                  <a:srgbClr val="0A84FF"/>
                </a:solidFill>
                <a:latin typeface="Trebuchet MS"/>
                <a:cs typeface="Trebuchet MS"/>
              </a:rPr>
              <a:t>SPRINTS</a:t>
            </a:r>
            <a:r>
              <a:rPr dirty="0" sz="2400" spc="-14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400" spc="-310">
                <a:solidFill>
                  <a:srgbClr val="0A84FF"/>
                </a:solidFill>
                <a:latin typeface="Trebuchet MS"/>
                <a:cs typeface="Trebuchet MS"/>
              </a:rPr>
              <a:t>DE</a:t>
            </a:r>
            <a:r>
              <a:rPr dirty="0" sz="2400" spc="-14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400" spc="-415">
                <a:solidFill>
                  <a:srgbClr val="0A84FF"/>
                </a:solidFill>
                <a:latin typeface="Trebuchet MS"/>
                <a:cs typeface="Trebuchet MS"/>
              </a:rPr>
              <a:t>FOCO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316" y="4432617"/>
            <a:ext cx="2692400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Defina</a:t>
            </a:r>
            <a:r>
              <a:rPr dirty="0" sz="15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475">
                <a:solidFill>
                  <a:srgbClr val="F0F0F0"/>
                </a:solidFill>
                <a:latin typeface="Lucida Sans Unicode"/>
                <a:cs typeface="Lucida Sans Unicode"/>
              </a:rPr>
              <a:t>1</a:t>
            </a:r>
            <a:r>
              <a:rPr dirty="0" sz="15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35">
                <a:solidFill>
                  <a:srgbClr val="F0F0F0"/>
                </a:solidFill>
                <a:latin typeface="Lucida Sans Unicode"/>
                <a:cs typeface="Lucida Sans Unicode"/>
              </a:rPr>
              <a:t>(e</a:t>
            </a:r>
            <a:r>
              <a:rPr dirty="0" sz="15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apenas</a:t>
            </a:r>
            <a:r>
              <a:rPr dirty="0" sz="15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50">
                <a:solidFill>
                  <a:srgbClr val="F0F0F0"/>
                </a:solidFill>
                <a:latin typeface="Lucida Sans Unicode"/>
                <a:cs typeface="Lucida Sans Unicode"/>
              </a:rPr>
              <a:t>1)</a:t>
            </a:r>
            <a:r>
              <a:rPr dirty="0" sz="15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Missão</a:t>
            </a:r>
            <a:endParaRPr sz="1500">
              <a:latin typeface="Lucida Sans Unicode"/>
              <a:cs typeface="Lucida Sans Unicode"/>
            </a:endParaRPr>
          </a:p>
          <a:p>
            <a:pPr marL="788670" marR="36830" indent="-744220">
              <a:lnSpc>
                <a:spcPct val="160000"/>
              </a:lnSpc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Crítica</a:t>
            </a:r>
            <a:r>
              <a:rPr dirty="0" sz="1500" spc="-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5">
                <a:solidFill>
                  <a:srgbClr val="F0F0F0"/>
                </a:solidFill>
                <a:latin typeface="Lucida Sans Unicode"/>
                <a:cs typeface="Lucida Sans Unicode"/>
              </a:rPr>
              <a:t>para</a:t>
            </a:r>
            <a:r>
              <a:rPr dirty="0" sz="15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15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dia.</a:t>
            </a:r>
            <a:r>
              <a:rPr dirty="0" sz="15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1500" spc="-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resto</a:t>
            </a:r>
            <a:r>
              <a:rPr dirty="0" sz="15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40">
                <a:solidFill>
                  <a:srgbClr val="F0F0F0"/>
                </a:solidFill>
                <a:latin typeface="Lucida Sans Unicode"/>
                <a:cs typeface="Lucida Sans Unicode"/>
              </a:rPr>
              <a:t>é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secundário.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9647" y="3965892"/>
            <a:ext cx="2432685" cy="135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Use</a:t>
            </a:r>
            <a:r>
              <a:rPr dirty="0" sz="1500" spc="8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ciclos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1500" spc="8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trabalho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45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endParaRPr sz="1500">
              <a:latin typeface="Lucida Sans Unicode"/>
              <a:cs typeface="Lucida Sans Unicode"/>
            </a:endParaRPr>
          </a:p>
          <a:p>
            <a:pPr algn="ctr" marL="114935" marR="107314">
              <a:lnSpc>
                <a:spcPct val="160000"/>
              </a:lnSpc>
            </a:pP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alta</a:t>
            </a:r>
            <a:r>
              <a:rPr dirty="0" sz="150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intensidade </a:t>
            </a:r>
            <a:r>
              <a:rPr dirty="0" sz="1500" spc="20">
                <a:solidFill>
                  <a:srgbClr val="F0F0F0"/>
                </a:solidFill>
                <a:latin typeface="Lucida Sans Unicode"/>
                <a:cs typeface="Lucida Sans Unicode"/>
              </a:rPr>
              <a:t>(Pomodoro/Flow)</a:t>
            </a:r>
            <a:r>
              <a:rPr dirty="0" sz="1500" spc="2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75">
                <a:solidFill>
                  <a:srgbClr val="F0F0F0"/>
                </a:solidFill>
                <a:latin typeface="Lucida Sans Unicode"/>
                <a:cs typeface="Lucida Sans Unicode"/>
              </a:rPr>
              <a:t>para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maximizar</a:t>
            </a:r>
            <a:r>
              <a:rPr dirty="0" sz="1500" spc="-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8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500" spc="-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produção.</a:t>
            </a:r>
            <a:endParaRPr sz="15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8225" y="2166937"/>
            <a:ext cx="3422599" cy="400049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31271" y="1340511"/>
            <a:ext cx="11179810" cy="1081405"/>
            <a:chOff x="431271" y="1340511"/>
            <a:chExt cx="11179810" cy="1081405"/>
          </a:xfrm>
        </p:grpSpPr>
        <p:sp>
          <p:nvSpPr>
            <p:cNvPr id="15" name="object 15"/>
            <p:cNvSpPr/>
            <p:nvPr/>
          </p:nvSpPr>
          <p:spPr>
            <a:xfrm>
              <a:off x="581025" y="1638299"/>
              <a:ext cx="11029950" cy="38100"/>
            </a:xfrm>
            <a:custGeom>
              <a:avLst/>
              <a:gdLst/>
              <a:ahLst/>
              <a:cxnLst/>
              <a:rect l="l" t="t" r="r" b="b"/>
              <a:pathLst>
                <a:path w="11029950" h="38100">
                  <a:moveTo>
                    <a:pt x="110299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029949" y="0"/>
                  </a:lnTo>
                  <a:lnTo>
                    <a:pt x="11029949" y="38099"/>
                  </a:lnTo>
                  <a:close/>
                </a:path>
              </a:pathLst>
            </a:custGeom>
            <a:solidFill>
              <a:srgbClr val="0A8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1271" y="1340511"/>
              <a:ext cx="1576070" cy="1081405"/>
            </a:xfrm>
            <a:custGeom>
              <a:avLst/>
              <a:gdLst/>
              <a:ahLst/>
              <a:cxnLst/>
              <a:rect l="l" t="t" r="r" b="b"/>
              <a:pathLst>
                <a:path w="1576070" h="1081405">
                  <a:moveTo>
                    <a:pt x="1395628" y="1081349"/>
                  </a:moveTo>
                  <a:lnTo>
                    <a:pt x="180228" y="1081349"/>
                  </a:lnTo>
                  <a:lnTo>
                    <a:pt x="132316" y="1074912"/>
                  </a:lnTo>
                  <a:lnTo>
                    <a:pt x="89263" y="1056743"/>
                  </a:lnTo>
                  <a:lnTo>
                    <a:pt x="52787" y="1028562"/>
                  </a:lnTo>
                  <a:lnTo>
                    <a:pt x="24606" y="992086"/>
                  </a:lnTo>
                  <a:lnTo>
                    <a:pt x="6437" y="949033"/>
                  </a:lnTo>
                  <a:lnTo>
                    <a:pt x="0" y="901121"/>
                  </a:lnTo>
                  <a:lnTo>
                    <a:pt x="0" y="180228"/>
                  </a:lnTo>
                  <a:lnTo>
                    <a:pt x="6437" y="132316"/>
                  </a:lnTo>
                  <a:lnTo>
                    <a:pt x="24606" y="89263"/>
                  </a:lnTo>
                  <a:lnTo>
                    <a:pt x="52787" y="52787"/>
                  </a:lnTo>
                  <a:lnTo>
                    <a:pt x="89263" y="24606"/>
                  </a:lnTo>
                  <a:lnTo>
                    <a:pt x="132316" y="6437"/>
                  </a:lnTo>
                  <a:lnTo>
                    <a:pt x="180228" y="0"/>
                  </a:lnTo>
                  <a:lnTo>
                    <a:pt x="1395628" y="0"/>
                  </a:lnTo>
                  <a:lnTo>
                    <a:pt x="1464598" y="13719"/>
                  </a:lnTo>
                  <a:lnTo>
                    <a:pt x="1523069" y="52787"/>
                  </a:lnTo>
                  <a:lnTo>
                    <a:pt x="1562137" y="111258"/>
                  </a:lnTo>
                  <a:lnTo>
                    <a:pt x="1575856" y="180228"/>
                  </a:lnTo>
                  <a:lnTo>
                    <a:pt x="1575856" y="901121"/>
                  </a:lnTo>
                  <a:lnTo>
                    <a:pt x="1569419" y="949033"/>
                  </a:lnTo>
                  <a:lnTo>
                    <a:pt x="1551250" y="992086"/>
                  </a:lnTo>
                  <a:lnTo>
                    <a:pt x="1523069" y="1028562"/>
                  </a:lnTo>
                  <a:lnTo>
                    <a:pt x="1486593" y="1056743"/>
                  </a:lnTo>
                  <a:lnTo>
                    <a:pt x="1443540" y="1074912"/>
                  </a:lnTo>
                  <a:lnTo>
                    <a:pt x="1395628" y="108134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915"/>
              </a:spcBef>
            </a:pPr>
            <a:r>
              <a:rPr dirty="0" spc="-910"/>
              <a:t>O</a:t>
            </a:r>
            <a:r>
              <a:rPr dirty="0" spc="-315"/>
              <a:t> </a:t>
            </a:r>
            <a:r>
              <a:rPr dirty="0" spc="-520"/>
              <a:t>ARSENAL</a:t>
            </a:r>
            <a:r>
              <a:rPr dirty="0" spc="-315"/>
              <a:t> </a:t>
            </a:r>
            <a:r>
              <a:rPr dirty="0" spc="-780"/>
              <a:t>DO</a:t>
            </a:r>
            <a:r>
              <a:rPr dirty="0" spc="-310"/>
              <a:t> </a:t>
            </a:r>
            <a:r>
              <a:rPr dirty="0" spc="-605"/>
              <a:t>ESTRATEGISTA</a:t>
            </a: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3750" spc="-505"/>
              <a:t>FOCUS!</a:t>
            </a:r>
            <a:endParaRPr sz="3750"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2225" y="2490787"/>
            <a:ext cx="400049" cy="457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95826" y="2490787"/>
            <a:ext cx="400049" cy="4571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70850" y="2490787"/>
            <a:ext cx="457199" cy="457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17532" y="3161220"/>
            <a:ext cx="2760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75">
                <a:solidFill>
                  <a:srgbClr val="0A84FF"/>
                </a:solidFill>
                <a:latin typeface="Trebuchet MS"/>
                <a:cs typeface="Trebuchet MS"/>
              </a:rPr>
              <a:t>PROTOCOLO</a:t>
            </a:r>
            <a:r>
              <a:rPr dirty="0" sz="2400" spc="-9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400" spc="-254">
                <a:solidFill>
                  <a:srgbClr val="0A84FF"/>
                </a:solidFill>
                <a:latin typeface="Trebuchet MS"/>
                <a:cs typeface="Trebuchet MS"/>
              </a:rPr>
              <a:t>'ZERO-</a:t>
            </a:r>
            <a:r>
              <a:rPr dirty="0" sz="2400" spc="-200">
                <a:solidFill>
                  <a:srgbClr val="0A84FF"/>
                </a:solidFill>
                <a:latin typeface="Trebuchet MS"/>
                <a:cs typeface="Trebuchet MS"/>
              </a:rPr>
              <a:t>INPUT'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20655" y="4432617"/>
            <a:ext cx="2757805" cy="135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Treine</a:t>
            </a:r>
            <a:r>
              <a:rPr dirty="0" sz="1500" spc="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seu</a:t>
            </a:r>
            <a:r>
              <a:rPr dirty="0" sz="1500" spc="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cérebro.</a:t>
            </a:r>
            <a:r>
              <a:rPr dirty="0" sz="1500" spc="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Tenha</a:t>
            </a:r>
            <a:endParaRPr sz="1500">
              <a:latin typeface="Lucida Sans Unicode"/>
              <a:cs typeface="Lucida Sans Unicode"/>
            </a:endParaRPr>
          </a:p>
          <a:p>
            <a:pPr algn="ctr" marL="12065" marR="5080">
              <a:lnSpc>
                <a:spcPct val="160000"/>
              </a:lnSpc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períodos</a:t>
            </a:r>
            <a:r>
              <a:rPr dirty="0" sz="1500" spc="3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diários</a:t>
            </a:r>
            <a:r>
              <a:rPr dirty="0" sz="1500" spc="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5">
                <a:solidFill>
                  <a:srgbClr val="F0F0F0"/>
                </a:solidFill>
                <a:latin typeface="Lucida Sans Unicode"/>
                <a:cs typeface="Lucida Sans Unicode"/>
              </a:rPr>
              <a:t>sem consumo</a:t>
            </a:r>
            <a:r>
              <a:rPr dirty="0" sz="1500" spc="-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1500" spc="-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45">
                <a:solidFill>
                  <a:srgbClr val="F0F0F0"/>
                </a:solidFill>
                <a:latin typeface="Lucida Sans Unicode"/>
                <a:cs typeface="Lucida Sans Unicode"/>
              </a:rPr>
              <a:t>informação </a:t>
            </a:r>
            <a:r>
              <a:rPr dirty="0" sz="1500" spc="100">
                <a:solidFill>
                  <a:srgbClr val="F0F0F0"/>
                </a:solidFill>
                <a:latin typeface="Lucida Sans Unicode"/>
                <a:cs typeface="Lucida Sans Unicode"/>
              </a:rPr>
              <a:t>(sem</a:t>
            </a:r>
            <a:r>
              <a:rPr dirty="0" sz="1500" spc="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música,</a:t>
            </a:r>
            <a:r>
              <a:rPr dirty="0" sz="15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80">
                <a:solidFill>
                  <a:srgbClr val="F0F0F0"/>
                </a:solidFill>
                <a:latin typeface="Lucida Sans Unicode"/>
                <a:cs typeface="Lucida Sans Unicode"/>
              </a:rPr>
              <a:t>sem</a:t>
            </a:r>
            <a:r>
              <a:rPr dirty="0" sz="15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45">
                <a:solidFill>
                  <a:srgbClr val="F0F0F0"/>
                </a:solidFill>
                <a:latin typeface="Lucida Sans Unicode"/>
                <a:cs typeface="Lucida Sans Unicode"/>
              </a:rPr>
              <a:t>podcast).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11708" y="1717159"/>
            <a:ext cx="691007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135">
                <a:solidFill>
                  <a:srgbClr val="FFFFFF"/>
                </a:solidFill>
              </a:rPr>
              <a:t>O</a:t>
            </a:r>
            <a:r>
              <a:rPr dirty="0" sz="6000" spc="-400">
                <a:solidFill>
                  <a:srgbClr val="FFFFFF"/>
                </a:solidFill>
              </a:rPr>
              <a:t> </a:t>
            </a:r>
            <a:r>
              <a:rPr dirty="0" sz="6000" spc="-415">
                <a:solidFill>
                  <a:srgbClr val="FFFFFF"/>
                </a:solidFill>
              </a:rPr>
              <a:t>SISTEMA</a:t>
            </a:r>
            <a:r>
              <a:rPr dirty="0" sz="6000" spc="-395">
                <a:solidFill>
                  <a:srgbClr val="FFFFFF"/>
                </a:solidFill>
              </a:rPr>
              <a:t> </a:t>
            </a:r>
            <a:r>
              <a:rPr dirty="0" sz="6000" spc="-765">
                <a:solidFill>
                  <a:srgbClr val="FFFFFF"/>
                </a:solidFill>
              </a:rPr>
              <a:t>OPERACIONAL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2329333" y="3183247"/>
            <a:ext cx="75279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2400" spc="-125">
                <a:solidFill>
                  <a:srgbClr val="F0F0F0"/>
                </a:solidFill>
                <a:latin typeface="Trebuchet MS"/>
                <a:cs typeface="Trebuchet MS"/>
              </a:rPr>
              <a:t>DiSciplina</a:t>
            </a:r>
            <a:r>
              <a:rPr dirty="0" sz="2400" spc="-15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245">
                <a:solidFill>
                  <a:srgbClr val="F0F0F0"/>
                </a:solidFill>
                <a:latin typeface="Trebuchet MS"/>
                <a:cs typeface="Trebuchet MS"/>
              </a:rPr>
              <a:t>nďo</a:t>
            </a:r>
            <a:r>
              <a:rPr dirty="0" sz="2400" spc="-14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50">
                <a:solidFill>
                  <a:srgbClr val="F0F0F0"/>
                </a:solidFill>
                <a:latin typeface="Trebuchet MS"/>
                <a:cs typeface="Trebuchet MS"/>
              </a:rPr>
              <a:t>é</a:t>
            </a:r>
            <a:r>
              <a:rPr dirty="0" sz="2400" spc="-14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F0F0F0"/>
                </a:solidFill>
                <a:latin typeface="Trebuchet MS"/>
                <a:cs typeface="Trebuchet MS"/>
              </a:rPr>
              <a:t>motivaĮďo.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2400" spc="-310">
                <a:solidFill>
                  <a:srgbClr val="F0F0F0"/>
                </a:solidFill>
                <a:latin typeface="Trebuchet MS"/>
                <a:cs typeface="Trebuchet MS"/>
              </a:rPr>
              <a:t>É</a:t>
            </a:r>
            <a:r>
              <a:rPr dirty="0" sz="2400" spc="-14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60">
                <a:solidFill>
                  <a:srgbClr val="F0F0F0"/>
                </a:solidFill>
                <a:latin typeface="Trebuchet MS"/>
                <a:cs typeface="Trebuchet MS"/>
              </a:rPr>
              <a:t>um</a:t>
            </a:r>
            <a:r>
              <a:rPr dirty="0" sz="2400" spc="-14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20">
                <a:solidFill>
                  <a:srgbClr val="F0F0F0"/>
                </a:solidFill>
                <a:latin typeface="Trebuchet MS"/>
                <a:cs typeface="Trebuchet MS"/>
              </a:rPr>
              <a:t>SiStema</a:t>
            </a:r>
            <a:r>
              <a:rPr dirty="0" sz="2400" spc="-14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50">
                <a:solidFill>
                  <a:srgbClr val="F0F0F0"/>
                </a:solidFill>
                <a:latin typeface="Trebuchet MS"/>
                <a:cs typeface="Trebuchet MS"/>
              </a:rPr>
              <a:t>que</a:t>
            </a:r>
            <a:r>
              <a:rPr dirty="0" sz="2400" spc="-14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95">
                <a:solidFill>
                  <a:srgbClr val="F0F0F0"/>
                </a:solidFill>
                <a:latin typeface="Trebuchet MS"/>
                <a:cs typeface="Trebuchet MS"/>
              </a:rPr>
              <a:t>você</a:t>
            </a:r>
            <a:r>
              <a:rPr dirty="0" sz="2400" spc="-14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70">
                <a:solidFill>
                  <a:srgbClr val="F0F0F0"/>
                </a:solidFill>
                <a:latin typeface="Trebuchet MS"/>
                <a:cs typeface="Trebuchet MS"/>
              </a:rPr>
              <a:t>executa,</a:t>
            </a:r>
            <a:r>
              <a:rPr dirty="0" sz="2400" spc="-14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60">
                <a:solidFill>
                  <a:srgbClr val="F0F0F0"/>
                </a:solidFill>
                <a:latin typeface="Trebuchet MS"/>
                <a:cs typeface="Trebuchet MS"/>
              </a:rPr>
              <a:t>independente</a:t>
            </a:r>
            <a:r>
              <a:rPr dirty="0" sz="2400" spc="-145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35">
                <a:solidFill>
                  <a:srgbClr val="F0F0F0"/>
                </a:solidFill>
                <a:latin typeface="Trebuchet MS"/>
                <a:cs typeface="Trebuchet MS"/>
              </a:rPr>
              <a:t>do</a:t>
            </a:r>
            <a:r>
              <a:rPr dirty="0" sz="2400" spc="-14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105">
                <a:solidFill>
                  <a:srgbClr val="F0F0F0"/>
                </a:solidFill>
                <a:latin typeface="Trebuchet MS"/>
                <a:cs typeface="Trebuchet MS"/>
              </a:rPr>
              <a:t>Seu</a:t>
            </a:r>
            <a:r>
              <a:rPr dirty="0" sz="2400" spc="-140">
                <a:solidFill>
                  <a:srgbClr val="F0F0F0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F0F0F0"/>
                </a:solidFill>
                <a:latin typeface="Trebuchet MS"/>
                <a:cs typeface="Trebuchet MS"/>
              </a:rPr>
              <a:t>humor.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MINDSET</a:t>
            </a:r>
            <a:r>
              <a:rPr dirty="0" spc="-310"/>
              <a:t> </a:t>
            </a:r>
            <a:r>
              <a:rPr dirty="0" spc="-615"/>
              <a:t>DE</a:t>
            </a:r>
            <a:r>
              <a:rPr dirty="0" spc="-310"/>
              <a:t> </a:t>
            </a:r>
            <a:r>
              <a:rPr dirty="0" spc="-300"/>
              <a:t>MISSÃO</a:t>
            </a:r>
          </a:p>
        </p:txBody>
      </p:sp>
      <p:sp>
        <p:nvSpPr>
          <p:cNvPr id="5" name="object 5"/>
          <p:cNvSpPr/>
          <p:nvPr/>
        </p:nvSpPr>
        <p:spPr>
          <a:xfrm>
            <a:off x="581025" y="1638300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1683990" y="3038475"/>
            <a:ext cx="76200" cy="1600200"/>
          </a:xfrm>
          <a:custGeom>
            <a:avLst/>
            <a:gdLst/>
            <a:ahLst/>
            <a:cxnLst/>
            <a:rect l="l" t="t" r="r" b="b"/>
            <a:pathLst>
              <a:path w="76200" h="1600200">
                <a:moveTo>
                  <a:pt x="76199" y="1600199"/>
                </a:moveTo>
                <a:lnTo>
                  <a:pt x="0" y="1600199"/>
                </a:lnTo>
                <a:lnTo>
                  <a:pt x="0" y="0"/>
                </a:lnTo>
                <a:lnTo>
                  <a:pt x="76199" y="0"/>
                </a:lnTo>
                <a:lnTo>
                  <a:pt x="76199" y="1600199"/>
                </a:lnTo>
                <a:close/>
              </a:path>
            </a:pathLst>
          </a:custGeom>
          <a:solidFill>
            <a:srgbClr val="FCE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6125" rIns="0" bIns="0" rtlCol="0" vert="horz">
            <a:spAutoFit/>
          </a:bodyPr>
          <a:lstStyle/>
          <a:p>
            <a:pPr marR="5080">
              <a:lnSpc>
                <a:spcPct val="140000"/>
              </a:lnSpc>
              <a:spcBef>
                <a:spcPts val="100"/>
              </a:spcBef>
            </a:pPr>
            <a:r>
              <a:rPr dirty="0" spc="-320"/>
              <a:t>Defina</a:t>
            </a:r>
            <a:r>
              <a:rPr dirty="0" spc="-280"/>
              <a:t> </a:t>
            </a:r>
            <a:r>
              <a:rPr dirty="0" spc="-175"/>
              <a:t>Sua</a:t>
            </a:r>
            <a:r>
              <a:rPr dirty="0" spc="-275"/>
              <a:t> </a:t>
            </a:r>
            <a:r>
              <a:rPr dirty="0" spc="-170"/>
              <a:t>'Regra</a:t>
            </a:r>
            <a:r>
              <a:rPr dirty="0" spc="-280"/>
              <a:t> </a:t>
            </a:r>
            <a:r>
              <a:rPr dirty="0" spc="-229"/>
              <a:t>Principal'.</a:t>
            </a:r>
            <a:r>
              <a:rPr dirty="0" spc="-275"/>
              <a:t> </a:t>
            </a:r>
            <a:r>
              <a:rPr dirty="0" spc="-375"/>
              <a:t>Qual</a:t>
            </a:r>
            <a:r>
              <a:rPr dirty="0" spc="-280"/>
              <a:t> </a:t>
            </a:r>
            <a:r>
              <a:rPr dirty="0" spc="-320"/>
              <a:t>é </a:t>
            </a:r>
            <a:r>
              <a:rPr dirty="0" spc="-195"/>
              <a:t>a</a:t>
            </a:r>
            <a:r>
              <a:rPr dirty="0" spc="-285"/>
              <a:t> </a:t>
            </a:r>
            <a:r>
              <a:rPr dirty="0" spc="-250"/>
              <a:t>métrica</a:t>
            </a:r>
            <a:r>
              <a:rPr dirty="0" spc="-285"/>
              <a:t> </a:t>
            </a:r>
            <a:r>
              <a:rPr dirty="0" spc="-245"/>
              <a:t>inegociďvel</a:t>
            </a:r>
            <a:r>
              <a:rPr dirty="0" spc="-280"/>
              <a:t> </a:t>
            </a:r>
            <a:r>
              <a:rPr dirty="0" spc="-254"/>
              <a:t>do</a:t>
            </a:r>
            <a:r>
              <a:rPr dirty="0" spc="-290"/>
              <a:t> </a:t>
            </a:r>
            <a:r>
              <a:rPr dirty="0" spc="-200"/>
              <a:t>Seu</a:t>
            </a:r>
            <a:r>
              <a:rPr dirty="0" spc="-285"/>
              <a:t> </a:t>
            </a:r>
            <a:r>
              <a:rPr dirty="0" spc="-20"/>
              <a:t>dia?</a:t>
            </a:r>
          </a:p>
          <a:p>
            <a:pPr marL="3733165" marR="298450" indent="-3268345">
              <a:lnSpc>
                <a:spcPct val="100000"/>
              </a:lnSpc>
              <a:spcBef>
                <a:spcPts val="2065"/>
              </a:spcBef>
            </a:pPr>
            <a:r>
              <a:rPr dirty="0" sz="1950" spc="110">
                <a:solidFill>
                  <a:srgbClr val="0A84FF"/>
                </a:solidFill>
                <a:latin typeface="Lucida Sans Unicode"/>
                <a:cs typeface="Lucida Sans Unicode"/>
              </a:rPr>
              <a:t>Para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0A84FF"/>
                </a:solidFill>
                <a:latin typeface="Lucida Sans Unicode"/>
                <a:cs typeface="Lucida Sans Unicode"/>
              </a:rPr>
              <a:t>o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65">
                <a:solidFill>
                  <a:srgbClr val="0A84FF"/>
                </a:solidFill>
                <a:latin typeface="Lucida Sans Unicode"/>
                <a:cs typeface="Lucida Sans Unicode"/>
              </a:rPr>
              <a:t>Batman,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235">
                <a:solidFill>
                  <a:srgbClr val="0A84FF"/>
                </a:solidFill>
                <a:latin typeface="Lucida Sans Unicode"/>
                <a:cs typeface="Lucida Sans Unicode"/>
              </a:rPr>
              <a:t>a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55">
                <a:solidFill>
                  <a:srgbClr val="0A84FF"/>
                </a:solidFill>
                <a:latin typeface="Lucida Sans Unicode"/>
                <a:cs typeface="Lucida Sans Unicode"/>
              </a:rPr>
              <a:t>regra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14">
                <a:solidFill>
                  <a:srgbClr val="0A84FF"/>
                </a:solidFill>
                <a:latin typeface="Lucida Sans Unicode"/>
                <a:cs typeface="Lucida Sans Unicode"/>
              </a:rPr>
              <a:t>é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0A84FF"/>
                </a:solidFill>
                <a:latin typeface="Lucida Sans Unicode"/>
                <a:cs typeface="Lucida Sans Unicode"/>
              </a:rPr>
              <a:t>"Não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0A84FF"/>
                </a:solidFill>
                <a:latin typeface="Lucida Sans Unicode"/>
                <a:cs typeface="Lucida Sans Unicode"/>
              </a:rPr>
              <a:t>matar".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10">
                <a:solidFill>
                  <a:srgbClr val="0A84FF"/>
                </a:solidFill>
                <a:latin typeface="Lucida Sans Unicode"/>
                <a:cs typeface="Lucida Sans Unicode"/>
              </a:rPr>
              <a:t>Para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0A84FF"/>
                </a:solidFill>
                <a:latin typeface="Lucida Sans Unicode"/>
                <a:cs typeface="Lucida Sans Unicode"/>
              </a:rPr>
              <a:t>você,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70">
                <a:solidFill>
                  <a:srgbClr val="0A84FF"/>
                </a:solidFill>
                <a:latin typeface="Lucida Sans Unicode"/>
                <a:cs typeface="Lucida Sans Unicode"/>
              </a:rPr>
              <a:t>qual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14">
                <a:solidFill>
                  <a:srgbClr val="0A84FF"/>
                </a:solidFill>
                <a:latin typeface="Lucida Sans Unicode"/>
                <a:cs typeface="Lucida Sans Unicode"/>
              </a:rPr>
              <a:t>é</a:t>
            </a:r>
            <a:r>
              <a:rPr dirty="0" sz="1950" spc="-55">
                <a:solidFill>
                  <a:srgbClr val="0A84F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85">
                <a:solidFill>
                  <a:srgbClr val="0A84FF"/>
                </a:solidFill>
                <a:latin typeface="Lucida Sans Unicode"/>
                <a:cs typeface="Lucida Sans Unicode"/>
              </a:rPr>
              <a:t>a </a:t>
            </a:r>
            <a:r>
              <a:rPr dirty="0" sz="1950" spc="90">
                <a:solidFill>
                  <a:srgbClr val="0A84FF"/>
                </a:solidFill>
                <a:latin typeface="Lucida Sans Unicode"/>
                <a:cs typeface="Lucida Sans Unicode"/>
              </a:rPr>
              <a:t>sua?</a:t>
            </a:r>
            <a:endParaRPr sz="1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910"/>
              <a:t>O</a:t>
            </a:r>
            <a:r>
              <a:rPr dirty="0" spc="-315"/>
              <a:t> </a:t>
            </a:r>
            <a:r>
              <a:rPr dirty="0" spc="-509"/>
              <a:t>DOMÍNIO</a:t>
            </a:r>
            <a:r>
              <a:rPr dirty="0" spc="-315"/>
              <a:t> </a:t>
            </a:r>
            <a:r>
              <a:rPr dirty="0" spc="-620"/>
              <a:t>É</a:t>
            </a:r>
            <a:r>
              <a:rPr dirty="0" spc="-320"/>
              <a:t> </a:t>
            </a:r>
            <a:r>
              <a:rPr dirty="0" spc="-645"/>
              <a:t>CONSTRUÍDO</a:t>
            </a:r>
            <a:r>
              <a:rPr dirty="0" spc="-315"/>
              <a:t> </a:t>
            </a:r>
            <a:r>
              <a:rPr dirty="0" spc="-595"/>
              <a:t>NA</a:t>
            </a:r>
            <a:r>
              <a:rPr dirty="0" spc="-315"/>
              <a:t> </a:t>
            </a:r>
            <a:r>
              <a:rPr dirty="0" spc="-555"/>
              <a:t>OBSCURIDADE</a:t>
            </a:r>
          </a:p>
        </p:txBody>
      </p:sp>
      <p:sp>
        <p:nvSpPr>
          <p:cNvPr id="6" name="object 6"/>
          <p:cNvSpPr/>
          <p:nvPr/>
        </p:nvSpPr>
        <p:spPr>
          <a:xfrm>
            <a:off x="581025" y="1638300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2102073" y="3117214"/>
            <a:ext cx="213804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1515">
                <a:solidFill>
                  <a:srgbClr val="FCEE00"/>
                </a:solidFill>
                <a:latin typeface="Trebuchet MS"/>
                <a:cs typeface="Trebuchet MS"/>
              </a:rPr>
              <a:t>1%</a:t>
            </a:r>
            <a:endParaRPr sz="1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9940" y="4690745"/>
            <a:ext cx="230568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275">
                <a:solidFill>
                  <a:srgbClr val="0A84FF"/>
                </a:solidFill>
                <a:latin typeface="Trebuchet MS"/>
                <a:cs typeface="Trebuchet MS"/>
              </a:rPr>
              <a:t>DE</a:t>
            </a:r>
            <a:r>
              <a:rPr dirty="0" sz="2250" spc="-15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250" spc="-270">
                <a:solidFill>
                  <a:srgbClr val="0A84FF"/>
                </a:solidFill>
                <a:latin typeface="Trebuchet MS"/>
                <a:cs typeface="Trebuchet MS"/>
              </a:rPr>
              <a:t>PROGRESSO</a:t>
            </a:r>
            <a:r>
              <a:rPr dirty="0" sz="2250" spc="-135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250" spc="-215">
                <a:solidFill>
                  <a:srgbClr val="0A84FF"/>
                </a:solidFill>
                <a:latin typeface="Trebuchet MS"/>
                <a:cs typeface="Trebuchet MS"/>
              </a:rPr>
              <a:t>DIÁRIO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1425" y="3141206"/>
            <a:ext cx="5264150" cy="18694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70">
                <a:solidFill>
                  <a:srgbClr val="0A84FF"/>
                </a:solidFill>
                <a:latin typeface="Trebuchet MS"/>
                <a:cs typeface="Trebuchet MS"/>
              </a:rPr>
              <a:t>O</a:t>
            </a:r>
            <a:r>
              <a:rPr dirty="0" sz="3000" spc="-195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3000" spc="-415">
                <a:solidFill>
                  <a:srgbClr val="0A84FF"/>
                </a:solidFill>
                <a:latin typeface="Trebuchet MS"/>
                <a:cs typeface="Trebuchet MS"/>
              </a:rPr>
              <a:t>EFEITO</a:t>
            </a:r>
            <a:r>
              <a:rPr dirty="0" sz="3000" spc="-195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3000" spc="-390">
                <a:solidFill>
                  <a:srgbClr val="0A84FF"/>
                </a:solidFill>
                <a:latin typeface="Trebuchet MS"/>
                <a:cs typeface="Trebuchet MS"/>
              </a:rPr>
              <a:t>COMPOSTO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1415"/>
              </a:spcBef>
            </a:pPr>
            <a:r>
              <a:rPr dirty="0" sz="165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650" spc="-8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5">
                <a:solidFill>
                  <a:srgbClr val="F0F0F0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1650" spc="-8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5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1650" spc="-8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0F0F0"/>
                </a:solidFill>
                <a:latin typeface="Lucida Sans Unicode"/>
                <a:cs typeface="Lucida Sans Unicode"/>
              </a:rPr>
              <a:t>elite</a:t>
            </a:r>
            <a:r>
              <a:rPr dirty="0" sz="1650" spc="-8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9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1650" spc="-8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0">
                <a:solidFill>
                  <a:srgbClr val="F0F0F0"/>
                </a:solidFill>
                <a:latin typeface="Lucida Sans Unicode"/>
                <a:cs typeface="Lucida Sans Unicode"/>
              </a:rPr>
              <a:t>vencer</a:t>
            </a:r>
            <a:r>
              <a:rPr dirty="0" sz="1650" spc="-8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>
                <a:solidFill>
                  <a:srgbClr val="F0F0F0"/>
                </a:solidFill>
                <a:latin typeface="Lucida Sans Unicode"/>
                <a:cs typeface="Lucida Sans Unicode"/>
              </a:rPr>
              <a:t>quando</a:t>
            </a:r>
            <a:r>
              <a:rPr dirty="0" sz="1650" spc="-8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>
                <a:solidFill>
                  <a:srgbClr val="F0F0F0"/>
                </a:solidFill>
                <a:latin typeface="Lucida Sans Unicode"/>
                <a:cs typeface="Lucida Sans Unicode"/>
              </a:rPr>
              <a:t>ninguém </a:t>
            </a:r>
            <a:r>
              <a:rPr dirty="0" sz="1650" spc="70">
                <a:solidFill>
                  <a:srgbClr val="F0F0F0"/>
                </a:solidFill>
                <a:latin typeface="Lucida Sans Unicode"/>
                <a:cs typeface="Lucida Sans Unicode"/>
              </a:rPr>
              <a:t>está</a:t>
            </a:r>
            <a:r>
              <a:rPr dirty="0" sz="1650" spc="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0F0F0"/>
                </a:solidFill>
                <a:latin typeface="Lucida Sans Unicode"/>
                <a:cs typeface="Lucida Sans Unicode"/>
              </a:rPr>
              <a:t>olhando.</a:t>
            </a:r>
            <a:r>
              <a:rPr dirty="0" sz="1650" spc="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6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1650" spc="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20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650" spc="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0F0F0"/>
                </a:solidFill>
                <a:latin typeface="Lucida Sans Unicode"/>
                <a:cs typeface="Lucida Sans Unicode"/>
              </a:rPr>
              <a:t>consistência</a:t>
            </a:r>
            <a:r>
              <a:rPr dirty="0" sz="1650" spc="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5">
                <a:solidFill>
                  <a:srgbClr val="F0F0F0"/>
                </a:solidFill>
                <a:latin typeface="Lucida Sans Unicode"/>
                <a:cs typeface="Lucida Sans Unicode"/>
              </a:rPr>
              <a:t>implacável</a:t>
            </a:r>
            <a:r>
              <a:rPr dirty="0" sz="1650" spc="4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0F0F0"/>
                </a:solidFill>
                <a:latin typeface="Lucida Sans Unicode"/>
                <a:cs typeface="Lucida Sans Unicode"/>
              </a:rPr>
              <a:t>nos </a:t>
            </a:r>
            <a:r>
              <a:rPr dirty="0" sz="1650" spc="55">
                <a:solidFill>
                  <a:srgbClr val="F0F0F0"/>
                </a:solidFill>
                <a:latin typeface="Lucida Sans Unicode"/>
                <a:cs typeface="Lucida Sans Unicode"/>
              </a:rPr>
              <a:t>dias</a:t>
            </a:r>
            <a:r>
              <a:rPr dirty="0" sz="1650" spc="-7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0F0F0"/>
                </a:solidFill>
                <a:latin typeface="Lucida Sans Unicode"/>
                <a:cs typeface="Lucida Sans Unicode"/>
              </a:rPr>
              <a:t>difíceis</a:t>
            </a:r>
            <a:r>
              <a:rPr dirty="0" sz="1650" spc="-6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5">
                <a:solidFill>
                  <a:srgbClr val="F0F0F0"/>
                </a:solidFill>
                <a:latin typeface="Lucida Sans Unicode"/>
                <a:cs typeface="Lucida Sans Unicode"/>
              </a:rPr>
              <a:t>que</a:t>
            </a:r>
            <a:r>
              <a:rPr dirty="0" sz="1650" spc="-6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0F0F0"/>
                </a:solidFill>
                <a:latin typeface="Lucida Sans Unicode"/>
                <a:cs typeface="Lucida Sans Unicode"/>
              </a:rPr>
              <a:t>forja</a:t>
            </a:r>
            <a:r>
              <a:rPr dirty="0" sz="1650" spc="-6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1650" spc="-6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0F0F0"/>
                </a:solidFill>
                <a:latin typeface="Lucida Sans Unicode"/>
                <a:cs typeface="Lucida Sans Unicode"/>
              </a:rPr>
              <a:t>resultado.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515"/>
              <a:t>A</a:t>
            </a:r>
            <a:r>
              <a:rPr dirty="0" spc="-325"/>
              <a:t> </a:t>
            </a:r>
            <a:r>
              <a:rPr dirty="0" spc="-565"/>
              <a:t>TRANSFORMAÇÃO</a:t>
            </a:r>
          </a:p>
        </p:txBody>
      </p:sp>
      <p:sp>
        <p:nvSpPr>
          <p:cNvPr id="8" name="object 8"/>
          <p:cNvSpPr/>
          <p:nvPr/>
        </p:nvSpPr>
        <p:spPr>
          <a:xfrm>
            <a:off x="581025" y="1638300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3014662"/>
            <a:ext cx="5276849" cy="23050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97084" y="3388295"/>
            <a:ext cx="3844925" cy="133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700" spc="-320">
                <a:solidFill>
                  <a:srgbClr val="0A84FF"/>
                </a:solidFill>
                <a:latin typeface="Trebuchet MS"/>
                <a:cs typeface="Trebuchet MS"/>
              </a:rPr>
              <a:t>ANTES:</a:t>
            </a:r>
            <a:r>
              <a:rPr dirty="0" sz="2700" spc="-185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700" spc="-330">
                <a:solidFill>
                  <a:srgbClr val="0A84FF"/>
                </a:solidFill>
                <a:latin typeface="Trebuchet MS"/>
                <a:cs typeface="Trebuchet MS"/>
              </a:rPr>
              <a:t>MODO</a:t>
            </a:r>
            <a:r>
              <a:rPr dirty="0" sz="2700" spc="-18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700" spc="-365">
                <a:solidFill>
                  <a:srgbClr val="0A84FF"/>
                </a:solidFill>
                <a:latin typeface="Trebuchet MS"/>
                <a:cs typeface="Trebuchet MS"/>
              </a:rPr>
              <a:t>REATIVO</a:t>
            </a:r>
            <a:endParaRPr sz="2700">
              <a:latin typeface="Trebuchet MS"/>
              <a:cs typeface="Trebuchet MS"/>
            </a:endParaRPr>
          </a:p>
          <a:p>
            <a:pPr algn="ctr" marL="12700" marR="5080">
              <a:lnSpc>
                <a:spcPct val="160000"/>
              </a:lnSpc>
              <a:spcBef>
                <a:spcPts val="1275"/>
              </a:spcBef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Refém</a:t>
            </a:r>
            <a:r>
              <a:rPr dirty="0" sz="15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do</a:t>
            </a:r>
            <a:r>
              <a:rPr dirty="0" sz="15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ambiente,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dos</a:t>
            </a:r>
            <a:r>
              <a:rPr dirty="0" sz="15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impulsos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e</a:t>
            </a:r>
            <a:r>
              <a:rPr dirty="0" sz="15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5">
                <a:solidFill>
                  <a:srgbClr val="F0F0F0"/>
                </a:solidFill>
                <a:latin typeface="Lucida Sans Unicode"/>
                <a:cs typeface="Lucida Sans Unicode"/>
              </a:rPr>
              <a:t>das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notificações.</a:t>
            </a:r>
            <a:r>
              <a:rPr dirty="0" sz="1500" spc="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500" spc="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energia</a:t>
            </a:r>
            <a:r>
              <a:rPr dirty="0" sz="1500" spc="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1500" spc="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85">
                <a:solidFill>
                  <a:srgbClr val="F0F0F0"/>
                </a:solidFill>
                <a:latin typeface="Lucida Sans Unicode"/>
                <a:cs typeface="Lucida Sans Unicode"/>
              </a:rPr>
              <a:t>gasta</a:t>
            </a:r>
            <a:r>
              <a:rPr dirty="0" sz="1500" spc="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no</a:t>
            </a:r>
            <a:r>
              <a:rPr dirty="0" sz="1500" spc="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caos.</a:t>
            </a:r>
            <a:endParaRPr sz="15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5" y="3014662"/>
            <a:ext cx="5276849" cy="23050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15405" y="4099242"/>
            <a:ext cx="4114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Arquiteto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do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seu </a:t>
            </a:r>
            <a:r>
              <a:rPr dirty="0" sz="1500" spc="55">
                <a:solidFill>
                  <a:srgbClr val="F0F0F0"/>
                </a:solidFill>
                <a:latin typeface="Lucida Sans Unicode"/>
                <a:cs typeface="Lucida Sans Unicode"/>
              </a:rPr>
              <a:t>tempo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0">
                <a:solidFill>
                  <a:srgbClr val="F0F0F0"/>
                </a:solidFill>
                <a:latin typeface="Lucida Sans Unicode"/>
                <a:cs typeface="Lucida Sans Unicode"/>
              </a:rPr>
              <a:t>e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energia. O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0F0F0"/>
                </a:solidFill>
                <a:latin typeface="Lucida Sans Unicode"/>
                <a:cs typeface="Lucida Sans Unicode"/>
              </a:rPr>
              <a:t>foco</a:t>
            </a:r>
            <a:r>
              <a:rPr dirty="0" sz="1500" spc="-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40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8260" y="4465001"/>
            <a:ext cx="41687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0">
                <a:solidFill>
                  <a:srgbClr val="F0F0F0"/>
                </a:solidFill>
                <a:latin typeface="Lucida Sans Unicode"/>
                <a:cs typeface="Lucida Sans Unicode"/>
              </a:rPr>
              <a:t>direcionado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20">
                <a:solidFill>
                  <a:srgbClr val="F0F0F0"/>
                </a:solidFill>
                <a:latin typeface="Lucida Sans Unicode"/>
                <a:cs typeface="Lucida Sans Unicode"/>
              </a:rPr>
              <a:t>cirurgicamente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95">
                <a:solidFill>
                  <a:srgbClr val="F0F0F0"/>
                </a:solidFill>
                <a:latin typeface="Lucida Sans Unicode"/>
                <a:cs typeface="Lucida Sans Unicode"/>
              </a:rPr>
              <a:t>para</a:t>
            </a:r>
            <a:r>
              <a:rPr dirty="0" sz="1500" spc="7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80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1500" spc="7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0F0F0"/>
                </a:solidFill>
                <a:latin typeface="Lucida Sans Unicode"/>
                <a:cs typeface="Lucida Sans Unicode"/>
              </a:rPr>
              <a:t>missão.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4025" y="3343275"/>
            <a:ext cx="1885950" cy="1171575"/>
          </a:xfrm>
          <a:custGeom>
            <a:avLst/>
            <a:gdLst/>
            <a:ahLst/>
            <a:cxnLst/>
            <a:rect l="l" t="t" r="r" b="b"/>
            <a:pathLst>
              <a:path w="1885950" h="1171575">
                <a:moveTo>
                  <a:pt x="1690683" y="1171574"/>
                </a:moveTo>
                <a:lnTo>
                  <a:pt x="195266" y="1171574"/>
                </a:lnTo>
                <a:lnTo>
                  <a:pt x="150493" y="1166417"/>
                </a:lnTo>
                <a:lnTo>
                  <a:pt x="109393" y="1151727"/>
                </a:lnTo>
                <a:lnTo>
                  <a:pt x="73137" y="1128677"/>
                </a:lnTo>
                <a:lnTo>
                  <a:pt x="42897" y="1098437"/>
                </a:lnTo>
                <a:lnTo>
                  <a:pt x="19847" y="1062181"/>
                </a:lnTo>
                <a:lnTo>
                  <a:pt x="5157" y="1021081"/>
                </a:lnTo>
                <a:lnTo>
                  <a:pt x="0" y="976308"/>
                </a:lnTo>
                <a:lnTo>
                  <a:pt x="0" y="195266"/>
                </a:lnTo>
                <a:lnTo>
                  <a:pt x="5157" y="150493"/>
                </a:lnTo>
                <a:lnTo>
                  <a:pt x="19847" y="109393"/>
                </a:lnTo>
                <a:lnTo>
                  <a:pt x="42897" y="73137"/>
                </a:lnTo>
                <a:lnTo>
                  <a:pt x="73137" y="42897"/>
                </a:lnTo>
                <a:lnTo>
                  <a:pt x="109393" y="19847"/>
                </a:lnTo>
                <a:lnTo>
                  <a:pt x="150493" y="5157"/>
                </a:lnTo>
                <a:lnTo>
                  <a:pt x="195266" y="0"/>
                </a:lnTo>
                <a:lnTo>
                  <a:pt x="1690683" y="0"/>
                </a:lnTo>
                <a:lnTo>
                  <a:pt x="1728955" y="3786"/>
                </a:lnTo>
                <a:lnTo>
                  <a:pt x="1799017" y="32807"/>
                </a:lnTo>
                <a:lnTo>
                  <a:pt x="1828757" y="57192"/>
                </a:lnTo>
                <a:lnTo>
                  <a:pt x="1853142" y="86932"/>
                </a:lnTo>
                <a:lnTo>
                  <a:pt x="1882163" y="156993"/>
                </a:lnTo>
                <a:lnTo>
                  <a:pt x="1885949" y="195266"/>
                </a:lnTo>
                <a:lnTo>
                  <a:pt x="1885949" y="976308"/>
                </a:lnTo>
                <a:lnTo>
                  <a:pt x="1880792" y="1021081"/>
                </a:lnTo>
                <a:lnTo>
                  <a:pt x="1866102" y="1062181"/>
                </a:lnTo>
                <a:lnTo>
                  <a:pt x="1843052" y="1098437"/>
                </a:lnTo>
                <a:lnTo>
                  <a:pt x="1812812" y="1128677"/>
                </a:lnTo>
                <a:lnTo>
                  <a:pt x="1776556" y="1151727"/>
                </a:lnTo>
                <a:lnTo>
                  <a:pt x="1735456" y="1166417"/>
                </a:lnTo>
                <a:lnTo>
                  <a:pt x="1690683" y="1171574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591175" y="3064446"/>
            <a:ext cx="514223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3809" sz="7875" spc="-885">
                <a:solidFill>
                  <a:srgbClr val="FCEE00"/>
                </a:solidFill>
                <a:latin typeface="Trebuchet MS"/>
                <a:cs typeface="Trebuchet MS"/>
              </a:rPr>
              <a:t>BOOM</a:t>
            </a:r>
            <a:r>
              <a:rPr dirty="0" baseline="-23809" sz="7875" spc="-569">
                <a:solidFill>
                  <a:srgbClr val="FCEE00"/>
                </a:solidFill>
                <a:latin typeface="Trebuchet MS"/>
                <a:cs typeface="Trebuchet MS"/>
              </a:rPr>
              <a:t> </a:t>
            </a:r>
            <a:r>
              <a:rPr dirty="0" sz="2700" spc="-290">
                <a:solidFill>
                  <a:srgbClr val="0A84FF"/>
                </a:solidFill>
                <a:latin typeface="Trebuchet MS"/>
                <a:cs typeface="Trebuchet MS"/>
              </a:rPr>
              <a:t>DEPOIS:</a:t>
            </a:r>
            <a:r>
              <a:rPr dirty="0" sz="2700" spc="-18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700" spc="-330">
                <a:solidFill>
                  <a:srgbClr val="0A84FF"/>
                </a:solidFill>
                <a:latin typeface="Trebuchet MS"/>
                <a:cs typeface="Trebuchet MS"/>
              </a:rPr>
              <a:t>MODO</a:t>
            </a:r>
            <a:r>
              <a:rPr dirty="0" sz="2700" spc="-180">
                <a:solidFill>
                  <a:srgbClr val="0A84FF"/>
                </a:solidFill>
                <a:latin typeface="Trebuchet MS"/>
                <a:cs typeface="Trebuchet MS"/>
              </a:rPr>
              <a:t> </a:t>
            </a:r>
            <a:r>
              <a:rPr dirty="0" sz="2700" spc="-355">
                <a:solidFill>
                  <a:srgbClr val="0A84FF"/>
                </a:solidFill>
                <a:latin typeface="Trebuchet MS"/>
                <a:cs typeface="Trebuchet MS"/>
              </a:rPr>
              <a:t>INTENCIONAL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6575" y="4151629"/>
            <a:ext cx="17843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50" spc="-785">
                <a:solidFill>
                  <a:srgbClr val="FCEE00"/>
                </a:solidFill>
                <a:latin typeface="Trebuchet MS"/>
                <a:cs typeface="Trebuchet MS"/>
              </a:rPr>
              <a:t>!</a:t>
            </a:r>
            <a:endParaRPr sz="5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445"/>
              <a:t>INICIE</a:t>
            </a:r>
            <a:r>
              <a:rPr dirty="0" spc="-325"/>
              <a:t> </a:t>
            </a:r>
            <a:r>
              <a:rPr dirty="0" spc="-910"/>
              <a:t>O</a:t>
            </a:r>
            <a:r>
              <a:rPr dirty="0" spc="-315"/>
              <a:t> </a:t>
            </a:r>
            <a:r>
              <a:rPr dirty="0" spc="-755"/>
              <a:t>PROTOCOLO</a:t>
            </a:r>
          </a:p>
        </p:txBody>
      </p:sp>
      <p:sp>
        <p:nvSpPr>
          <p:cNvPr id="7" name="object 7"/>
          <p:cNvSpPr/>
          <p:nvPr/>
        </p:nvSpPr>
        <p:spPr>
          <a:xfrm>
            <a:off x="581025" y="1638300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0" y="2712987"/>
            <a:ext cx="361949" cy="285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9750" y="3682454"/>
            <a:ext cx="285749" cy="285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9750" y="4651920"/>
            <a:ext cx="285749" cy="28574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225675" y="2691143"/>
            <a:ext cx="8131809" cy="2677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AUDITORIA </a:t>
            </a:r>
            <a:r>
              <a:rPr dirty="0" sz="1800" spc="-225">
                <a:solidFill>
                  <a:srgbClr val="FCEE00"/>
                </a:solidFill>
                <a:latin typeface="Arial Black"/>
                <a:cs typeface="Arial Black"/>
              </a:rPr>
              <a:t>DE</a:t>
            </a: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45">
                <a:solidFill>
                  <a:srgbClr val="FCEE00"/>
                </a:solidFill>
                <a:latin typeface="Arial Black"/>
                <a:cs typeface="Arial Black"/>
              </a:rPr>
              <a:t>ATENÇÃO:</a:t>
            </a:r>
            <a:r>
              <a:rPr dirty="0" sz="1800" spc="-4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Identifique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0">
                <a:solidFill>
                  <a:srgbClr val="F0F0F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elimine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os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85">
                <a:solidFill>
                  <a:srgbClr val="F0F0F0"/>
                </a:solidFill>
                <a:latin typeface="Lucida Sans Unicode"/>
                <a:cs typeface="Lucida Sans Unicode"/>
              </a:rPr>
              <a:t>3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5">
                <a:solidFill>
                  <a:srgbClr val="F0F0F0"/>
                </a:solidFill>
                <a:latin typeface="Lucida Sans Unicode"/>
                <a:cs typeface="Lucida Sans Unicode"/>
              </a:rPr>
              <a:t>maiores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drenos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">
                <a:solidFill>
                  <a:srgbClr val="F0F0F0"/>
                </a:solidFill>
                <a:latin typeface="Lucida Sans Unicode"/>
                <a:cs typeface="Lucida Sans Unicode"/>
              </a:rPr>
              <a:t>do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800" spc="60">
                <a:solidFill>
                  <a:srgbClr val="F0F0F0"/>
                </a:solidFill>
                <a:latin typeface="Lucida Sans Unicode"/>
                <a:cs typeface="Lucida Sans Unicode"/>
              </a:rPr>
              <a:t>seu</a:t>
            </a:r>
            <a:r>
              <a:rPr dirty="0" sz="1800" spc="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foco</a:t>
            </a:r>
            <a:r>
              <a:rPr dirty="0" sz="1800" spc="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(hoje).</a:t>
            </a:r>
            <a:endParaRPr sz="1800">
              <a:latin typeface="Lucida Sans Unicode"/>
              <a:cs typeface="Lucida Sans Unicode"/>
            </a:endParaRPr>
          </a:p>
          <a:p>
            <a:pPr marL="12700" marR="638175">
              <a:lnSpc>
                <a:spcPct val="159900"/>
              </a:lnSpc>
              <a:spcBef>
                <a:spcPts val="725"/>
              </a:spcBef>
            </a:pP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BLOCO</a:t>
            </a:r>
            <a:r>
              <a:rPr dirty="0" sz="1800" spc="-16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225">
                <a:solidFill>
                  <a:srgbClr val="FCEE00"/>
                </a:solidFill>
                <a:latin typeface="Arial Black"/>
                <a:cs typeface="Arial Black"/>
              </a:rPr>
              <a:t>DE</a:t>
            </a:r>
            <a:r>
              <a:rPr dirty="0" sz="1800" spc="-16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14">
                <a:solidFill>
                  <a:srgbClr val="FCEE00"/>
                </a:solidFill>
                <a:latin typeface="Arial Black"/>
                <a:cs typeface="Arial Black"/>
              </a:rPr>
              <a:t>FOCO:</a:t>
            </a:r>
            <a:r>
              <a:rPr dirty="0" sz="1800" spc="-4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Execute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570">
                <a:solidFill>
                  <a:srgbClr val="F0F0F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5">
                <a:solidFill>
                  <a:srgbClr val="F0F0F0"/>
                </a:solidFill>
                <a:latin typeface="Lucida Sans Unicode"/>
                <a:cs typeface="Lucida Sans Unicode"/>
              </a:rPr>
              <a:t>hora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95">
                <a:solidFill>
                  <a:srgbClr val="F0F0F0"/>
                </a:solidFill>
                <a:latin typeface="Lucida Sans Unicode"/>
                <a:cs typeface="Lucida Sans Unicode"/>
              </a:rPr>
              <a:t>de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trabalho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45">
                <a:solidFill>
                  <a:srgbClr val="F0F0F0"/>
                </a:solidFill>
                <a:latin typeface="Lucida Sans Unicode"/>
                <a:cs typeface="Lucida Sans Unicode"/>
              </a:rPr>
              <a:t>em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85">
                <a:solidFill>
                  <a:srgbClr val="F0F0F0"/>
                </a:solidFill>
                <a:latin typeface="Lucida Sans Unicode"/>
                <a:cs typeface="Lucida Sans Unicode"/>
              </a:rPr>
              <a:t>modo</a:t>
            </a:r>
            <a:r>
              <a:rPr dirty="0" sz="1800" spc="-1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avião.</a:t>
            </a:r>
            <a:r>
              <a:rPr dirty="0" sz="1800" spc="-2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70">
                <a:solidFill>
                  <a:srgbClr val="F0F0F0"/>
                </a:solidFill>
                <a:latin typeface="Lucida Sans Unicode"/>
                <a:cs typeface="Lucida Sans Unicode"/>
              </a:rPr>
              <a:t>Sem 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exceções.</a:t>
            </a:r>
            <a:endParaRPr sz="1800">
              <a:latin typeface="Lucida Sans Unicode"/>
              <a:cs typeface="Lucida Sans Unicode"/>
            </a:endParaRPr>
          </a:p>
          <a:p>
            <a:pPr marL="12700" marR="5080">
              <a:lnSpc>
                <a:spcPct val="159900"/>
              </a:lnSpc>
              <a:spcBef>
                <a:spcPts val="725"/>
              </a:spcBef>
            </a:pPr>
            <a:r>
              <a:rPr dirty="0" sz="1800" spc="-185">
                <a:solidFill>
                  <a:srgbClr val="FCEE00"/>
                </a:solidFill>
                <a:latin typeface="Arial Black"/>
                <a:cs typeface="Arial Black"/>
              </a:rPr>
              <a:t>PLANEJAMENTO</a:t>
            </a:r>
            <a:r>
              <a:rPr dirty="0" sz="1800" spc="-13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 spc="-145">
                <a:solidFill>
                  <a:srgbClr val="FCEE00"/>
                </a:solidFill>
                <a:latin typeface="Arial Black"/>
                <a:cs typeface="Arial Black"/>
              </a:rPr>
              <a:t>TÁTICO:</a:t>
            </a:r>
            <a:r>
              <a:rPr dirty="0" sz="1800" spc="-5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Defina</a:t>
            </a:r>
            <a:r>
              <a:rPr dirty="0" sz="18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90">
                <a:solidFill>
                  <a:srgbClr val="F0F0F0"/>
                </a:solidFill>
                <a:latin typeface="Lucida Sans Unicode"/>
                <a:cs typeface="Lucida Sans Unicode"/>
              </a:rPr>
              <a:t>sua</a:t>
            </a:r>
            <a:r>
              <a:rPr dirty="0" sz="18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Missão</a:t>
            </a:r>
            <a:r>
              <a:rPr dirty="0" sz="18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Crítica</a:t>
            </a:r>
            <a:r>
              <a:rPr dirty="0" sz="18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0F0F0"/>
                </a:solidFill>
                <a:latin typeface="Lucida Sans Unicode"/>
                <a:cs typeface="Lucida Sans Unicode"/>
              </a:rPr>
              <a:t>(MIT)</a:t>
            </a:r>
            <a:r>
              <a:rPr dirty="0" sz="18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05">
                <a:solidFill>
                  <a:srgbClr val="F0F0F0"/>
                </a:solidFill>
                <a:latin typeface="Lucida Sans Unicode"/>
                <a:cs typeface="Lucida Sans Unicode"/>
              </a:rPr>
              <a:t>para</a:t>
            </a:r>
            <a:r>
              <a:rPr dirty="0" sz="1800" spc="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75">
                <a:solidFill>
                  <a:srgbClr val="F0F0F0"/>
                </a:solidFill>
                <a:latin typeface="Lucida Sans Unicode"/>
                <a:cs typeface="Lucida Sans Unicode"/>
              </a:rPr>
              <a:t>amanhã, </a:t>
            </a:r>
            <a:r>
              <a:rPr dirty="0" sz="1800" spc="80">
                <a:solidFill>
                  <a:srgbClr val="F0F0F0"/>
                </a:solidFill>
                <a:latin typeface="Lucida Sans Unicode"/>
                <a:cs typeface="Lucida Sans Unicode"/>
              </a:rPr>
              <a:t>esta</a:t>
            </a:r>
            <a:r>
              <a:rPr dirty="0" sz="1800" spc="-9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0F0F0"/>
                </a:solidFill>
                <a:latin typeface="Lucida Sans Unicode"/>
                <a:cs typeface="Lucida Sans Unicode"/>
              </a:rPr>
              <a:t>noite.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764" rIns="0" bIns="0" rtlCol="0" vert="horz">
            <a:spAutoFit/>
          </a:bodyPr>
          <a:lstStyle/>
          <a:p>
            <a:pPr marL="1405890">
              <a:lnSpc>
                <a:spcPct val="100000"/>
              </a:lnSpc>
              <a:spcBef>
                <a:spcPts val="100"/>
              </a:spcBef>
            </a:pPr>
            <a:r>
              <a:rPr dirty="0" sz="6000" spc="-1135"/>
              <a:t>O</a:t>
            </a:r>
            <a:r>
              <a:rPr dirty="0" sz="6000" spc="-390"/>
              <a:t> </a:t>
            </a:r>
            <a:r>
              <a:rPr dirty="0" sz="6000" spc="-760"/>
              <a:t>PODER</a:t>
            </a:r>
            <a:r>
              <a:rPr dirty="0" sz="6000" spc="-390"/>
              <a:t> </a:t>
            </a:r>
            <a:r>
              <a:rPr dirty="0" sz="6000" spc="-930"/>
              <a:t>DO</a:t>
            </a:r>
            <a:r>
              <a:rPr dirty="0" sz="6000" spc="-390"/>
              <a:t> </a:t>
            </a:r>
            <a:r>
              <a:rPr dirty="0" sz="6000" spc="-500"/>
              <a:t>LIMITE</a:t>
            </a:r>
            <a:r>
              <a:rPr dirty="0" sz="6000" spc="-390"/>
              <a:t> </a:t>
            </a:r>
            <a:r>
              <a:rPr dirty="0" sz="6000" spc="-760"/>
              <a:t>HUMANO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2254405" y="2376932"/>
            <a:ext cx="7683500" cy="36309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2100" spc="-1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5">
                <a:solidFill>
                  <a:srgbClr val="F0F0F0"/>
                </a:solidFill>
                <a:latin typeface="Lucida Sans Unicode"/>
                <a:cs typeface="Lucida Sans Unicode"/>
              </a:rPr>
              <a:t>Batman</a:t>
            </a:r>
            <a:r>
              <a:rPr dirty="0" sz="2100" spc="-1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4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2100" spc="-9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254">
                <a:solidFill>
                  <a:srgbClr val="F0F0F0"/>
                </a:solidFill>
                <a:latin typeface="Lucida Sans Unicode"/>
                <a:cs typeface="Lucida Sans Unicode"/>
              </a:rPr>
              <a:t>a</a:t>
            </a:r>
            <a:r>
              <a:rPr dirty="0" sz="2100" spc="-1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0F0F0"/>
                </a:solidFill>
                <a:latin typeface="Lucida Sans Unicode"/>
                <a:cs typeface="Lucida Sans Unicode"/>
              </a:rPr>
              <a:t>metáfora</a:t>
            </a:r>
            <a:r>
              <a:rPr dirty="0" sz="2100" spc="-1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5">
                <a:solidFill>
                  <a:srgbClr val="F0F0F0"/>
                </a:solidFill>
                <a:latin typeface="Lucida Sans Unicode"/>
                <a:cs typeface="Lucida Sans Unicode"/>
              </a:rPr>
              <a:t>do</a:t>
            </a:r>
            <a:r>
              <a:rPr dirty="0" sz="2100" spc="-9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0F0F0"/>
                </a:solidFill>
                <a:latin typeface="Lucida Sans Unicode"/>
                <a:cs typeface="Lucida Sans Unicode"/>
              </a:rPr>
              <a:t>potencial</a:t>
            </a:r>
            <a:r>
              <a:rPr dirty="0" sz="2100" spc="-1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95">
                <a:solidFill>
                  <a:srgbClr val="F0F0F0"/>
                </a:solidFill>
                <a:latin typeface="Lucida Sans Unicode"/>
                <a:cs typeface="Lucida Sans Unicode"/>
              </a:rPr>
              <a:t>humano</a:t>
            </a:r>
            <a:r>
              <a:rPr dirty="0" sz="2100" spc="-9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0F0F0"/>
                </a:solidFill>
                <a:latin typeface="Lucida Sans Unicode"/>
                <a:cs typeface="Lucida Sans Unicode"/>
              </a:rPr>
              <a:t>levado</a:t>
            </a:r>
            <a:r>
              <a:rPr dirty="0" sz="2100" spc="-10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0">
                <a:solidFill>
                  <a:srgbClr val="F0F0F0"/>
                </a:solidFill>
                <a:latin typeface="Lucida Sans Unicode"/>
                <a:cs typeface="Lucida Sans Unicode"/>
              </a:rPr>
              <a:t>ao</a:t>
            </a:r>
            <a:endParaRPr sz="2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2100" spc="-10">
                <a:solidFill>
                  <a:srgbClr val="F0F0F0"/>
                </a:solidFill>
                <a:latin typeface="Lucida Sans Unicode"/>
                <a:cs typeface="Lucida Sans Unicode"/>
              </a:rPr>
              <a:t>extremo.</a:t>
            </a:r>
            <a:endParaRPr sz="210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60000"/>
              </a:lnSpc>
              <a:spcBef>
                <a:spcPts val="2855"/>
              </a:spcBef>
            </a:pP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Ele</a:t>
            </a:r>
            <a:r>
              <a:rPr dirty="0" sz="21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0">
                <a:solidFill>
                  <a:srgbClr val="F0F0F0"/>
                </a:solidFill>
                <a:latin typeface="Lucida Sans Unicode"/>
                <a:cs typeface="Lucida Sans Unicode"/>
              </a:rPr>
              <a:t>não</a:t>
            </a:r>
            <a:r>
              <a:rPr dirty="0" sz="21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90">
                <a:solidFill>
                  <a:srgbClr val="F0F0F0"/>
                </a:solidFill>
                <a:latin typeface="Lucida Sans Unicode"/>
                <a:cs typeface="Lucida Sans Unicode"/>
              </a:rPr>
              <a:t>tem</a:t>
            </a:r>
            <a:r>
              <a:rPr dirty="0" sz="21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superpoderes.</a:t>
            </a:r>
            <a:r>
              <a:rPr dirty="0" sz="21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Ele</a:t>
            </a:r>
            <a:r>
              <a:rPr dirty="0" sz="21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20">
                <a:solidFill>
                  <a:srgbClr val="FCEE00"/>
                </a:solidFill>
                <a:latin typeface="Arial Black"/>
                <a:cs typeface="Arial Black"/>
              </a:rPr>
              <a:t>é</a:t>
            </a:r>
            <a:r>
              <a:rPr dirty="0" sz="2100" spc="-80">
                <a:solidFill>
                  <a:srgbClr val="FCEE00"/>
                </a:solidFill>
                <a:latin typeface="Arial Black"/>
                <a:cs typeface="Arial Black"/>
              </a:rPr>
              <a:t> </a:t>
            </a:r>
            <a:r>
              <a:rPr dirty="0" sz="2100" spc="50">
                <a:solidFill>
                  <a:srgbClr val="F0F0F0"/>
                </a:solidFill>
                <a:latin typeface="Lucida Sans Unicode"/>
                <a:cs typeface="Lucida Sans Unicode"/>
              </a:rPr>
              <a:t>o</a:t>
            </a:r>
            <a:r>
              <a:rPr dirty="0" sz="21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superpoder,</a:t>
            </a:r>
            <a:r>
              <a:rPr dirty="0" sz="2100" spc="-5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0F0F0"/>
                </a:solidFill>
                <a:latin typeface="Lucida Sans Unicode"/>
                <a:cs typeface="Lucida Sans Unicode"/>
              </a:rPr>
              <a:t>através</a:t>
            </a:r>
            <a:r>
              <a:rPr dirty="0" sz="2100" spc="-4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45">
                <a:solidFill>
                  <a:srgbClr val="F0F0F0"/>
                </a:solidFill>
                <a:latin typeface="Lucida Sans Unicode"/>
                <a:cs typeface="Lucida Sans Unicode"/>
              </a:rPr>
              <a:t>da </a:t>
            </a:r>
            <a:r>
              <a:rPr dirty="0" sz="2100" spc="-10">
                <a:solidFill>
                  <a:srgbClr val="F0F0F0"/>
                </a:solidFill>
                <a:latin typeface="Lucida Sans Unicode"/>
                <a:cs typeface="Lucida Sans Unicode"/>
              </a:rPr>
              <a:t>disciplina.</a:t>
            </a:r>
            <a:endParaRPr sz="2100">
              <a:latin typeface="Lucida Sans Unicode"/>
              <a:cs typeface="Lucida Sans Unicode"/>
            </a:endParaRPr>
          </a:p>
          <a:p>
            <a:pPr algn="ctr" marL="1083310" marR="1075690">
              <a:lnSpc>
                <a:spcPct val="160000"/>
              </a:lnSpc>
              <a:spcBef>
                <a:spcPts val="2860"/>
              </a:spcBef>
            </a:pPr>
            <a:r>
              <a:rPr dirty="0" sz="2100" spc="80">
                <a:solidFill>
                  <a:srgbClr val="F0F0F0"/>
                </a:solidFill>
                <a:latin typeface="Lucida Sans Unicode"/>
                <a:cs typeface="Lucida Sans Unicode"/>
              </a:rPr>
              <a:t>Seu</a:t>
            </a:r>
            <a:r>
              <a:rPr dirty="0" sz="2100" spc="-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0F0F0"/>
                </a:solidFill>
                <a:latin typeface="Lucida Sans Unicode"/>
                <a:cs typeface="Lucida Sans Unicode"/>
              </a:rPr>
              <a:t>potencial</a:t>
            </a:r>
            <a:r>
              <a:rPr dirty="0" sz="210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4">
                <a:solidFill>
                  <a:srgbClr val="F0F0F0"/>
                </a:solidFill>
                <a:latin typeface="Lucida Sans Unicode"/>
                <a:cs typeface="Lucida Sans Unicode"/>
              </a:rPr>
              <a:t>é</a:t>
            </a:r>
            <a:r>
              <a:rPr dirty="0" sz="210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limitado</a:t>
            </a:r>
            <a:r>
              <a:rPr dirty="0" sz="210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30">
                <a:solidFill>
                  <a:srgbClr val="F0F0F0"/>
                </a:solidFill>
                <a:latin typeface="Lucida Sans Unicode"/>
                <a:cs typeface="Lucida Sans Unicode"/>
              </a:rPr>
              <a:t>apenas</a:t>
            </a:r>
            <a:r>
              <a:rPr dirty="0" sz="2100" spc="-30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0F0F0"/>
                </a:solidFill>
                <a:latin typeface="Lucida Sans Unicode"/>
                <a:cs typeface="Lucida Sans Unicode"/>
              </a:rPr>
              <a:t>pelo</a:t>
            </a:r>
            <a:r>
              <a:rPr dirty="0" sz="2100" spc="-2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30">
                <a:solidFill>
                  <a:srgbClr val="F0F0F0"/>
                </a:solidFill>
                <a:latin typeface="Lucida Sans Unicode"/>
                <a:cs typeface="Lucida Sans Unicode"/>
              </a:rPr>
              <a:t>seu </a:t>
            </a:r>
            <a:r>
              <a:rPr dirty="0" sz="2100" spc="-10">
                <a:solidFill>
                  <a:srgbClr val="F0F0F0"/>
                </a:solidFill>
                <a:latin typeface="Lucida Sans Unicode"/>
                <a:cs typeface="Lucida Sans Unicode"/>
              </a:rPr>
              <a:t>foco.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568325" y="-92000"/>
            <a:ext cx="357822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4"/>
              <a:t>IMAGE</a:t>
            </a:r>
            <a:r>
              <a:rPr dirty="0" spc="-320"/>
              <a:t> </a:t>
            </a:r>
            <a:r>
              <a:rPr dirty="0" spc="-540"/>
              <a:t>SOURCES</a:t>
            </a:r>
          </a:p>
        </p:txBody>
      </p:sp>
      <p:sp>
        <p:nvSpPr>
          <p:cNvPr id="16" name="object 16"/>
          <p:cNvSpPr/>
          <p:nvPr/>
        </p:nvSpPr>
        <p:spPr>
          <a:xfrm>
            <a:off x="581025" y="1002357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1670000"/>
            <a:ext cx="857249" cy="4762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81025" y="2394792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49" y="9524"/>
                </a:moveTo>
                <a:lnTo>
                  <a:pt x="0" y="9524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9524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2652861"/>
            <a:ext cx="857249" cy="4762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81025" y="3377653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49" y="9524"/>
                </a:moveTo>
                <a:lnTo>
                  <a:pt x="0" y="9524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9524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3635722"/>
            <a:ext cx="857249" cy="4762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81025" y="4360514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49" y="9524"/>
                </a:moveTo>
                <a:lnTo>
                  <a:pt x="0" y="9524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9524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25" y="4519463"/>
            <a:ext cx="857249" cy="47624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81025" y="5145285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49" y="9524"/>
                </a:moveTo>
                <a:lnTo>
                  <a:pt x="0" y="9524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9524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025" y="5403353"/>
            <a:ext cx="857249" cy="47624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1025" y="6128146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49" y="9524"/>
                </a:moveTo>
                <a:lnTo>
                  <a:pt x="0" y="9524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9524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025" y="6287095"/>
            <a:ext cx="857249" cy="4762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63700" y="1546679"/>
            <a:ext cx="9954895" cy="51695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9"/>
              </a:rPr>
              <a:t>https://thumbs.dreamstime.com/b/paisagem-da-cidade-de-chuva-escura-com-vibe-gotham-edif%C3%ADcios-silenciados-e-c%C3%A9u-violeta-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9"/>
              </a:rPr>
              <a:t>estranho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</a:rPr>
              <a:t>-gerado-pela-ai-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</a:rPr>
              <a:t>327514534.jpg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</a:rPr>
              <a:t>pt.dreamstime.com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12700" marR="5080">
              <a:lnSpc>
                <a:spcPct val="164200"/>
              </a:lnSpc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10"/>
              </a:rPr>
              <a:t>https://external-preview.redd.it/R-nqKjk-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10"/>
              </a:rPr>
              <a:t>k9YOcP8PXtNqy3u4NGgFMm3BEkuC3TKmJ8I.jpg?width=640&amp;crop=smart&amp;auto=webp&amp;s=bf641c0ba174402335a0d750c</a:t>
            </a:r>
            <a:r>
              <a:rPr dirty="0" sz="950" spc="500">
                <a:solidFill>
                  <a:srgbClr val="F0F0F0"/>
                </a:solidFill>
                <a:latin typeface="Lucida Sans Unicode"/>
                <a:cs typeface="Lucida Sans Unicode"/>
              </a:rPr>
              <a:t>   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</a:rPr>
              <a:t>e3fae84422d88d2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  <a:hlinkClick r:id="rId11"/>
              </a:rPr>
              <a:t>www.reddit.com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12700" marR="44450">
              <a:lnSpc>
                <a:spcPct val="164200"/>
              </a:lnSpc>
              <a:spcBef>
                <a:spcPts val="5"/>
              </a:spcBef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12"/>
              </a:rPr>
              <a:t>https://png.pngtree.com/thumb_back/fw800/background/20250320/pngtree-digital-interface-displaying-a-silhouette-of-person-surrounded-by-icons-</a:t>
            </a:r>
            <a:r>
              <a:rPr dirty="0" sz="950" spc="-20">
                <a:solidFill>
                  <a:srgbClr val="F0F0F0"/>
                </a:solidFill>
                <a:latin typeface="Lucida Sans Unicode"/>
                <a:cs typeface="Lucida Sans Unicode"/>
                <a:hlinkClick r:id="rId12"/>
              </a:rPr>
              <a:t>repr </a:t>
            </a: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12"/>
              </a:rPr>
              <a:t>esenting-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12"/>
              </a:rPr>
              <a:t>image_17125359.jpg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</a:rPr>
              <a:t>pt.pngtree.com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13"/>
              </a:rPr>
              <a:t>https://imgv2-1-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13"/>
              </a:rPr>
              <a:t>f.scribdassets.com/img/document/638994517/original/89e33ad091/1?v=1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</a:rPr>
              <a:t>pt.scribd.com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12700" marR="43815">
              <a:lnSpc>
                <a:spcPct val="164200"/>
              </a:lnSpc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14"/>
              </a:rPr>
              <a:t>https://img.pikbest.com/wp/202405/computer-monitor-gamer-s-digital-haven-exploring-a-3d-dark-neon-workspace-with-and-luminescent-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14"/>
              </a:rPr>
              <a:t>chair_983305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</a:rPr>
              <a:t> 7.jpg!w700wp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</a:rPr>
              <a:t>pt.pikbest.com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15"/>
              </a:rPr>
              <a:t>https://images.adsttc.com/adbr001cdn.archdaily.net/wp-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15"/>
              </a:rPr>
              <a:t>content/uploads/2012/08/1343983497_1343062681_city_skyline_ipad_backgrounds.jpeg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  <a:hlinkClick r:id="rId16"/>
              </a:rPr>
              <a:t>www.archdaily.com.br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-434"/>
              <a:t>IMAGE</a:t>
            </a:r>
            <a:r>
              <a:rPr dirty="0" spc="-320"/>
              <a:t> </a:t>
            </a:r>
            <a:r>
              <a:rPr dirty="0" spc="-540"/>
              <a:t>SOURCES</a:t>
            </a:r>
          </a:p>
        </p:txBody>
      </p:sp>
      <p:sp>
        <p:nvSpPr>
          <p:cNvPr id="8" name="object 8"/>
          <p:cNvSpPr/>
          <p:nvPr/>
        </p:nvSpPr>
        <p:spPr>
          <a:xfrm>
            <a:off x="581025" y="1638300"/>
            <a:ext cx="11029950" cy="38100"/>
          </a:xfrm>
          <a:custGeom>
            <a:avLst/>
            <a:gdLst/>
            <a:ahLst/>
            <a:cxnLst/>
            <a:rect l="l" t="t" r="r" b="b"/>
            <a:pathLst>
              <a:path w="11029950" h="38100">
                <a:moveTo>
                  <a:pt x="11029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38099"/>
                </a:lnTo>
                <a:close/>
              </a:path>
            </a:pathLst>
          </a:custGeom>
          <a:solidFill>
            <a:srgbClr val="0A84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3437482"/>
            <a:ext cx="857249" cy="4762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81025" y="4063305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49" y="9524"/>
                </a:moveTo>
                <a:lnTo>
                  <a:pt x="0" y="9524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9524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4321373"/>
            <a:ext cx="857249" cy="476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63700" y="3335294"/>
            <a:ext cx="9957435" cy="151384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5"/>
              </a:rPr>
              <a:t>https://st2.depositphotos.com/46950342/58485/v/600/depositphotos_584850718-stock-video-young-girl-doing-exhausting-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5"/>
              </a:rPr>
              <a:t>exercise.jpg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</a:rPr>
              <a:t>depositphotos.com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12700" marR="5080">
              <a:lnSpc>
                <a:spcPct val="164200"/>
              </a:lnSpc>
            </a:pPr>
            <a:r>
              <a:rPr dirty="0" sz="950">
                <a:solidFill>
                  <a:srgbClr val="F0F0F0"/>
                </a:solidFill>
                <a:latin typeface="Lucida Sans Unicode"/>
                <a:cs typeface="Lucida Sans Unicode"/>
                <a:hlinkClick r:id="rId6"/>
              </a:rPr>
              <a:t>https://png.pngtree.com/background/20250526/original/pngtree-a-lone-warrior-stands-against-fiery-sunset-wielding-glowing-sword-picture-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  <a:hlinkClick r:id="rId6"/>
              </a:rPr>
              <a:t>image_163127</a:t>
            </a:r>
            <a:r>
              <a:rPr dirty="0" sz="950" spc="-10">
                <a:solidFill>
                  <a:srgbClr val="F0F0F0"/>
                </a:solidFill>
                <a:latin typeface="Lucida Sans Unicode"/>
                <a:cs typeface="Lucida Sans Unicode"/>
              </a:rPr>
              <a:t> 69.jpg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>
                <a:solidFill>
                  <a:srgbClr val="F0F0F0"/>
                </a:solidFill>
                <a:latin typeface="Lucida Sans Unicode"/>
                <a:cs typeface="Lucida Sans Unicode"/>
              </a:rPr>
              <a:t>Source:</a:t>
            </a:r>
            <a:r>
              <a:rPr dirty="0" sz="1200" spc="65">
                <a:solidFill>
                  <a:srgbClr val="F0F0F0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Lucida Sans Unicode"/>
                <a:cs typeface="Lucida Sans Unicode"/>
              </a:rPr>
              <a:t>pt.pngtree.com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Foco e Produtividade - Modo Batman (V3 - Texto Estratégico)</dc:title>
  <dcterms:created xsi:type="dcterms:W3CDTF">2026-10-05T11:35:18Z</dcterms:created>
  <dcterms:modified xsi:type="dcterms:W3CDTF">2026-10-05T11:35:18Z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Google</vt:lpwstr>
  </property>
  <property fmtid="{D5CDD505-2E9C-101B-9397-08002B2CF9AE}" pid="5" name="LastSaved">
    <vt:filetime>2026-10-05T00:00:00Z</vt:filetime>
  </property>
</Properties>
</file>