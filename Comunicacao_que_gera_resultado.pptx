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a38fb8c1-277c-c6fc-44c1-7f89b73c03ed}">
          <p14:sldIdLst>
            <p14:sldId id="256"/>
            <p14:sldId id="257"/>
            <p14:sldId id="258"/>
          </p14:sldIdLst>
        </p14:section>
        <p14:section name="Parte 1 · Comunicação" id="{e207cd29-5efe-2930-dd5a-d1325f468bbf}">
          <p14:sldIdLst>
            <p14:sldId id="259"/>
            <p14:sldId id="260"/>
            <p14:sldId id="261"/>
            <p14:sldId id="262"/>
            <p14:sldId id="263"/>
          </p14:sldIdLst>
        </p14:section>
        <p14:section name="Parte 2 · Demonstração" id="{faaa4c09-680c-1a7b-474f-0a5f4bf2aa39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Raio-X" id="{4cda1305-7f0c-b92a-9daf-393c7099e87d}">
          <p14:sldIdLst>
            <p14:sldId id="274"/>
            <p14:sldId id="275"/>
          </p14:sldIdLst>
        </p14:section>
        <p14:section name="Fechamento" id="{41e53716-382a-c52a-b6e8-ec3c104887ad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0:15 · acumulado 0:15
[Entre, pare no centro e olhe para a sala antes de falar.]
Bom dia a todos. Eu sou o Hércules. Nos próximos quinze minutos, vamos falar da ferramenta que todo mundo aqui usa o turno inteiro — e que quase ninguém treina: a comunicação.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0:45 · acumulado 1:00
Uma pergunta rápida. Levante a mão quem já ouviu — ou já disse — aqui no trabalho: "mas eu avisei!".
[Espere as mãos subirem. Sorria.]
Pois é. Quase todo mundo.
Em 1950, o jornalista americano William Whyte escreveu uma frase que explica isso:
[pausa]
"O grande inimigo da comunicação é a ilusão de que ela aconteceu."
A gente fala, manda a mensagem, dá o recado — e acredita que foi entendido. Hoje eu quero mostrar como acabar com essa ilusão.
[Se alguém comentar: a frase costuma ser atribuída a Bernard Shaw, mas a origem documentada é William Whyte, na revista Fortune, em 1950.]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0:20 · acumulado 1:20
Vamos em três partes.
Primeiro: o que é comunicar e o que uma boa comunicação exige.
Depois, uma demonstração — eu vou apresentar um tema de verdade, em cinco minutos.
E, no final, o que a gente leva daqui para a operação.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1:10 · acumulado 2:30
A palavra comunicar vem do latim communicare: tornar comum. Ou seja, comunicar não é só falar. É fazer uma ideia que estava só na minha cabeça virar uma ideia comum — minha e sua.
Todo processo de comunicação tem estas peças. Alguém que emite. Uma mensagem. Um canal — a fala, o WhatsApp, o e-mail. Alguém que recebe. E o retorno, o feedback: é ele que mostra o que o outro realmente entendeu.
[Aponte para a faixa de baixo.]
E, no meio de tudo, o ruído: o barulho da operação, a pressa, uma sigla que o outro não conhece, aquilo que a gente supõe que o outro já sabe.
Por isso, guardem esta frase:
[pausa]
Só existe comunicação quando o outro entende — e age como combinado. Quem diz se a comunicação aconteceu não é quem fala. É quem recebe.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0:50 · acumulado 3:20
E comunicar mal custa caro.
O PMI, referência mundial em gestão de projetos, mostrou que 56% do dinheiro em risco nos projetos está ligado a uma coisa só: comunicação ineficaz.
E uma pesquisa de 2022, com mais de 1.200 profissionais nos Estados Unidos, estimou que as equipes perdem em média 7 horas e meia por semana com comunicação ruim. É quase um dia inteiro de trabalho, toda semana.
[pausa]
Aqui na operação, esse custo tem nome: retrabalho, atraso, avaria e, no pior caso, acidente.
[Fontes, se perguntarem: PMI, "Pulse of the Profession: The Essential Role of Communications" (maio de 2013) — de cada US$ 1 bilhão investido, US$ 135 milhões ficam em risco, e 56% disso por comunicação ineficaz. Grammarly e The Harris Poll, "The State of Business Communication" (2022) — 251 líderes e 1.001 profissionais nos EUA.]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1:35 · acumulado 4:55
Então, o que uma boa comunicação exige? Eu resumi em seis requisitos.
Um — propósito claro. Antes de falar, saiba o que você quer que o outro saiba, sinta ou faça. Se nem eu sei o que quero, o outro não vai adivinhar.
Dois — mensagem objetiva: o quê, quem, onde e até quando. "Dá uma olhada nisso aí" não é instrução. É um desejo.
Três — a linguagem do público. Falar com a gerência é diferente de falar com a equipe do turno. Sigla e termo técnico, só se o outro conhece.
Quatro — canal e momento certos. O que é crítico, fale pessoalmente, olhando nos olhos. O que é importante, registre também por escrito. E não passe uma instrução importante no meio do barulho do carregamento.
Cinco — escuta ativa: ouvir para entender, não para responder. Deixar o outro terminar, perguntar, anotar.
E seis — o que mais falha: confirmação. Peça para o outro dizer, com as palavras dele, o que entendeu.
[pausa]
Guardem esse sexto. Agora vocês vão ver o que acontece quando ele falta.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1:25 (inclui o vídeo de 52 s) · acumulado 6:20
Vamos ver um caso real. Enquanto assistem, pensem: quais desses seis requisitos faltaram aqui?
[Clique no vídeo para começar — o som está embutido. Ele para sozinho no final.]
[Depois do vídeo:]
E aí? O que faltou?
[Ouça duas ou três respostas e ligue cada uma a um requisito da lista.]
Na maioria das vezes, ninguém age de má-fé. Alguém pede uma coisa, o outro entende outra, e ninguém confere antes de agir. O resultado aparece depois — e sai caro: retrabalho, prejuízo e um cliente sem porta.
[Ajuste esta última fala ao que acontece no vídeo.]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1:15 · acumulado 7:35
A solução é simples — e é usada em lugares onde um erro pode custar vidas: hospitais e aviação. Chama-se comunicação em ciclo fechado. São três passos.
Um — quem pede fala de forma objetiva: "Separe o pedido 4521 até as 14h. O caminhão sai às 15h."
Dois — quem recebe repete, com as próprias palavras: "Pedido 4521 até as 14h. Se faltar item, te aviso na hora."
Três — quem pediu confirma: "Isso. Combinado."
[pausa]
Leva cinco segundos. Agora comparem com o que a gente costuma ouvir:
[Aponte para a frase riscada.]
"Vê aquele pedido lá pra mim." Qual pedido? Até quando? E se faltar item?
Cinco segundos de confirmação evitam horas de retrabalho.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0:20 · acumulado 7:55
Até aqui, falamos da comunicação do dia a dia. Agora, em vez de explicar como se apresenta um tema, eu vou apresentar um. Cinco minutos. O tema: foco e produtividade.
[Mude de postura: vá para o centro, pare, respire e olhe para a sala antes de avançar. A partir daqui você está apresentando — não comente as técnicas até o Raio-X.]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0:40 · acumulado 8:35
[Comece em silêncio, olhando para a sala, por dois segundos.]
Quarenta e sete segundos.
[pausa]
É o tempo médio que a gente consegue manter a atenção numa tela antes de trocar de tarefa. Em 2004, eram dois minutos e meio. Quem mediu foi a pesquisadora Gloria Mark, da Universidade da Califórnia.
Notificação, mensagem, e-mail, alguém chamando...
[pausa — olhe para as pessoas]
Então eu pergunto: quem está no controle do seu turno? Você... ou as interrupções?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0:45 · acumulado 9:20
E não é falta de força de vontade. Existem quatro arquitetos trabalhando contra o seu foco.
O primeiro é a economia da atenção: aplicativos feitos para prender você. A rolagem infinita não tem fim por acaso.
O segundo é a cultura da interrupção: tudo parece urgente, e cada notificação quebra o que você estava fazendo.
O terceiro mora dentro da gente: a resistência interna, o conforto de deixar o difícil para depois.
E o quarto é a fadiga de decisão: opções demais, energia de menos.
[pausa]
Eles não vão embora. Então a pergunta é: como vencer sem superpoderes?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0:35 · acumulado 9:55
Pensem no Batman. Diferente da maioria dos super-heróis, ele não tem superpoderes: é cem por cento humano. Não voa, não tem superforça. E mesmo assim vence.
Por quê? Preparo total: ele sempre tem um plano. E controle mental: uma mente que não se distrai da missão.
[pausa]
O Batman é a prova do que um ser humano com disciplina e propósito consegue fazer.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0:35 · acumulado 10:30
E é aqui que está a lição central.
[pausa longa — olhe para a sala]
A vitória não é um evento. É um sistema.
Produtividade não depende de sorte nem de motivação. Depende de desenho: desenho da rotina, do ambiente e do foco.
Motivação é um sentimento: vem e vai. Disciplina é um sistema: funciona até nos dias ruins.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0:45 · acumulado 11:15
Como montar esse sistema? Com três ferramentas.
A primeira é a tarefa única. Todo dia, pergunte: qual é a UMA tarefa que, feita hoje, faz o dia valer? Comece por ela.
A segunda são os blocos de foco: vinte e cinco minutos de atenção total, cinco de pausa. É a técnica Pomodoro. Foco total, depois descanso total.
A terceira são as barreiras: de tempo, protegendo horários na agenda; digitais, silenciando notificações; e sociais — ter coragem de dizer "não" ao que não é prioridade.
[pausa]
Porque foco é ter a coragem de dizer não para todo o resto.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0:30 · acumulado 11:45
E por que pequenas disciplinas funcionam? Pela matemática.
Se você melhora um por cento por dia, em um ano fica quase trinta e oito vezes melhor. Se piora um por cento por dia, chega perto de zero.
[pausa]
Ninguém vê o treino diário. O mundo só vê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0:25 · acumulado 12:10
No fundo, é uma escolha entre dois modos.
No modo reativo, quem manda são as urgências: você passa o turno apagando incêndio e termina exausto e sem progresso.
No modo intencional, quem manda é você: faz primeiro o que importa e termina o turno com a missão cumprida.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0:35 · acumulado 12:45
E para não ficar na teoria: três movimentos para amanhã.
Um — auditoria de ruído: desligue as notificações que não vêm de pessoas.
Dois — a hora de poder: reserve a primeira hora do dia para a sua tarefa única, sem interrupções.
Três — o plano da noite: nunca comece o dia sem plano. Defina hoje à noite a prioridade de amanhã.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0:20 · acumulado 13:05
Lembram da pergunta do começo? Quem está no controle do seu turno?
[pausa]
Você não precisa de superpoderes. Precisa de um sistema.
Assuma o controle. Construa o seu.
[Pausa de dois segundos. Fim da demonstração: dê um passo para o lado e volte ao tom de conversa.]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0:45 · acumulado 13:50
Agora, os bastidores. O que vocês viram não foi improviso: foi uma estrutura.
Abri com um gancho: um dado que surpreende e uma pergunta. Dei nome ao problema. Contei uma história que todo mundo conhece. Entreguei a mensagem central em uma frase só. Organizei tudo em três: três pilares, três ferramentas, três movimentos. Trouxe prova, com fonte. Mostrei um contraste. Terminei com uma ação com prazo — amanhã. E fechei voltando à pergunta do início.
Essa estrutura serve para qualquer tema: uma reunião de resultados, um DDS, um treinamento.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0:25 · acumulado 14:15
E tem a entrega, que é metade da mensagem.
Usei a linguagem de vocês: falei de turno, não de um dia qualquer. Fiz pausa antes das frases-chave. Olhei para vocês, não para a tela. Variei o ritmo da voz. E cada slide tinha uma ideia só.
O slide apoia. Quem comunica é você.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0:45 · acumulado 15:00
Para fechar, três coisas para levar para a operação.
Um: clareza antes da pressa. Toda instrução precisa de o quê, quem, onde e até quando.
Dois: feche o ciclo. Fala, repete, confirma. Cinco segundos que evitam horas de retrabalho.
Três: quando for apresentar qualquer tema, use a estrutura que vocês viram: um gancho, uma mensagem central, três apoios e uma ação.
[pausa]
Comunicar é tornar comum. Fechem o ciclo — e nenhuma porta vai sumir.
[Sorria.] Obrigado.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630936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Título do slide</a:t>
            </a: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868680"/>
            <a:ext cx="1072865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Título do slide</a:t>
            </a:r>
            <a:endParaRPr lang="en-US" sz="4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_TITUL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841248"/>
            <a:ext cx="1072865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Título do slide</a:t>
            </a:r>
            <a:endParaRPr lang="en-US" sz="3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LCO_TITULO">
    <p:bg>
      <p:bgPr>
        <a:solidFill>
          <a:schemeClr val="accent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841248"/>
            <a:ext cx="1072865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Título do slide</a:t>
            </a:r>
            <a:endParaRPr lang="en-US" sz="36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_LIVRE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LCO_LIVRE">
    <p:bg>
      <p:bgPr>
        <a:solidFill>
          <a:schemeClr val="accent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MARELO_LIVRE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video" Target="../media/media-7-1.mp4"/><Relationship Id="rId2" Type="http://schemas.microsoft.com/office/2007/relationships/media" Target="../media/media-7-1.mp4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verde"/>
          <p:cNvSpPr/>
          <p:nvPr/>
        </p:nvSpPr>
        <p:spPr>
          <a:xfrm>
            <a:off x="731520" y="589788"/>
            <a:ext cx="457200" cy="68580"/>
          </a:xfrm>
          <a:prstGeom prst="roundRect">
            <a:avLst>
              <a:gd name="adj" fmla="val 4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Marca amarela"/>
          <p:cNvSpPr/>
          <p:nvPr/>
        </p:nvSpPr>
        <p:spPr>
          <a:xfrm>
            <a:off x="731520" y="704088"/>
            <a:ext cx="457200" cy="68580"/>
          </a:xfrm>
          <a:prstGeom prst="roundRect">
            <a:avLst>
              <a:gd name="adj" fmla="val 4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Rotulo"/>
          <p:cNvSpPr txBox="1"/>
          <p:nvPr/>
        </p:nvSpPr>
        <p:spPr>
          <a:xfrm>
            <a:off x="13716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TREINAMENTO · BARTOFIL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103120"/>
            <a:ext cx="6309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Comunicação que gera resultado</a:t>
            </a:r>
            <a:endParaRPr lang="en-US" sz="4800" dirty="0"/>
          </a:p>
        </p:txBody>
      </p:sp>
      <p:sp>
        <p:nvSpPr>
          <p:cNvPr id="6" name="Subtitulo"/>
          <p:cNvSpPr txBox="1"/>
          <p:nvPr/>
        </p:nvSpPr>
        <p:spPr>
          <a:xfrm>
            <a:off x="731520" y="39319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chemeClr val="accent6"/>
                </a:solidFill>
              </a:rPr>
              <a:t>Os requisitos de uma boa comunicação — e uma demonstração de como apresentar um tema</a:t>
            </a:r>
            <a:endParaRPr lang="en-US" sz="1800" dirty="0"/>
          </a:p>
        </p:txBody>
      </p:sp>
      <p:sp>
        <p:nvSpPr>
          <p:cNvPr id="7" name="Apresentador"/>
          <p:cNvSpPr txBox="1"/>
          <p:nvPr/>
        </p:nvSpPr>
        <p:spPr>
          <a:xfrm>
            <a:off x="731520" y="55321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Hércules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Administrador de Sistemas · Bartofil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716975" y="5870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15 MINUTOS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731520" y="21488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PARA COMEÇAR</a:t>
            </a:r>
            <a:endParaRPr lang="en-US" sz="1200" dirty="0"/>
          </a:p>
        </p:txBody>
      </p:sp>
      <p:sp>
        <p:nvSpPr>
          <p:cNvPr id="3" name="Citacao"/>
          <p:cNvSpPr txBox="1"/>
          <p:nvPr/>
        </p:nvSpPr>
        <p:spPr>
          <a:xfrm>
            <a:off x="731520" y="2560320"/>
            <a:ext cx="9875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chemeClr val="tx1"/>
                </a:solidFill>
              </a:rPr>
              <a:t>“O grande inimigo da comunicação é a ilusão de que ela aconteceu.”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97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— William H. Whyte, revista Fortune, 1950 (tradução livre)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731520" y="5486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ROTEIRO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841248"/>
            <a:ext cx="10728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Três partes em 15 minutos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10728655" cy="0"/>
          </a:xfrm>
          <a:prstGeom prst="line">
            <a:avLst/>
          </a:prstGeom>
          <a:noFill/>
          <a:ln w="12700">
            <a:solidFill>
              <a:schemeClr val="accent5">
                <a:alpha val="25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488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2148840"/>
            <a:ext cx="9494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Comunicação e seus requisitos</a:t>
            </a:r>
            <a:endParaRPr lang="en-US" sz="20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 que é comunicar, quanto custa falhar e o que uma boa comunicação exige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0728655" cy="0"/>
          </a:xfrm>
          <a:prstGeom prst="line">
            <a:avLst/>
          </a:prstGeom>
          <a:noFill/>
          <a:ln w="12700">
            <a:solidFill>
              <a:schemeClr val="accent5">
                <a:alpha val="25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4747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3474720"/>
            <a:ext cx="9494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Demonstração ao vivo</a:t>
            </a:r>
            <a:endParaRPr lang="en-US" sz="20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Uma apresentação de 5 minutos sobre foco e produtividade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4526280"/>
            <a:ext cx="10728655" cy="0"/>
          </a:xfrm>
          <a:prstGeom prst="line">
            <a:avLst/>
          </a:prstGeom>
          <a:noFill/>
          <a:ln w="12700">
            <a:solidFill>
              <a:schemeClr val="accent5">
                <a:alpha val="25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8006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03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4800600"/>
            <a:ext cx="9494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O que levamos para a operação</a:t>
            </a:r>
            <a:endParaRPr lang="en-US" sz="20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Três lições para usar a partir de amanhã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5852160"/>
            <a:ext cx="10728655" cy="0"/>
          </a:xfrm>
          <a:prstGeom prst="line">
            <a:avLst/>
          </a:prstGeom>
          <a:noFill/>
          <a:ln w="12700">
            <a:solidFill>
              <a:schemeClr val="accent5">
                <a:alpha val="25000"/>
              </a:scheme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731520" y="5486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 QUE É COMUNICAR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841248"/>
            <a:ext cx="10728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Comunicar é tornar comum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36192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Do latim </a:t>
            </a:r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communicare</a:t>
            </a:r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: partilhar, tornar comum.</a:t>
            </a:r>
            <a:endParaRPr lang="en-US" sz="1500" dirty="0"/>
          </a:p>
        </p:txBody>
      </p:sp>
      <p:sp>
        <p:nvSpPr>
          <p:cNvPr id="5" name="Etapa Emissor"/>
          <p:cNvSpPr/>
          <p:nvPr/>
        </p:nvSpPr>
        <p:spPr>
          <a:xfrm>
            <a:off x="731520" y="2194560"/>
            <a:ext cx="2148840" cy="1051560"/>
          </a:xfrm>
          <a:prstGeom prst="roundRect">
            <a:avLst>
              <a:gd name="adj" fmla="val 12174"/>
            </a:avLst>
          </a:prstGeom>
          <a:solidFill>
            <a:schemeClr val="bg1"/>
          </a:solidFill>
          <a:ln w="9525">
            <a:solidFill>
              <a:schemeClr val="accent5">
                <a:alpha val="22000"/>
              </a:scheme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Emissor</a:t>
            </a:r>
            <a:endParaRPr lang="en-US" sz="20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quem fala ou escreve</a:t>
            </a:r>
            <a:endParaRPr lang="en-US" sz="2000" dirty="0"/>
          </a:p>
        </p:txBody>
      </p:sp>
      <p:sp>
        <p:nvSpPr>
          <p:cNvPr id="7" name="Seta"/>
          <p:cNvSpPr/>
          <p:nvPr/>
        </p:nvSpPr>
        <p:spPr>
          <a:xfrm>
            <a:off x="2953512" y="2720340"/>
            <a:ext cx="564794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Etapa Mensagem"/>
          <p:cNvSpPr/>
          <p:nvPr/>
        </p:nvSpPr>
        <p:spPr>
          <a:xfrm>
            <a:off x="3591458" y="2194560"/>
            <a:ext cx="2148840" cy="1051560"/>
          </a:xfrm>
          <a:prstGeom prst="roundRect">
            <a:avLst>
              <a:gd name="adj" fmla="val 12174"/>
            </a:avLst>
          </a:prstGeom>
          <a:solidFill>
            <a:schemeClr val="bg1"/>
          </a:solidFill>
          <a:ln w="9525">
            <a:solidFill>
              <a:schemeClr val="accent5">
                <a:alpha val="22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74338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Mensagem</a:t>
            </a:r>
            <a:endParaRPr lang="en-US" sz="20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ideia, em palavras</a:t>
            </a:r>
            <a:endParaRPr lang="en-US" sz="2000" dirty="0"/>
          </a:p>
        </p:txBody>
      </p:sp>
      <p:sp>
        <p:nvSpPr>
          <p:cNvPr id="10" name="Seta"/>
          <p:cNvSpPr/>
          <p:nvPr/>
        </p:nvSpPr>
        <p:spPr>
          <a:xfrm>
            <a:off x="5813450" y="2720340"/>
            <a:ext cx="564794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Etapa Canal"/>
          <p:cNvSpPr/>
          <p:nvPr/>
        </p:nvSpPr>
        <p:spPr>
          <a:xfrm>
            <a:off x="6451397" y="2194560"/>
            <a:ext cx="2148840" cy="1051560"/>
          </a:xfrm>
          <a:prstGeom prst="roundRect">
            <a:avLst>
              <a:gd name="adj" fmla="val 12174"/>
            </a:avLst>
          </a:prstGeom>
          <a:solidFill>
            <a:schemeClr val="bg1"/>
          </a:solidFill>
          <a:ln w="9525">
            <a:solidFill>
              <a:schemeClr val="accent5">
                <a:alpha val="22000"/>
              </a:scheme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34277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Canal</a:t>
            </a:r>
            <a:endParaRPr lang="en-US" sz="20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fala, e-mail, WhatsApp</a:t>
            </a:r>
            <a:endParaRPr lang="en-US" sz="2000" dirty="0"/>
          </a:p>
        </p:txBody>
      </p:sp>
      <p:sp>
        <p:nvSpPr>
          <p:cNvPr id="13" name="Seta"/>
          <p:cNvSpPr/>
          <p:nvPr/>
        </p:nvSpPr>
        <p:spPr>
          <a:xfrm>
            <a:off x="8673389" y="2720340"/>
            <a:ext cx="564794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Etapa Receptor"/>
          <p:cNvSpPr/>
          <p:nvPr/>
        </p:nvSpPr>
        <p:spPr>
          <a:xfrm>
            <a:off x="9311335" y="2194560"/>
            <a:ext cx="2148840" cy="1051560"/>
          </a:xfrm>
          <a:prstGeom prst="roundRect">
            <a:avLst>
              <a:gd name="adj" fmla="val 12174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94215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Receptor</a:t>
            </a:r>
            <a:endParaRPr lang="en-US" sz="20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quem precisa entender</a:t>
            </a:r>
            <a:endParaRPr lang="en-US" sz="2000" dirty="0"/>
          </a:p>
        </p:txBody>
      </p:sp>
      <p:sp>
        <p:nvSpPr>
          <p:cNvPr id="16" name="Feedback 1"/>
          <p:cNvSpPr/>
          <p:nvPr/>
        </p:nvSpPr>
        <p:spPr>
          <a:xfrm>
            <a:off x="10385755" y="3246120"/>
            <a:ext cx="0" cy="45720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17" name="Feedback 2"/>
          <p:cNvSpPr/>
          <p:nvPr/>
        </p:nvSpPr>
        <p:spPr>
          <a:xfrm>
            <a:off x="1805940" y="3703320"/>
            <a:ext cx="8579815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18" name="Feedback 3"/>
          <p:cNvSpPr/>
          <p:nvPr/>
        </p:nvSpPr>
        <p:spPr>
          <a:xfrm>
            <a:off x="1805940" y="3246120"/>
            <a:ext cx="0" cy="45720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19" name="Text 17"/>
          <p:cNvSpPr txBox="1"/>
          <p:nvPr/>
        </p:nvSpPr>
        <p:spPr>
          <a:xfrm>
            <a:off x="3017520" y="3813048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Feedback: o receptor mostra o que entendeu</a:t>
            </a:r>
            <a:endParaRPr lang="en-US" sz="1300" dirty="0"/>
          </a:p>
        </p:txBody>
      </p:sp>
      <p:sp>
        <p:nvSpPr>
          <p:cNvPr id="20" name="Ruido"/>
          <p:cNvSpPr/>
          <p:nvPr/>
        </p:nvSpPr>
        <p:spPr>
          <a:xfrm>
            <a:off x="731520" y="4343400"/>
            <a:ext cx="10728655" cy="502920"/>
          </a:xfrm>
          <a:prstGeom prst="roundRect">
            <a:avLst>
              <a:gd name="adj" fmla="val 21818"/>
            </a:avLst>
          </a:prstGeom>
          <a:noFill/>
          <a:ln w="12700">
            <a:solidFill>
              <a:schemeClr val="accent5">
                <a:alpha val="65000"/>
              </a:schemeClr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731520" y="43434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RUÍDO</a:t>
            </a:r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     barulho · pressa · siglas · suposições — atrapalham todas as etapas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25780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Só existe comunicação quando o outro entende — e age como combinado.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731520" y="5486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POR QUE ISSO IMPORTA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841248"/>
            <a:ext cx="10728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 preço de comunicar mal</a:t>
            </a:r>
            <a:endParaRPr lang="en-US" sz="3600" dirty="0"/>
          </a:p>
        </p:txBody>
      </p:sp>
      <p:sp>
        <p:nvSpPr>
          <p:cNvPr id="4" name="Dado 1"/>
          <p:cNvSpPr/>
          <p:nvPr/>
        </p:nvSpPr>
        <p:spPr>
          <a:xfrm>
            <a:off x="731520" y="1783080"/>
            <a:ext cx="5204308" cy="3017520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 w="9525">
            <a:solidFill>
              <a:schemeClr val="accent5">
                <a:alpha val="22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11680"/>
            <a:ext cx="44727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56%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337560"/>
            <a:ext cx="44727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dos recursos em risco nos projetos estão ligados à comunicação ineficaz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251960"/>
            <a:ext cx="447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PMI · Pulse of the Profession, 2013</a:t>
            </a:r>
            <a:endParaRPr lang="en-US" sz="1200" dirty="0"/>
          </a:p>
        </p:txBody>
      </p:sp>
      <p:sp>
        <p:nvSpPr>
          <p:cNvPr id="8" name="Dado 2"/>
          <p:cNvSpPr/>
          <p:nvPr/>
        </p:nvSpPr>
        <p:spPr>
          <a:xfrm>
            <a:off x="6255868" y="1783080"/>
            <a:ext cx="5204308" cy="3017520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 w="9525">
            <a:solidFill>
              <a:schemeClr val="accent5">
                <a:alpha val="22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1628" y="2011680"/>
            <a:ext cx="44727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7,47 h</a:t>
            </a:r>
            <a:endParaRPr lang="en-US" sz="8000" dirty="0"/>
          </a:p>
        </p:txBody>
      </p:sp>
      <p:sp>
        <p:nvSpPr>
          <p:cNvPr id="10" name="Text 8"/>
          <p:cNvSpPr txBox="1"/>
          <p:nvPr/>
        </p:nvSpPr>
        <p:spPr>
          <a:xfrm>
            <a:off x="6621628" y="3337560"/>
            <a:ext cx="44727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por semana é o que as equipes perdem com comunicação ruim — quase um dia de trabalho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21628" y="4251960"/>
            <a:ext cx="447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Grammarly e The Harris Poll · EUA, 2022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21208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Na operação, isso vira retrabalho, atraso, avaria e risco de acidente.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731520" y="5486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OS REQUISITOS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841248"/>
            <a:ext cx="10728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Seis requisitos de uma boa comunicação</a:t>
            </a:r>
            <a:endParaRPr lang="en-US" sz="3600" dirty="0"/>
          </a:p>
        </p:txBody>
      </p:sp>
      <p:sp>
        <p:nvSpPr>
          <p:cNvPr id="4" name="Requisito 01"/>
          <p:cNvSpPr/>
          <p:nvPr/>
        </p:nvSpPr>
        <p:spPr>
          <a:xfrm>
            <a:off x="731520" y="1783080"/>
            <a:ext cx="3393338" cy="1965960"/>
          </a:xfrm>
          <a:prstGeom prst="roundRect">
            <a:avLst>
              <a:gd name="adj" fmla="val 6512"/>
            </a:avLst>
          </a:prstGeom>
          <a:solidFill>
            <a:schemeClr val="bg1"/>
          </a:solidFill>
          <a:ln w="9525">
            <a:solidFill>
              <a:schemeClr val="accent5">
                <a:alpha val="22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039112"/>
            <a:ext cx="2844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01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Propósito claro</a:t>
            </a:r>
            <a:endParaRPr lang="en-US" sz="12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Saiba o que o outro precisa saber, sentir ou fazer.</a:t>
            </a:r>
            <a:endParaRPr lang="en-US" sz="1200" dirty="0"/>
          </a:p>
        </p:txBody>
      </p:sp>
      <p:sp>
        <p:nvSpPr>
          <p:cNvPr id="6" name="Requisito 02"/>
          <p:cNvSpPr/>
          <p:nvPr/>
        </p:nvSpPr>
        <p:spPr>
          <a:xfrm>
            <a:off x="4399178" y="1783080"/>
            <a:ext cx="3393338" cy="1965960"/>
          </a:xfrm>
          <a:prstGeom prst="roundRect">
            <a:avLst>
              <a:gd name="adj" fmla="val 6512"/>
            </a:avLst>
          </a:prstGeom>
          <a:solidFill>
            <a:schemeClr val="bg1"/>
          </a:solidFill>
          <a:ln w="9525">
            <a:solidFill>
              <a:schemeClr val="accent5">
                <a:alpha val="22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73498" y="2039112"/>
            <a:ext cx="2844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Mensagem objetiva</a:t>
            </a:r>
            <a:endParaRPr lang="en-US" sz="12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 quê, quem, onde e até quando. Sem rodeios.</a:t>
            </a:r>
            <a:endParaRPr lang="en-US" sz="1200" dirty="0"/>
          </a:p>
        </p:txBody>
      </p:sp>
      <p:sp>
        <p:nvSpPr>
          <p:cNvPr id="8" name="Requisito 03"/>
          <p:cNvSpPr/>
          <p:nvPr/>
        </p:nvSpPr>
        <p:spPr>
          <a:xfrm>
            <a:off x="8066837" y="1783080"/>
            <a:ext cx="3393338" cy="1965960"/>
          </a:xfrm>
          <a:prstGeom prst="roundRect">
            <a:avLst>
              <a:gd name="adj" fmla="val 6512"/>
            </a:avLst>
          </a:prstGeom>
          <a:solidFill>
            <a:schemeClr val="bg1"/>
          </a:solidFill>
          <a:ln w="9525">
            <a:solidFill>
              <a:schemeClr val="accent5">
                <a:alpha val="22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41157" y="2039112"/>
            <a:ext cx="2844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03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Linguagem do público</a:t>
            </a:r>
            <a:endParaRPr lang="en-US" sz="12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Fale a língua de quem ouve, não a sua.</a:t>
            </a:r>
            <a:endParaRPr lang="en-US" sz="1200" dirty="0"/>
          </a:p>
        </p:txBody>
      </p:sp>
      <p:sp>
        <p:nvSpPr>
          <p:cNvPr id="10" name="Requisito 04"/>
          <p:cNvSpPr/>
          <p:nvPr/>
        </p:nvSpPr>
        <p:spPr>
          <a:xfrm>
            <a:off x="731520" y="4023360"/>
            <a:ext cx="3393338" cy="1965960"/>
          </a:xfrm>
          <a:prstGeom prst="roundRect">
            <a:avLst>
              <a:gd name="adj" fmla="val 6512"/>
            </a:avLst>
          </a:prstGeom>
          <a:solidFill>
            <a:schemeClr val="bg1"/>
          </a:solidFill>
          <a:ln w="9525">
            <a:solidFill>
              <a:schemeClr val="accent5">
                <a:alpha val="22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4279392"/>
            <a:ext cx="2844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04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Canal e momento certos</a:t>
            </a:r>
            <a:endParaRPr lang="en-US" sz="12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Crítico: pessoalmente. Importante: também por escrito.</a:t>
            </a:r>
            <a:endParaRPr lang="en-US" sz="1200" dirty="0"/>
          </a:p>
        </p:txBody>
      </p:sp>
      <p:sp>
        <p:nvSpPr>
          <p:cNvPr id="12" name="Requisito 05"/>
          <p:cNvSpPr/>
          <p:nvPr/>
        </p:nvSpPr>
        <p:spPr>
          <a:xfrm>
            <a:off x="4399178" y="4023360"/>
            <a:ext cx="3393338" cy="1965960"/>
          </a:xfrm>
          <a:prstGeom prst="roundRect">
            <a:avLst>
              <a:gd name="adj" fmla="val 6512"/>
            </a:avLst>
          </a:prstGeom>
          <a:solidFill>
            <a:schemeClr val="bg1"/>
          </a:solidFill>
          <a:ln w="9525">
            <a:solidFill>
              <a:schemeClr val="accent5">
                <a:alpha val="22000"/>
              </a:scheme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73498" y="4279392"/>
            <a:ext cx="2844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05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Escuta ativa</a:t>
            </a:r>
            <a:endParaRPr lang="en-US" sz="12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Ouça para entender, não para responder.</a:t>
            </a:r>
            <a:endParaRPr lang="en-US" sz="1200" dirty="0"/>
          </a:p>
        </p:txBody>
      </p:sp>
      <p:sp>
        <p:nvSpPr>
          <p:cNvPr id="14" name="Requisito 06"/>
          <p:cNvSpPr/>
          <p:nvPr/>
        </p:nvSpPr>
        <p:spPr>
          <a:xfrm>
            <a:off x="8066837" y="4023360"/>
            <a:ext cx="3393338" cy="1965960"/>
          </a:xfrm>
          <a:prstGeom prst="roundRect">
            <a:avLst>
              <a:gd name="adj" fmla="val 6512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41157" y="4279392"/>
            <a:ext cx="2844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06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Confirmação</a:t>
            </a:r>
            <a:endParaRPr lang="en-US" sz="12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Peça para o outro dizer o que entendeu.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ideo Comunicacao e tud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31520" y="548640"/>
            <a:ext cx="3240405" cy="5760720"/>
          </a:xfrm>
          <a:prstGeom prst="rect">
            <a:avLst/>
          </a:prstGeom>
        </p:spPr>
      </p:pic>
      <p:sp>
        <p:nvSpPr>
          <p:cNvPr id="3" name="Rotulo"/>
          <p:cNvSpPr txBox="1"/>
          <p:nvPr/>
        </p:nvSpPr>
        <p:spPr>
          <a:xfrm>
            <a:off x="4434840" y="1600200"/>
            <a:ext cx="7025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CASO REAL · 52 SEGUNDOS</a:t>
            </a:r>
            <a:endParaRPr lang="en-US" sz="1200" dirty="0"/>
          </a:p>
        </p:txBody>
      </p:sp>
      <p:sp>
        <p:nvSpPr>
          <p:cNvPr id="4" name="Titulo video"/>
          <p:cNvSpPr txBox="1"/>
          <p:nvPr/>
        </p:nvSpPr>
        <p:spPr>
          <a:xfrm>
            <a:off x="4434840" y="1892808"/>
            <a:ext cx="7025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Quando a comunicação falha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4434840" y="2743200"/>
            <a:ext cx="7025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Enquanto assiste, pense: quais dos seis requisitos faltaram aqui?</a:t>
            </a:r>
            <a:endParaRPr lang="en-US" sz="2000" dirty="0"/>
          </a:p>
        </p:txBody>
      </p:sp>
      <p:sp>
        <p:nvSpPr>
          <p:cNvPr id="6" name="Requisito 01"/>
          <p:cNvSpPr/>
          <p:nvPr/>
        </p:nvSpPr>
        <p:spPr>
          <a:xfrm>
            <a:off x="4434840" y="3657600"/>
            <a:ext cx="2268626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>
                <a:alpha val="30000"/>
              </a:scheme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434840" y="3657600"/>
            <a:ext cx="22686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01 Propósito claro</a:t>
            </a:r>
            <a:endParaRPr lang="en-US" sz="1200" dirty="0"/>
          </a:p>
        </p:txBody>
      </p:sp>
      <p:sp>
        <p:nvSpPr>
          <p:cNvPr id="8" name="Requisito 02"/>
          <p:cNvSpPr/>
          <p:nvPr/>
        </p:nvSpPr>
        <p:spPr>
          <a:xfrm>
            <a:off x="6813194" y="3657600"/>
            <a:ext cx="2268626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>
                <a:alpha val="30000"/>
              </a:scheme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13194" y="3657600"/>
            <a:ext cx="22686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02 Mensagem objetiva</a:t>
            </a:r>
            <a:endParaRPr lang="en-US" sz="1200" dirty="0"/>
          </a:p>
        </p:txBody>
      </p:sp>
      <p:sp>
        <p:nvSpPr>
          <p:cNvPr id="10" name="Requisito 03"/>
          <p:cNvSpPr/>
          <p:nvPr/>
        </p:nvSpPr>
        <p:spPr>
          <a:xfrm>
            <a:off x="9191549" y="3657600"/>
            <a:ext cx="2268626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>
                <a:alpha val="30000"/>
              </a:scheme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91549" y="3657600"/>
            <a:ext cx="22686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03 Linguagem do público</a:t>
            </a:r>
            <a:endParaRPr lang="en-US" sz="1200" dirty="0"/>
          </a:p>
        </p:txBody>
      </p:sp>
      <p:sp>
        <p:nvSpPr>
          <p:cNvPr id="12" name="Requisito 04"/>
          <p:cNvSpPr/>
          <p:nvPr/>
        </p:nvSpPr>
        <p:spPr>
          <a:xfrm>
            <a:off x="4434840" y="4160520"/>
            <a:ext cx="2268626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>
                <a:alpha val="30000"/>
              </a:scheme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34840" y="4160520"/>
            <a:ext cx="22686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04 Canal e momento</a:t>
            </a:r>
            <a:endParaRPr lang="en-US" sz="1200" dirty="0"/>
          </a:p>
        </p:txBody>
      </p:sp>
      <p:sp>
        <p:nvSpPr>
          <p:cNvPr id="14" name="Requisito 05"/>
          <p:cNvSpPr/>
          <p:nvPr/>
        </p:nvSpPr>
        <p:spPr>
          <a:xfrm>
            <a:off x="6813194" y="4160520"/>
            <a:ext cx="2268626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>
                <a:alpha val="30000"/>
              </a:scheme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13194" y="4160520"/>
            <a:ext cx="22686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05 Escuta ativa</a:t>
            </a:r>
            <a:endParaRPr lang="en-US" sz="1200" dirty="0"/>
          </a:p>
        </p:txBody>
      </p:sp>
      <p:sp>
        <p:nvSpPr>
          <p:cNvPr id="16" name="Requisito 06"/>
          <p:cNvSpPr/>
          <p:nvPr/>
        </p:nvSpPr>
        <p:spPr>
          <a:xfrm>
            <a:off x="9191549" y="4160520"/>
            <a:ext cx="2268626" cy="38404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91549" y="4160520"/>
            <a:ext cx="22686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06 Confirmação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434840" y="4846320"/>
            <a:ext cx="7025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Vídeo: Geyza Dourado (@geyza.dourado)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731520" y="5486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 LIÇÃO DO VÍDEO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841248"/>
            <a:ext cx="10728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Feche o ciclo: fala, repete, confirma</a:t>
            </a:r>
            <a:endParaRPr lang="en-US" sz="3600" dirty="0"/>
          </a:p>
        </p:txBody>
      </p:sp>
      <p:sp>
        <p:nvSpPr>
          <p:cNvPr id="4" name="Em vez de"/>
          <p:cNvSpPr/>
          <p:nvPr/>
        </p:nvSpPr>
        <p:spPr>
          <a:xfrm>
            <a:off x="731520" y="1627632"/>
            <a:ext cx="1188720" cy="329184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accent5">
                <a:alpha val="55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2763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</a:rPr>
              <a:t>EM VEZ DE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62763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strike="sngStrike" dirty="0">
                <a:solidFill>
                  <a:schemeClr val="accent5"/>
                </a:solidFill>
              </a:rPr>
              <a:t>“Vê aquele pedido lá pra mim.”</a:t>
            </a:r>
            <a:endParaRPr lang="en-US" sz="1500" dirty="0"/>
          </a:p>
        </p:txBody>
      </p:sp>
      <p:sp>
        <p:nvSpPr>
          <p:cNvPr id="7" name="Passo 1"/>
          <p:cNvSpPr/>
          <p:nvPr/>
        </p:nvSpPr>
        <p:spPr>
          <a:xfrm>
            <a:off x="731520" y="2240280"/>
            <a:ext cx="3149498" cy="2377440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 w="9525">
            <a:solidFill>
              <a:schemeClr val="accent5">
                <a:alpha val="22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496312"/>
            <a:ext cx="26008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 · FALA</a:t>
            </a:r>
            <a:endParaRPr lang="en-US" sz="1200" dirty="0"/>
          </a:p>
          <a:p>
            <a:pPr algn="l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5"/>
                </a:solidFill>
              </a:rPr>
              <a:t>Quem pede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“Separe o pedido 4521 até as 14h. O caminhão sai às 15h.”</a:t>
            </a:r>
            <a:endParaRPr lang="en-US" sz="1200" dirty="0"/>
          </a:p>
        </p:txBody>
      </p:sp>
      <p:sp>
        <p:nvSpPr>
          <p:cNvPr id="9" name="Seta"/>
          <p:cNvSpPr/>
          <p:nvPr/>
        </p:nvSpPr>
        <p:spPr>
          <a:xfrm>
            <a:off x="3972458" y="34290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Passo 2"/>
          <p:cNvSpPr/>
          <p:nvPr/>
        </p:nvSpPr>
        <p:spPr>
          <a:xfrm>
            <a:off x="4521098" y="2240280"/>
            <a:ext cx="3149498" cy="2377440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 w="9525">
            <a:solidFill>
              <a:schemeClr val="accent5">
                <a:alpha val="22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95418" y="2496312"/>
            <a:ext cx="26008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2 · REPETE</a:t>
            </a:r>
            <a:endParaRPr lang="en-US" sz="1200" dirty="0"/>
          </a:p>
          <a:p>
            <a:pPr algn="l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5"/>
                </a:solidFill>
              </a:rPr>
              <a:t>Quem recebe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“Pedido 4521 até as 14h. Se faltar item, te aviso na hora.”</a:t>
            </a:r>
            <a:endParaRPr lang="en-US" sz="1200" dirty="0"/>
          </a:p>
        </p:txBody>
      </p:sp>
      <p:sp>
        <p:nvSpPr>
          <p:cNvPr id="12" name="Seta"/>
          <p:cNvSpPr/>
          <p:nvPr/>
        </p:nvSpPr>
        <p:spPr>
          <a:xfrm>
            <a:off x="7762037" y="34290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Passo 3"/>
          <p:cNvSpPr/>
          <p:nvPr/>
        </p:nvSpPr>
        <p:spPr>
          <a:xfrm>
            <a:off x="8310677" y="2240280"/>
            <a:ext cx="3149498" cy="2377440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84997" y="2496312"/>
            <a:ext cx="26008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3 · CONFIRMA</a:t>
            </a:r>
            <a:endParaRPr lang="en-US" sz="1200" dirty="0"/>
          </a:p>
          <a:p>
            <a:pPr algn="l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5"/>
                </a:solidFill>
              </a:rPr>
              <a:t>Quem pediu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“Isso. Combinado.”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93776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Cinco segundos de confirmação evitam horas de retrabalho.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614476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Comunicação em ciclo fechado (check-back), usada na saúde e na aviação · Fonte: AHRQ, TeamSTEPPS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731520" y="5486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PARTE 2 · DEMONSTRAÇÃO</a:t>
            </a:r>
            <a:endParaRPr lang="en-US" sz="1200" dirty="0"/>
          </a:p>
        </p:txBody>
      </p:sp>
      <p:sp>
        <p:nvSpPr>
          <p:cNvPr id="3" name="Titulo demonstracao"/>
          <p:cNvSpPr txBox="1"/>
          <p:nvPr/>
        </p:nvSpPr>
        <p:spPr>
          <a:xfrm>
            <a:off x="731520" y="2606040"/>
            <a:ext cx="107286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FOCO E PRODUTIVIDADE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2044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A disciplina vence o caos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4360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UMA APRESENTAÇÃO DE 5 MINUTOS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731520" y="5486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O CENÁRIO</a:t>
            </a:r>
            <a:endParaRPr lang="en-US" sz="1200" dirty="0"/>
          </a:p>
        </p:txBody>
      </p:sp>
      <p:sp>
        <p:nvSpPr>
          <p:cNvPr id="3" name="47"/>
          <p:cNvSpPr txBox="1"/>
          <p:nvPr/>
        </p:nvSpPr>
        <p:spPr>
          <a:xfrm>
            <a:off x="731520" y="16002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47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17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segundos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2103120"/>
            <a:ext cx="75282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é o tempo médio que a nossa atenção fica numa tela antes de trocarmos de tarefa.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accent6"/>
                </a:solidFill>
              </a:rPr>
              <a:t>Em 2004, eram 2 minutos e meio.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5262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Quem está no controle do </a:t>
            </a:r>
            <a:pPr algn="l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seu turno</a:t>
            </a:r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?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14476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Fonte: Gloria Mark, Attention Span (2023) — pesquisa da Universidade da Califórnia, Irvine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731520" y="5486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O PROBLEMA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841248"/>
            <a:ext cx="10728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Os quatro arquitetos da distração</a:t>
            </a:r>
            <a:endParaRPr lang="en-US" sz="3600" dirty="0"/>
          </a:p>
        </p:txBody>
      </p:sp>
      <p:sp>
        <p:nvSpPr>
          <p:cNvPr id="4" name="Economia da atenção"/>
          <p:cNvSpPr/>
          <p:nvPr/>
        </p:nvSpPr>
        <p:spPr>
          <a:xfrm>
            <a:off x="731520" y="1783080"/>
            <a:ext cx="2476424" cy="2514600"/>
          </a:xfrm>
          <a:prstGeom prst="roundRect">
            <a:avLst>
              <a:gd name="adj" fmla="val 5169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6000"/>
              </a:schemeClr>
            </a:solidFill>
            <a:prstDash val="solid"/>
          </a:ln>
        </p:spPr>
      </p:sp>
      <p:pic>
        <p:nvPicPr>
          <p:cNvPr id="5" name="Image 0" descr="Economia da aten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2697480"/>
            <a:ext cx="1927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Economia da atenção</a:t>
            </a:r>
            <a:endParaRPr lang="en-US" sz="20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Aplicativos feitos para prender você.</a:t>
            </a:r>
            <a:endParaRPr lang="en-US" sz="2000" dirty="0"/>
          </a:p>
        </p:txBody>
      </p:sp>
      <p:sp>
        <p:nvSpPr>
          <p:cNvPr id="7" name="Cultura da interrupção"/>
          <p:cNvSpPr/>
          <p:nvPr/>
        </p:nvSpPr>
        <p:spPr>
          <a:xfrm>
            <a:off x="3482264" y="1783080"/>
            <a:ext cx="2476424" cy="2514600"/>
          </a:xfrm>
          <a:prstGeom prst="roundRect">
            <a:avLst>
              <a:gd name="adj" fmla="val 5169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6000"/>
              </a:schemeClr>
            </a:solidFill>
            <a:prstDash val="solid"/>
          </a:ln>
        </p:spPr>
      </p:sp>
      <p:pic>
        <p:nvPicPr>
          <p:cNvPr id="8" name="Image 1" descr="Cultura da interrupç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584" y="20574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756584" y="2697480"/>
            <a:ext cx="1927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Cultura da interrupção</a:t>
            </a:r>
            <a:endParaRPr lang="en-US" sz="20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 falsa urgência que quebra o foco.</a:t>
            </a:r>
            <a:endParaRPr lang="en-US" sz="2000" dirty="0"/>
          </a:p>
        </p:txBody>
      </p:sp>
      <p:sp>
        <p:nvSpPr>
          <p:cNvPr id="10" name="Resistência interna"/>
          <p:cNvSpPr/>
          <p:nvPr/>
        </p:nvSpPr>
        <p:spPr>
          <a:xfrm>
            <a:off x="6233008" y="1783080"/>
            <a:ext cx="2476424" cy="2514600"/>
          </a:xfrm>
          <a:prstGeom prst="roundRect">
            <a:avLst>
              <a:gd name="adj" fmla="val 5169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6000"/>
              </a:schemeClr>
            </a:solidFill>
            <a:prstDash val="solid"/>
          </a:ln>
        </p:spPr>
      </p:sp>
      <p:pic>
        <p:nvPicPr>
          <p:cNvPr id="11" name="Image 2" descr="Resistência intern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28" y="205740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507328" y="2697480"/>
            <a:ext cx="1927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Resistência interna</a:t>
            </a:r>
            <a:endParaRPr lang="en-US" sz="20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O conforto de adiar o que é difícil.</a:t>
            </a:r>
            <a:endParaRPr lang="en-US" sz="2000" dirty="0"/>
          </a:p>
        </p:txBody>
      </p:sp>
      <p:sp>
        <p:nvSpPr>
          <p:cNvPr id="13" name="Fadiga de decisão"/>
          <p:cNvSpPr/>
          <p:nvPr/>
        </p:nvSpPr>
        <p:spPr>
          <a:xfrm>
            <a:off x="8983751" y="1783080"/>
            <a:ext cx="2476424" cy="2514600"/>
          </a:xfrm>
          <a:prstGeom prst="roundRect">
            <a:avLst>
              <a:gd name="adj" fmla="val 5169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6000"/>
              </a:schemeClr>
            </a:solidFill>
            <a:prstDash val="solid"/>
          </a:ln>
        </p:spPr>
      </p:sp>
      <p:pic>
        <p:nvPicPr>
          <p:cNvPr id="14" name="Image 3" descr="Fadiga de decisã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071" y="205740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258071" y="2697480"/>
            <a:ext cx="1927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Fadiga de decisão</a:t>
            </a:r>
            <a:endParaRPr lang="en-US" sz="20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Opções demais, energia de menos.</a:t>
            </a:r>
            <a:endParaRPr lang="en-US" sz="2000" dirty="0"/>
          </a:p>
        </p:txBody>
      </p:sp>
      <p:sp>
        <p:nvSpPr>
          <p:cNvPr id="16" name="Text 10"/>
          <p:cNvSpPr txBox="1"/>
          <p:nvPr/>
        </p:nvSpPr>
        <p:spPr>
          <a:xfrm>
            <a:off x="731520" y="466344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Eles não vão embora. Como vencer </a:t>
            </a:r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sem superpoderes</a:t>
            </a:r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?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731520" y="5486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 INSPIRAÇÃO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841248"/>
            <a:ext cx="10728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Um herói sem superpoderes</a:t>
            </a:r>
            <a:endParaRPr lang="en-US" sz="3600" dirty="0"/>
          </a:p>
        </p:txBody>
      </p:sp>
      <p:sp>
        <p:nvSpPr>
          <p:cNvPr id="4" name="100% humano"/>
          <p:cNvSpPr/>
          <p:nvPr/>
        </p:nvSpPr>
        <p:spPr>
          <a:xfrm>
            <a:off x="731520" y="1783080"/>
            <a:ext cx="3393338" cy="1874520"/>
          </a:xfrm>
          <a:prstGeom prst="roundRect">
            <a:avLst>
              <a:gd name="adj" fmla="val 6829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6000"/>
              </a:schemeClr>
            </a:solidFill>
            <a:prstDash val="solid"/>
          </a:ln>
        </p:spPr>
      </p:sp>
      <p:pic>
        <p:nvPicPr>
          <p:cNvPr id="5" name="Image 0" descr="100% huma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2679192"/>
            <a:ext cx="2844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100% humano</a:t>
            </a:r>
            <a:endParaRPr lang="en-US" sz="20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Sem sorte e sem superpoderes.</a:t>
            </a:r>
            <a:endParaRPr lang="en-US" sz="2000" dirty="0"/>
          </a:p>
        </p:txBody>
      </p:sp>
      <p:sp>
        <p:nvSpPr>
          <p:cNvPr id="7" name="Preparo total"/>
          <p:cNvSpPr/>
          <p:nvPr/>
        </p:nvSpPr>
        <p:spPr>
          <a:xfrm>
            <a:off x="4399178" y="1783080"/>
            <a:ext cx="3393338" cy="1874520"/>
          </a:xfrm>
          <a:prstGeom prst="roundRect">
            <a:avLst>
              <a:gd name="adj" fmla="val 6829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6000"/>
              </a:schemeClr>
            </a:solidFill>
            <a:prstDash val="solid"/>
          </a:ln>
        </p:spPr>
      </p:sp>
      <p:pic>
        <p:nvPicPr>
          <p:cNvPr id="8" name="Image 1" descr="Preparo tot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498" y="20574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673498" y="2679192"/>
            <a:ext cx="2844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Preparo total</a:t>
            </a:r>
            <a:endParaRPr lang="en-US" sz="20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Vence porque sempre tem um plano.</a:t>
            </a:r>
            <a:endParaRPr lang="en-US" sz="2000" dirty="0"/>
          </a:p>
        </p:txBody>
      </p:sp>
      <p:sp>
        <p:nvSpPr>
          <p:cNvPr id="10" name="Controle mental"/>
          <p:cNvSpPr/>
          <p:nvPr/>
        </p:nvSpPr>
        <p:spPr>
          <a:xfrm>
            <a:off x="8066837" y="1783080"/>
            <a:ext cx="3393338" cy="1874520"/>
          </a:xfrm>
          <a:prstGeom prst="roundRect">
            <a:avLst>
              <a:gd name="adj" fmla="val 6829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6000"/>
              </a:schemeClr>
            </a:solidFill>
            <a:prstDash val="solid"/>
          </a:ln>
        </p:spPr>
      </p:sp>
      <p:pic>
        <p:nvPicPr>
          <p:cNvPr id="11" name="Image 2" descr="Controle ment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157" y="205740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341157" y="2679192"/>
            <a:ext cx="2844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Controle mental</a:t>
            </a:r>
            <a:endParaRPr lang="en-US" sz="20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Uma mente que não se distrai da missão.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731520" y="41148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</a:rPr>
              <a:t>Batman: a prova do que um ser humano com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accent2"/>
                </a:solidFill>
              </a:rPr>
              <a:t>disciplina</a:t>
            </a:r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</a:rPr>
              <a:t> e </a:t>
            </a:r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accent2"/>
                </a:solidFill>
              </a:rPr>
              <a:t>propósito</a:t>
            </a:r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</a:rPr>
              <a:t> consegue fazer.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731520" y="160020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tx1"/>
                </a:solidFill>
              </a:rPr>
              <a:t>A LIÇÃO CENTRAL</a:t>
            </a:r>
            <a:endParaRPr lang="en-US" sz="1200" dirty="0"/>
          </a:p>
        </p:txBody>
      </p:sp>
      <p:sp>
        <p:nvSpPr>
          <p:cNvPr id="3" name="Mensagem central"/>
          <p:cNvSpPr txBox="1"/>
          <p:nvPr/>
        </p:nvSpPr>
        <p:spPr>
          <a:xfrm>
            <a:off x="731520" y="1965960"/>
            <a:ext cx="107286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chemeClr val="tx1"/>
                </a:solidFill>
              </a:rPr>
              <a:t>A vitória não é um evento.</a:t>
            </a:r>
            <a:endParaRPr lang="en-US" sz="4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chemeClr val="tx1"/>
                </a:solidFill>
              </a:rPr>
              <a:t>É um sistema.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50208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Desenhe três coisas:</a:t>
            </a:r>
            <a:endParaRPr lang="en-US" sz="1400" dirty="0"/>
          </a:p>
        </p:txBody>
      </p:sp>
      <p:sp>
        <p:nvSpPr>
          <p:cNvPr id="5" name="Pilar Rotina"/>
          <p:cNvSpPr/>
          <p:nvPr/>
        </p:nvSpPr>
        <p:spPr>
          <a:xfrm>
            <a:off x="3108960" y="3950208"/>
            <a:ext cx="1417320" cy="512064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108960" y="3950208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Rotina</a:t>
            </a:r>
            <a:endParaRPr lang="en-US" sz="2000" dirty="0"/>
          </a:p>
        </p:txBody>
      </p:sp>
      <p:sp>
        <p:nvSpPr>
          <p:cNvPr id="7" name="Pilar Ambiente"/>
          <p:cNvSpPr/>
          <p:nvPr/>
        </p:nvSpPr>
        <p:spPr>
          <a:xfrm>
            <a:off x="4690872" y="3950208"/>
            <a:ext cx="1783080" cy="512064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90872" y="3950208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Ambiente</a:t>
            </a:r>
            <a:endParaRPr lang="en-US" sz="2000" dirty="0"/>
          </a:p>
        </p:txBody>
      </p:sp>
      <p:sp>
        <p:nvSpPr>
          <p:cNvPr id="9" name="Pilar Foco"/>
          <p:cNvSpPr/>
          <p:nvPr/>
        </p:nvSpPr>
        <p:spPr>
          <a:xfrm>
            <a:off x="6638544" y="3950208"/>
            <a:ext cx="1143000" cy="512064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38544" y="395020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Foco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80060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Motivação é um sentimento. Disciplina é um sistema.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731520" y="5486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O MÉTODO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841248"/>
            <a:ext cx="10728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Três ferramentas para proteger o foco</a:t>
            </a:r>
            <a:endParaRPr lang="en-US" sz="3600" dirty="0"/>
          </a:p>
        </p:txBody>
      </p:sp>
      <p:sp>
        <p:nvSpPr>
          <p:cNvPr id="4" name="Tarefa única"/>
          <p:cNvSpPr/>
          <p:nvPr/>
        </p:nvSpPr>
        <p:spPr>
          <a:xfrm>
            <a:off x="731520" y="1783080"/>
            <a:ext cx="3393338" cy="2697480"/>
          </a:xfrm>
          <a:prstGeom prst="roundRect">
            <a:avLst>
              <a:gd name="adj" fmla="val 4746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6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039112"/>
            <a:ext cx="284469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accent2"/>
                </a:solidFill>
              </a:rPr>
              <a:t>01</a:t>
            </a:r>
            <a:endParaRPr lang="en-US" sz="3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Tarefa única</a:t>
            </a:r>
            <a:endParaRPr lang="en-US" sz="32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Qual é a UMA tarefa que, feita hoje, faz o dia valer? Comece por ela.</a:t>
            </a:r>
            <a:endParaRPr lang="en-US" sz="3200" dirty="0"/>
          </a:p>
        </p:txBody>
      </p:sp>
      <p:sp>
        <p:nvSpPr>
          <p:cNvPr id="6" name="Blocos de foco"/>
          <p:cNvSpPr/>
          <p:nvPr/>
        </p:nvSpPr>
        <p:spPr>
          <a:xfrm>
            <a:off x="4399178" y="1783080"/>
            <a:ext cx="3393338" cy="2697480"/>
          </a:xfrm>
          <a:prstGeom prst="roundRect">
            <a:avLst>
              <a:gd name="adj" fmla="val 4746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6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73498" y="2039112"/>
            <a:ext cx="284469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accent2"/>
                </a:solidFill>
              </a:rPr>
              <a:t>02</a:t>
            </a:r>
            <a:endParaRPr lang="en-US" sz="3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Blocos de foco</a:t>
            </a:r>
            <a:endParaRPr lang="en-US" sz="32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25 minutos de foco total, 5 de pausa: a técnica Pomodoro.</a:t>
            </a:r>
            <a:endParaRPr lang="en-US" sz="3200" dirty="0"/>
          </a:p>
        </p:txBody>
      </p:sp>
      <p:sp>
        <p:nvSpPr>
          <p:cNvPr id="8" name="Barreiras"/>
          <p:cNvSpPr/>
          <p:nvPr/>
        </p:nvSpPr>
        <p:spPr>
          <a:xfrm>
            <a:off x="8066837" y="1783080"/>
            <a:ext cx="3393338" cy="2697480"/>
          </a:xfrm>
          <a:prstGeom prst="roundRect">
            <a:avLst>
              <a:gd name="adj" fmla="val 4746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6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41157" y="2039112"/>
            <a:ext cx="284469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accent2"/>
                </a:solidFill>
              </a:rPr>
              <a:t>03</a:t>
            </a:r>
            <a:endParaRPr lang="en-US" sz="3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Barreiras</a:t>
            </a:r>
            <a:endParaRPr lang="en-US" sz="32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De tempo, digitais e sociais: proteja a agenda, silencie notificações e saiba dizer “não”.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8463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Foco é ter a coragem de dizer </a:t>
            </a:r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“não”</a:t>
            </a:r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 para todo o resto.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731520" y="5486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 PROVA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841248"/>
            <a:ext cx="10728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1% ao dia, durante um ano</a:t>
            </a:r>
            <a:endParaRPr lang="en-US" sz="3600" dirty="0"/>
          </a:p>
        </p:txBody>
      </p:sp>
      <p:sp>
        <p:nvSpPr>
          <p:cNvPr id="4" name="1% MELHOR POR DIA"/>
          <p:cNvSpPr/>
          <p:nvPr/>
        </p:nvSpPr>
        <p:spPr>
          <a:xfrm>
            <a:off x="731520" y="1737360"/>
            <a:ext cx="5204308" cy="3017520"/>
          </a:xfrm>
          <a:prstGeom prst="roundRect">
            <a:avLst>
              <a:gd name="adj" fmla="val 4242"/>
            </a:avLst>
          </a:prstGeom>
          <a:solidFill>
            <a:schemeClr val="bg1">
              <a:alpha val="7000"/>
            </a:schemeClr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11680"/>
            <a:ext cx="447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1% MELHOR POR DIA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331720"/>
            <a:ext cx="44727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1,01</a:t>
            </a:r>
            <a:pPr algn="l" indent="0" marL="0">
              <a:buNone/>
            </a:pPr>
            <a:r>
              <a:rPr lang="en-US" sz="3200" b="1" baseline="30000" dirty="0">
                <a:solidFill>
                  <a:schemeClr val="bg1"/>
                </a:solidFill>
              </a:rPr>
              <a:t>365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880360"/>
            <a:ext cx="44727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37,8</a:t>
            </a:r>
            <a:endParaRPr lang="en-US" sz="8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206240"/>
            <a:ext cx="44727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quase 38 vezes melhor ao fim de um ano</a:t>
            </a:r>
            <a:endParaRPr lang="en-US" sz="1500" dirty="0"/>
          </a:p>
        </p:txBody>
      </p:sp>
      <p:sp>
        <p:nvSpPr>
          <p:cNvPr id="9" name="1% PIOR POR DIA"/>
          <p:cNvSpPr/>
          <p:nvPr/>
        </p:nvSpPr>
        <p:spPr>
          <a:xfrm>
            <a:off x="6255868" y="1737360"/>
            <a:ext cx="5204308" cy="3017520"/>
          </a:xfrm>
          <a:prstGeom prst="roundRect">
            <a:avLst>
              <a:gd name="adj" fmla="val 4242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6000"/>
              </a:scheme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1628" y="2011680"/>
            <a:ext cx="447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1% PIOR POR DIA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21628" y="2331720"/>
            <a:ext cx="44727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6"/>
                </a:solidFill>
              </a:rPr>
              <a:t>0,99</a:t>
            </a:r>
            <a:pPr algn="l" indent="0" marL="0">
              <a:buNone/>
            </a:pPr>
            <a:r>
              <a:rPr lang="en-US" sz="3200" b="1" baseline="30000" dirty="0">
                <a:solidFill>
                  <a:schemeClr val="accent6"/>
                </a:solidFill>
              </a:rPr>
              <a:t>365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621628" y="2880360"/>
            <a:ext cx="44727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6"/>
                </a:solidFill>
              </a:rPr>
              <a:t>0,03</a:t>
            </a:r>
            <a:endParaRPr lang="en-US" sz="8000" dirty="0"/>
          </a:p>
        </p:txBody>
      </p:sp>
      <p:sp>
        <p:nvSpPr>
          <p:cNvPr id="13" name="Text 11"/>
          <p:cNvSpPr txBox="1"/>
          <p:nvPr/>
        </p:nvSpPr>
        <p:spPr>
          <a:xfrm>
            <a:off x="6621628" y="4206240"/>
            <a:ext cx="44727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praticamente zero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02920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Ninguém vê o treino diário. O mundo só vê o resultado.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614476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 ideia do 1% ao dia foi popularizada por James Clear, em Hábitos Atômicos (2018)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731520" y="5486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 TRANSFORMAÇÃO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841248"/>
            <a:ext cx="10728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De reativo para intencional</a:t>
            </a:r>
            <a:endParaRPr lang="en-US" sz="3600" dirty="0"/>
          </a:p>
        </p:txBody>
      </p:sp>
      <p:sp>
        <p:nvSpPr>
          <p:cNvPr id="4" name="MODO REATIVO"/>
          <p:cNvSpPr/>
          <p:nvPr/>
        </p:nvSpPr>
        <p:spPr>
          <a:xfrm>
            <a:off x="731520" y="1783080"/>
            <a:ext cx="4952848" cy="3611880"/>
          </a:xfrm>
          <a:prstGeom prst="roundRect">
            <a:avLst>
              <a:gd name="adj" fmla="val 3544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6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148840"/>
            <a:ext cx="412988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MODO REATIVO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Quem manda</a:t>
            </a:r>
            <a:endParaRPr lang="en-US" sz="1200" dirty="0"/>
          </a:p>
          <a:p>
            <a:pPr algn="l"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accent6"/>
                </a:solidFill>
              </a:rPr>
              <a:t>As urgências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Como trabalha</a:t>
            </a:r>
            <a:endParaRPr lang="en-US" sz="1200" dirty="0"/>
          </a:p>
          <a:p>
            <a:pPr algn="l"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accent6"/>
                </a:solidFill>
              </a:rPr>
              <a:t>Apagando incêndios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No fim do turno</a:t>
            </a:r>
            <a:endParaRPr lang="en-US" sz="1200" dirty="0"/>
          </a:p>
          <a:p>
            <a:pPr algn="l"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accent6"/>
                </a:solidFill>
              </a:rPr>
              <a:t>Exausto e sem progresso</a:t>
            </a:r>
            <a:endParaRPr lang="en-US" sz="1200" dirty="0"/>
          </a:p>
        </p:txBody>
      </p:sp>
      <p:sp>
        <p:nvSpPr>
          <p:cNvPr id="6" name="MODO INTENCIONAL"/>
          <p:cNvSpPr/>
          <p:nvPr/>
        </p:nvSpPr>
        <p:spPr>
          <a:xfrm>
            <a:off x="6507328" y="1783080"/>
            <a:ext cx="4952848" cy="3611880"/>
          </a:xfrm>
          <a:prstGeom prst="roundRect">
            <a:avLst>
              <a:gd name="adj" fmla="val 3544"/>
            </a:avLst>
          </a:prstGeom>
          <a:solidFill>
            <a:schemeClr val="bg1">
              <a:alpha val="7000"/>
            </a:schemeClr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18808" y="2148840"/>
            <a:ext cx="412988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MODO INTENCIONAL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Quem manda</a:t>
            </a:r>
            <a:endParaRPr lang="en-US" sz="1200" dirty="0"/>
          </a:p>
          <a:p>
            <a:pPr algn="l"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Você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Como trabalha</a:t>
            </a:r>
            <a:endParaRPr lang="en-US" sz="1200" dirty="0"/>
          </a:p>
          <a:p>
            <a:pPr algn="l"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O que importa, primeiro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No fim do turno</a:t>
            </a:r>
            <a:endParaRPr lang="en-US" sz="1200" dirty="0"/>
          </a:p>
          <a:p>
            <a:pPr algn="l"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Missão cumprida</a:t>
            </a:r>
            <a:endParaRPr lang="en-US" sz="1200" dirty="0"/>
          </a:p>
        </p:txBody>
      </p:sp>
      <p:sp>
        <p:nvSpPr>
          <p:cNvPr id="8" name="Seta"/>
          <p:cNvSpPr/>
          <p:nvPr/>
        </p:nvSpPr>
        <p:spPr>
          <a:xfrm>
            <a:off x="5821528" y="3589020"/>
            <a:ext cx="54864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731520" y="5486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PLANO DE 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841248"/>
            <a:ext cx="10728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Três movimentos para amanhã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10728655" cy="0"/>
          </a:xfrm>
          <a:prstGeom prst="line">
            <a:avLst/>
          </a:prstGeom>
          <a:noFill/>
          <a:ln w="12700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488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2148840"/>
            <a:ext cx="9494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Auditoria de ruído</a:t>
            </a:r>
            <a:endParaRPr lang="en-US" sz="20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Desligue as notificações que não vêm de pessoas.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0728655" cy="0"/>
          </a:xfrm>
          <a:prstGeom prst="line">
            <a:avLst/>
          </a:prstGeom>
          <a:noFill/>
          <a:ln w="12700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4747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3474720"/>
            <a:ext cx="9494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Hora de poder</a:t>
            </a:r>
            <a:endParaRPr lang="en-US" sz="20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Reserve a primeira hora do dia para a sua tarefa única, sem interrupções.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4526280"/>
            <a:ext cx="10728655" cy="0"/>
          </a:xfrm>
          <a:prstGeom prst="line">
            <a:avLst/>
          </a:prstGeom>
          <a:noFill/>
          <a:ln w="12700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8006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03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4800600"/>
            <a:ext cx="9494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Plano da noite</a:t>
            </a:r>
            <a:endParaRPr lang="en-US" sz="20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Defina hoje à noite a prioridade de amanhã.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5852160"/>
            <a:ext cx="10728655" cy="0"/>
          </a:xfrm>
          <a:prstGeom prst="line">
            <a:avLst/>
          </a:prstGeom>
          <a:noFill/>
          <a:ln w="12700">
            <a:solidFill>
              <a:schemeClr val="bg1">
                <a:alpha val="20000"/>
              </a:schemeClr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Quem está no controle do seu turno?</a:t>
            </a:r>
            <a:endParaRPr lang="en-US" sz="2000" dirty="0"/>
          </a:p>
        </p:txBody>
      </p:sp>
      <p:sp>
        <p:nvSpPr>
          <p:cNvPr id="3" name="Fecho"/>
          <p:cNvSpPr txBox="1"/>
          <p:nvPr/>
        </p:nvSpPr>
        <p:spPr>
          <a:xfrm>
            <a:off x="731520" y="2926080"/>
            <a:ext cx="107286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chemeClr val="bg1"/>
                </a:solidFill>
              </a:rPr>
              <a:t>Assuma o controle.</a:t>
            </a:r>
            <a:endParaRPr lang="en-US" sz="4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chemeClr val="accent2"/>
                </a:solidFill>
              </a:rPr>
              <a:t>Construa seu sistema.</a:t>
            </a:r>
            <a:endParaRPr lang="en-US" sz="4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731520" y="5486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RAIO-X DA DEMONSTRAÇÃO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841248"/>
            <a:ext cx="10728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estrutura que vocês viram</a:t>
            </a:r>
            <a:endParaRPr lang="en-US" sz="3600" dirty="0"/>
          </a:p>
        </p:txBody>
      </p:sp>
      <p:sp>
        <p:nvSpPr>
          <p:cNvPr id="4" name="Tecnica 01"/>
          <p:cNvSpPr/>
          <p:nvPr/>
        </p:nvSpPr>
        <p:spPr>
          <a:xfrm>
            <a:off x="731520" y="1737360"/>
            <a:ext cx="3423818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chemeClr val="accent5">
                <a:alpha val="22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01  </a:t>
            </a:r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Gancho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Um dado-surpresa e uma pergunta: “47 segundos”</a:t>
            </a:r>
            <a:endParaRPr lang="en-US" sz="1800" dirty="0"/>
          </a:p>
        </p:txBody>
      </p:sp>
      <p:sp>
        <p:nvSpPr>
          <p:cNvPr id="6" name="Tecnica 02"/>
          <p:cNvSpPr/>
          <p:nvPr/>
        </p:nvSpPr>
        <p:spPr>
          <a:xfrm>
            <a:off x="4383938" y="1737360"/>
            <a:ext cx="3423818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chemeClr val="accent5">
                <a:alpha val="22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2538" y="192024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02  </a:t>
            </a:r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Problema com nome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“Os quatro arquitetos da distração”</a:t>
            </a:r>
            <a:endParaRPr lang="en-US" sz="1800" dirty="0"/>
          </a:p>
        </p:txBody>
      </p:sp>
      <p:sp>
        <p:nvSpPr>
          <p:cNvPr id="8" name="Tecnica 03"/>
          <p:cNvSpPr/>
          <p:nvPr/>
        </p:nvSpPr>
        <p:spPr>
          <a:xfrm>
            <a:off x="8036357" y="1737360"/>
            <a:ext cx="3423818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chemeClr val="accent5">
                <a:alpha val="22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64957" y="192024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03  </a:t>
            </a:r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História conhecida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Um herói sem superpoderes</a:t>
            </a:r>
            <a:endParaRPr lang="en-US" sz="1800" dirty="0"/>
          </a:p>
        </p:txBody>
      </p:sp>
      <p:sp>
        <p:nvSpPr>
          <p:cNvPr id="10" name="Tecnica 04"/>
          <p:cNvSpPr/>
          <p:nvPr/>
        </p:nvSpPr>
        <p:spPr>
          <a:xfrm>
            <a:off x="731520" y="3246120"/>
            <a:ext cx="3423818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chemeClr val="accent5">
                <a:alpha val="22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42900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04  </a:t>
            </a:r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Mensagem central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Em uma frase: “A vitória não é um evento. É um sistema.”</a:t>
            </a:r>
            <a:endParaRPr lang="en-US" sz="1800" dirty="0"/>
          </a:p>
        </p:txBody>
      </p:sp>
      <p:sp>
        <p:nvSpPr>
          <p:cNvPr id="12" name="Tecnica 05"/>
          <p:cNvSpPr/>
          <p:nvPr/>
        </p:nvSpPr>
        <p:spPr>
          <a:xfrm>
            <a:off x="4383938" y="3246120"/>
            <a:ext cx="3423818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chemeClr val="accent5">
                <a:alpha val="22000"/>
              </a:scheme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2538" y="342900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05  </a:t>
            </a:r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Regra de três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Três pilares, três ferramentas, três movimentos</a:t>
            </a:r>
            <a:endParaRPr lang="en-US" sz="1800" dirty="0"/>
          </a:p>
        </p:txBody>
      </p:sp>
      <p:sp>
        <p:nvSpPr>
          <p:cNvPr id="14" name="Tecnica 06"/>
          <p:cNvSpPr/>
          <p:nvPr/>
        </p:nvSpPr>
        <p:spPr>
          <a:xfrm>
            <a:off x="8036357" y="3246120"/>
            <a:ext cx="3423818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chemeClr val="accent5">
                <a:alpha val="22000"/>
              </a:scheme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64957" y="342900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06  </a:t>
            </a:r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Prova com fonte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 1% ao dia e a pesquisa de Gloria Mark</a:t>
            </a:r>
            <a:endParaRPr lang="en-US" sz="1800" dirty="0"/>
          </a:p>
        </p:txBody>
      </p:sp>
      <p:sp>
        <p:nvSpPr>
          <p:cNvPr id="16" name="Tecnica 07"/>
          <p:cNvSpPr/>
          <p:nvPr/>
        </p:nvSpPr>
        <p:spPr>
          <a:xfrm>
            <a:off x="731520" y="4754880"/>
            <a:ext cx="3423818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chemeClr val="accent5">
                <a:alpha val="22000"/>
              </a:scheme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93776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07  </a:t>
            </a:r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Contraste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Modo reativo × modo intencional</a:t>
            </a:r>
            <a:endParaRPr lang="en-US" sz="1800" dirty="0"/>
          </a:p>
        </p:txBody>
      </p:sp>
      <p:sp>
        <p:nvSpPr>
          <p:cNvPr id="18" name="Tecnica 08"/>
          <p:cNvSpPr/>
          <p:nvPr/>
        </p:nvSpPr>
        <p:spPr>
          <a:xfrm>
            <a:off x="4383938" y="4754880"/>
            <a:ext cx="3423818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chemeClr val="accent5">
                <a:alpha val="22000"/>
              </a:scheme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12538" y="493776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08  </a:t>
            </a:r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Chamada para ação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Três movimentos, com prazo: amanhã</a:t>
            </a:r>
            <a:endParaRPr lang="en-US" sz="1800" dirty="0"/>
          </a:p>
        </p:txBody>
      </p:sp>
      <p:sp>
        <p:nvSpPr>
          <p:cNvPr id="20" name="Tecnica 09"/>
          <p:cNvSpPr/>
          <p:nvPr/>
        </p:nvSpPr>
        <p:spPr>
          <a:xfrm>
            <a:off x="8036357" y="4754880"/>
            <a:ext cx="3423818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chemeClr val="accent5">
                <a:alpha val="22000"/>
              </a:scheme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64957" y="493776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09  </a:t>
            </a:r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Fechamento em círculo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 volta à pergunta do início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ulo"/>
          <p:cNvSpPr txBox="1"/>
          <p:nvPr/>
        </p:nvSpPr>
        <p:spPr>
          <a:xfrm>
            <a:off x="731520" y="5486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RAIO-X DA DEMONSTRAÇÃO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841248"/>
            <a:ext cx="10728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entrega: como foi dito</a:t>
            </a:r>
            <a:endParaRPr lang="en-US" sz="3600" dirty="0"/>
          </a:p>
        </p:txBody>
      </p:sp>
      <p:sp>
        <p:nvSpPr>
          <p:cNvPr id="4" name="Linguagem do público"/>
          <p:cNvSpPr/>
          <p:nvPr/>
        </p:nvSpPr>
        <p:spPr>
          <a:xfrm>
            <a:off x="731520" y="1783080"/>
            <a:ext cx="1962851" cy="2331720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9525">
            <a:solidFill>
              <a:schemeClr val="accent5">
                <a:alpha val="22000"/>
              </a:schemeClr>
            </a:solidFill>
            <a:prstDash val="solid"/>
          </a:ln>
        </p:spPr>
      </p:sp>
      <p:pic>
        <p:nvPicPr>
          <p:cNvPr id="5" name="Image 0" descr="Linguagem do públi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2560320"/>
            <a:ext cx="155137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Linguagem do público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“Turno”, não “dia”: a realidade de quem ouve.</a:t>
            </a:r>
            <a:endParaRPr lang="en-US" sz="1800" dirty="0"/>
          </a:p>
        </p:txBody>
      </p:sp>
      <p:sp>
        <p:nvSpPr>
          <p:cNvPr id="7" name="Pausa"/>
          <p:cNvSpPr/>
          <p:nvPr/>
        </p:nvSpPr>
        <p:spPr>
          <a:xfrm>
            <a:off x="2922971" y="1783080"/>
            <a:ext cx="1962851" cy="2331720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9525">
            <a:solidFill>
              <a:schemeClr val="accent5">
                <a:alpha val="22000"/>
              </a:schemeClr>
            </a:solidFill>
            <a:prstDash val="solid"/>
          </a:ln>
        </p:spPr>
      </p:sp>
      <p:pic>
        <p:nvPicPr>
          <p:cNvPr id="8" name="Image 1" descr="Paus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571" y="201168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151571" y="2560320"/>
            <a:ext cx="155137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Pausa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Silêncio antes e depois do que importa.</a:t>
            </a:r>
            <a:endParaRPr lang="en-US" sz="1800" dirty="0"/>
          </a:p>
        </p:txBody>
      </p:sp>
      <p:sp>
        <p:nvSpPr>
          <p:cNvPr id="10" name="Olhar"/>
          <p:cNvSpPr/>
          <p:nvPr/>
        </p:nvSpPr>
        <p:spPr>
          <a:xfrm>
            <a:off x="5114422" y="1783080"/>
            <a:ext cx="1962851" cy="2331720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9525">
            <a:solidFill>
              <a:schemeClr val="accent5">
                <a:alpha val="22000"/>
              </a:schemeClr>
            </a:solidFill>
            <a:prstDash val="solid"/>
          </a:ln>
        </p:spPr>
      </p:sp>
      <p:pic>
        <p:nvPicPr>
          <p:cNvPr id="11" name="Image 2" descr="Olh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022" y="201168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43022" y="2560320"/>
            <a:ext cx="155137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Olhar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Nas pessoas, não na tela.</a:t>
            </a:r>
            <a:endParaRPr lang="en-US" sz="1800" dirty="0"/>
          </a:p>
        </p:txBody>
      </p:sp>
      <p:sp>
        <p:nvSpPr>
          <p:cNvPr id="13" name="Voz"/>
          <p:cNvSpPr/>
          <p:nvPr/>
        </p:nvSpPr>
        <p:spPr>
          <a:xfrm>
            <a:off x="7305873" y="1783080"/>
            <a:ext cx="1962851" cy="2331720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9525">
            <a:solidFill>
              <a:schemeClr val="accent5">
                <a:alpha val="22000"/>
              </a:schemeClr>
            </a:solidFill>
            <a:prstDash val="solid"/>
          </a:ln>
        </p:spPr>
      </p:sp>
      <p:pic>
        <p:nvPicPr>
          <p:cNvPr id="14" name="Image 3" descr="Voz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473" y="201168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534473" y="2560320"/>
            <a:ext cx="155137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Voz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Ritmo que varia e firmeza na conclusão.</a:t>
            </a:r>
            <a:endParaRPr lang="en-US" sz="1800" dirty="0"/>
          </a:p>
        </p:txBody>
      </p:sp>
      <p:sp>
        <p:nvSpPr>
          <p:cNvPr id="16" name="Um slide, uma ideia"/>
          <p:cNvSpPr/>
          <p:nvPr/>
        </p:nvSpPr>
        <p:spPr>
          <a:xfrm>
            <a:off x="9497324" y="1783080"/>
            <a:ext cx="1962851" cy="2331720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9525">
            <a:solidFill>
              <a:schemeClr val="accent5">
                <a:alpha val="22000"/>
              </a:schemeClr>
            </a:solidFill>
            <a:prstDash val="solid"/>
          </a:ln>
        </p:spPr>
      </p:sp>
      <p:pic>
        <p:nvPicPr>
          <p:cNvPr id="17" name="Image 4" descr="Um slide, uma idei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5924" y="2011680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725924" y="2560320"/>
            <a:ext cx="155137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Um slide, uma ideia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Pouco texto: a tela apoia a fala.</a:t>
            </a:r>
            <a:endParaRPr lang="en-US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731520" y="461772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 slide apoia. Quem comunica é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você</a:t>
            </a:r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.</a:t>
            </a:r>
            <a:endParaRPr 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verde"/>
          <p:cNvSpPr/>
          <p:nvPr/>
        </p:nvSpPr>
        <p:spPr>
          <a:xfrm>
            <a:off x="731520" y="589788"/>
            <a:ext cx="457200" cy="68580"/>
          </a:xfrm>
          <a:prstGeom prst="roundRect">
            <a:avLst>
              <a:gd name="adj" fmla="val 4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Marca amarela"/>
          <p:cNvSpPr/>
          <p:nvPr/>
        </p:nvSpPr>
        <p:spPr>
          <a:xfrm>
            <a:off x="731520" y="704088"/>
            <a:ext cx="457200" cy="68580"/>
          </a:xfrm>
          <a:prstGeom prst="roundRect">
            <a:avLst>
              <a:gd name="adj" fmla="val 4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Rotulo"/>
          <p:cNvSpPr txBox="1"/>
          <p:nvPr/>
        </p:nvSpPr>
        <p:spPr>
          <a:xfrm>
            <a:off x="13716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PARA LEVAR PARA A OPERAÇÃO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868680"/>
            <a:ext cx="107286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Comunicar é tornar comum</a:t>
            </a:r>
            <a:endParaRPr lang="en-US" sz="4800" dirty="0"/>
          </a:p>
        </p:txBody>
      </p:sp>
      <p:sp>
        <p:nvSpPr>
          <p:cNvPr id="6" name="Clareza antes da pressa"/>
          <p:cNvSpPr/>
          <p:nvPr/>
        </p:nvSpPr>
        <p:spPr>
          <a:xfrm>
            <a:off x="731520" y="2103120"/>
            <a:ext cx="3393338" cy="2011680"/>
          </a:xfrm>
          <a:prstGeom prst="roundRect">
            <a:avLst>
              <a:gd name="adj" fmla="val 6364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359152"/>
            <a:ext cx="28446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01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Clareza antes da pressa</a:t>
            </a:r>
            <a:endParaRPr lang="en-US" sz="12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O quê, quem, onde e até quando.</a:t>
            </a:r>
            <a:endParaRPr lang="en-US" sz="1200" dirty="0"/>
          </a:p>
        </p:txBody>
      </p:sp>
      <p:sp>
        <p:nvSpPr>
          <p:cNvPr id="8" name="Feche o ciclo"/>
          <p:cNvSpPr/>
          <p:nvPr/>
        </p:nvSpPr>
        <p:spPr>
          <a:xfrm>
            <a:off x="4399178" y="2103120"/>
            <a:ext cx="3393338" cy="2011680"/>
          </a:xfrm>
          <a:prstGeom prst="roundRect">
            <a:avLst>
              <a:gd name="adj" fmla="val 6364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73498" y="2359152"/>
            <a:ext cx="28446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02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Feche o ciclo</a:t>
            </a:r>
            <a:endParaRPr lang="en-US" sz="12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Fala, repete, confirma.</a:t>
            </a:r>
            <a:endParaRPr lang="en-US" sz="1200" dirty="0"/>
          </a:p>
        </p:txBody>
      </p:sp>
      <p:sp>
        <p:nvSpPr>
          <p:cNvPr id="10" name="Ao apresentar"/>
          <p:cNvSpPr/>
          <p:nvPr/>
        </p:nvSpPr>
        <p:spPr>
          <a:xfrm>
            <a:off x="8066837" y="2103120"/>
            <a:ext cx="3393338" cy="2011680"/>
          </a:xfrm>
          <a:prstGeom prst="roundRect">
            <a:avLst>
              <a:gd name="adj" fmla="val 6364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41157" y="2359152"/>
            <a:ext cx="28446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Ao apresentar</a:t>
            </a:r>
            <a:endParaRPr lang="en-US" sz="12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Um gancho, uma mensagem, três apoios, uma ação.</a:t>
            </a:r>
            <a:endParaRPr lang="en-US" sz="1200" dirty="0"/>
          </a:p>
        </p:txBody>
      </p:sp>
      <p:sp>
        <p:nvSpPr>
          <p:cNvPr id="12" name="Obrigado"/>
          <p:cNvSpPr txBox="1"/>
          <p:nvPr/>
        </p:nvSpPr>
        <p:spPr>
          <a:xfrm>
            <a:off x="731520" y="50749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Obrigado</a:t>
            </a:r>
            <a:endParaRPr lang="en-US" sz="3600" dirty="0"/>
          </a:p>
        </p:txBody>
      </p:sp>
      <p:sp>
        <p:nvSpPr>
          <p:cNvPr id="13" name="Apresentador"/>
          <p:cNvSpPr txBox="1"/>
          <p:nvPr/>
        </p:nvSpPr>
        <p:spPr>
          <a:xfrm>
            <a:off x="6888175" y="51389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Hércules</a:t>
            </a:r>
            <a:endParaRPr lang="en-US" sz="1800" dirty="0"/>
          </a:p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Administrador de Sistemas · Bartofil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rtofil Comunicacao">
  <a:themeElements>
    <a:clrScheme name="Bartofil Comunicacao">
      <a:dk1>
        <a:srgbClr val="0B1A33"/>
      </a:dk1>
      <a:lt1>
        <a:srgbClr val="FCFDFE"/>
      </a:lt1>
      <a:dk2>
        <a:srgbClr val="0F3B82"/>
      </a:dk2>
      <a:lt2>
        <a:srgbClr val="F3F6FA"/>
      </a:lt2>
      <a:accent1>
        <a:srgbClr val="1A55C4"/>
      </a:accent1>
      <a:accent2>
        <a:srgbClr val="FFC72C"/>
      </a:accent2>
      <a:accent3>
        <a:srgbClr val="1F9D57"/>
      </a:accent3>
      <a:accent4>
        <a:srgbClr val="0B1324"/>
      </a:accent4>
      <a:accent5>
        <a:srgbClr val="45526A"/>
      </a:accent5>
      <a:accent6>
        <a:srgbClr val="B5C1D6"/>
      </a:accent6>
      <a:hlink>
        <a:srgbClr val="1A55C4"/>
      </a:hlink>
      <a:folHlink>
        <a:srgbClr val="45526A"/>
      </a:folHlink>
    </a:clrScheme>
    <a:fontScheme name="Bartofil Comunicaca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Bartofil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Comunicação que gera resultado</dc:title>
  <dc:subject>Treinamento de comunicação — Bartofil</dc:subject>
  <dc:creator>Hércules</dc:creator>
  <cp:lastModifiedBy>Hércules</cp:lastModifiedBy>
  <cp:revision>1</cp:revision>
  <dcterms:created xsi:type="dcterms:W3CDTF">2026-10-06T09:31:04Z</dcterms:created>
  <dcterms:modified xsi:type="dcterms:W3CDTF">2026-10-06T09:31:04Z</dcterms:modified>
</cp:coreProperties>
</file>