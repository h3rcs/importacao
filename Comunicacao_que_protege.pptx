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97d8ae4-7895-915e-2251-f5db91505b52}">
          <p14:sldIdLst>
            <p14:sldId id="256"/>
            <p14:sldId id="257"/>
          </p14:sldIdLst>
        </p14:section>
        <p14:section name="Parte 1 · Procedimentos" id="{94b6f983-bab4-212c-8a72-c234ca7fdcaa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Parte 2 · Comunicação e feedback" id="{82509a9b-ee20-35d3-6404-ad11e83f08e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arte 3 · Dinâmica" id="{04467cee-8241-e176-7480-f36972c278f8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Fechamento" id="{da87e7b8-6747-a23b-f246-edcd24b0ffa9}">
          <p14:sldIdLst>
            <p14:sldId id="297"/>
            <p14:sldId id="298"/>
          </p14:sldIdLst>
        </p14:section>
        <p14:section name="Apêndice (oculto)" id="{75458eea-3beb-42bd-0693-495aebe03f3c}">
          <p14:sldIdLst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0:30 · acumulado 0:30
[Entre, pare no centro e olhe para a sala antes de falar.]
Bom dia a todos. Eu sou o Hércules.
Hoje a conversa é com quem segura o turno na mão: vocês, líderes e encarregados.
O tema é comunicação — mas não a comunicação de livro. É a comunicação que protege gente: na saída de um colaborador, na entrega de um EPI, no DDS, no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1:00 · acumulado 1:30
Vamos em três partes, cerca de cinquenta minutos.
Na primeira, os procedimentos que protegem: comunicação não violenta, saída de colaboradores e o registro no livro, EPI, entrega de medicamentos, DDS com lista de presença e o blue spot.
Na segunda, comunicação e feedback — e uma conversa franca sobre por que o DDS não está acontecendo.
Na terceira, uma dinâmica: vocês vão sentir na prática a diferença entre falar e se comunicar. [Você escolhe na hora entre quatro opções, de 7 a 15 minutos.]
Peço só uma coisa: participem. Este treinamento é para o nosso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0:20 · acumulado 1:50
Primeira parte: procedimentos que protegem.
Repare que cada um deles depende de uma coisa só para funcionar: o líder comunicar bem.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acumulado 3:20
Começo pela base de tudo: a CNV, comunicação não violenta.
CNV não é falar baixinho nem passar a mão na cabeça. É ser firme sem ser agressivo: falar do fato e da necessidade, e não atacar a pessoa.
Por que isso importa para o líder? Porque corrige sem humilhar, reduz conflito e retrabalho e aumenta a confiança da equipe em quem lidera.
E tem um motivo a mais, bem atual: desde 26 de maio de 2026, a fiscalização da NR-1 cobra que as empresas façam a gestão dos riscos psicossociais. O jeito como o líder fala com a equipe faz parte desse ambiente de trabalho.
O método foi criado pelo psicólogo Marshall Rosenberg e tem quatro passos. Vamos a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2:00 · acumulado 5:20
[clique] Passo 1 — observação. Eu digo o que vi, sem julgar. "Hoje, às 10h, vi que…" é diferente de "você é descuidado".
[clique] Passo 2 — sentimento. Eu digo como aquilo me afeta: "fico preocupado". Isso humaniza a conversa.
[clique] Passo 3 — necessidade. O que está em jogo: "porque preciso que todo mundo volte para casa inteiro".
[clique] Passo 4 — pedido. Uma ação clara, possível e com prazo: "você pode colocar a luva agora?". Pedido não é ameaça.
Juntando os quatro, a cobrança continua firme — só que respeitosa. Vamos ver um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acumulado 6:50
Olhem a primeira frase, do lado esquerdo. Quem aqui já ouviu — ou já falou — algo parecido?
[pausa]
Ela rotula a pessoa ("você nunca"), ameaça e faz o colaborador se defender. Ele vai colocar a luva enquanto você estiver olhando.
[clique] Agora a mesma cobrança com CNV: observação, sentimento, necessidade e pedido. Leiam comigo.
[clique] E atenção: CNV não tira a firmeza. Se o comportamento se repetir, a medida disciplinar acontece — só que com respeito.
Pergunta rápida para o grupo: qual das duas versões vocês acham que muda o comportamento de verdade?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2:00 · acumulado 8:50
Segundo tema: saída de colaboradores durante o turno — por mal-estar, acidente ou motivo pessoal.
O caminho certo tem seis etapas:
1. O colaborador avisa o líder.
2. O líder aciona o BC de plantão — em caso de saúde ou acidente, o bombeiro civil é acionado sempre.
3. O BC avalia, faz o primeiro atendimento e decide o encaminhamento.
4. A saída é registrada no livro antes de a pessoa sair.
5. Encaminhamento: casa, UPA ou hospital — e, se a pessoa não estiver bem, ela não sai sozinha.
6. RH e SESMT ficam sabendo. Se foi acidente, a CAT precisa ser aberta.
A regra de ouro está aqui embaixo: nunca libere "de boca". Sem BC e sem livro, essa saída não aconteceu oficialmente — e quem fica exposto é o colaborador, o líder e 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1:40 · acumulado 10:30
"O que não está no livro, não aconteceu." Essa frase vale para auditoria, para fiscalização e para processo trabalhista.
O registro precisa ter: data e hora, nome e matrícula, setor e turno, o motivo, quem atendeu e o que foi feito, quem autorizou, o encaminhamento e as assinaturas do líder e do BC.
Atenção especial ao acidente de trabalho: pela Lei 8.213, artigo 22, a empresa deve comunicar o acidente à Previdência — a CAT — até o primeiro dia útil seguinte; em caso de morte, imediatamente. Por isso o RH e o SESMT precisam saber no mesmo turno.
E por que tanto cuidado? Porque o registro protege o colaborador, protege vocês e a empresa — e permite investigar a causa para não repetir.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1:50 · acumulado 12:20
Terceiro tema: EPI.
Os EPIs de cada função seguem a avaliação de riscos — capacete, óculos, protetor auricular, luvas, calçado, colete, conforme o caso.
A NR-6 é clara sobre as obrigações. A empresa — e quem representa a empresa no turno é o líder — deve: fornecer de graça o EPI adequado ao risco, orientar e treinar, registrar a entrega na ficha, no livro ou no sistema, exigir o uso e substituir quando danificar ou sumir.
O colaborador também tem deveres: usar o EPI, usar só para a finalidade, guardar e conservar, avisar quando danificar ou perder e cumprir as orientações.
E um alerta prático: EPI entregue sem assinatura na ficha é EPI que, no papel, nunca foi entregue.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1:40 · acumulado 14:00
Entregar é metade do trabalho. A outra metade é fiscalizar — e fiscalizar é rotina, não perseguição.
Três momentos para olhar: no início do turno, durante o DDS; durante a operação, com rondas nos pontos de maior risco; e na troca de atividade, porque tarefa nova pode exigir EPI diferente.
[clique] Viu alguém sem EPI? Aja na hora: pare a atividade com respeito — usando a CNV —, corrija e oriente, registre a orientação e, se houver reincidência, aplique a medida disciplinar.
[clique] Isso tem base legal: pela CLT, artigo 158, a recusa injustificada ao uso do EPI é ato faltoso do empregado.
[clique] E guardem esta frase: quem vê e não corrige, autoriza.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1:50 · acumulado 15:50
Quarto tema: entrega de medicamentos. Aqui o cuidado é redobrado, porque um remédio errado pode causar uma reação grave.
As regras:
— Quem entrega é o BC de plantão, ou quem o SESMT definir.
— Antes, perguntar sobre alergias e outros remédios que a pessoa está tomando.
— Registrar sempre: nome, matrícula, horário, queixa, remédio e dose.
— Queixa que se repete ou sintoma forte não se resolve com "mais um comprimido": encaminha para atendimento médico.
E o que não fazer:
— O líder não entrega remédio por conta própria, nem aquele "da bolsa", por melhor que seja a intenção.
— Nada de remédio controlado ou que exige receita.
Em caso de dúvida, sigam sempre o procedimento do SESMT e do médico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1:50 · acumulado 17:40
Quinto tema: DDS — Diálogo Diário de Segurança. É uma conversa curta, no início do turno, sobre um risco real da nossa operação.
Dez minutos bem usados, neste roteiro: 1 minuto de abertura e presença; 3 minutos para o tema do dia; 2 para um exemplo real do CD; 2 para perguntas da equipe; e 2 para fechar com um compromisso do dia.
E o registro: lista de presença com data, turno, horário, tema, quem conduziu e, de cada participante, nome, matrícula e assinatura. Tem um modelo pronto no apêndice desta apresentação.
Por que a lista importa? A NR-1 exige que a empresa informe os trabalhadores sobre os riscos e as medidas de prevenção. A lista de presença é a prova de que isso aconteceu. DDS sem lista, no papel, não existiu.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1:20 · acumulado 19:00
Sexto tema: o blue spot, nas transpaleteiras e nos jets.
É uma luz que projeta um ponto azul no piso, de três a seis metros à frente ou atrás da máquina.
[A luz "acende" na imagem automaticamente.]
Por que ela funciona? Porque no barulho do CD o pedestre nem sempre ouve a máquina — mas ele vê a luz no chão antes. E a luz mostra a direção de onde a máquina vem, o que é essencial nos equipamentos elétricos, que são silenciosos.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1:40 · acumulado 20:40
O blue spot só funciona se todo mundo fizer a sua parte.
Operador: confere o blue spot no checklist pré-uso, nunca desliga nem desvia a luz, avisa o líder na hora se houver defeito e reduz e buzina nos cruzamentos.
Pedestre: viu a luz azul, para, olha e espera; faz contato visual com o operador; nunca atravessa na frente da máquina; e usa sempre a faixa.
Líder: cobra o checklist no início do turno, tira de uso o equipamento com defeito conforme a nossa regra interna, reforça o tema no DDS e dá o exemplo na faixa.
Resumo para a equipe: luz azul no chão é máquina chegando. Todo mundo para.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0:20 · acumulado 21:00
Segunda parte: comunicação e feedback.
Tudo o que vimos até agora — CNV, livro, EPI, DDS — depende de uma coisa: a mensagem chegar do jeito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1:10 · acumulado 22:10
A palavra comunicar vem do latim communicare: partilhar, tornar comum. Comunicar não é só falar; é fazer uma ideia que estava só na minha cabeça virar uma ideia comum.
Todo processo tem estas peças: quem emite, a mensagem, o canal — fala, rádio, e-mail, WhatsApp — e quem recebe. E tem o retorno, o feedback: é ele que mostra o que o outro realmente entendeu.
No meio de tudo, o ruído: o barulho do CD, a pressa, a sigla que o outro não conhece, aquilo que a gente supõe que ele já sabe.
Por isso: só existe comunicação quando o outro entende — e age como combinado. Quem diz se a comunicação aconteceu é quem recebe.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0:50 · acumulado 23:00
E comunicar mal custa caro.
O PMI, referência mundial em gestão de projetos, mostrou que 56% do dinheiro em risco nos projetos está ligado à comunicação ineficaz.
Uma pesquisa de 2022, com mais de 1.200 profissionais nos Estados Unidos, estimou que as equipes perdem em média 7 horas e meia por semana com comunicação ruim. É quase um dia de trabalho, toda semana.
Na nossa operação, esse custo tem nome: retrabalho, atraso, avaria e risco de acidente.
[Fontes: PMI, Pulse of the Profession 2013; Grammarly e The Harris Poll, 2022.]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1:40 (inclui o vídeo de 52 s) · acumulado 24:40
Vamos ver um caso real. Enquanto assistem, pensem: o que faltou nessa comunicação?
[Clique no vídeo para tocar — o som está embutido. Ele para sozinho no final.]
[Depois do vídeo:] E aí, o que faltou?
[Ouça duas ou três respostas.]
[clique] Normalmente faltam três coisas: instrução clara, confirmação do entendimento e o registro do combinado.
[clique] E quase nunca é má-fé: alguém pede uma coisa, o outro entende outra e ninguém confere antes de agir. O prejuízo aparece depois.
[Ajuste esta fala ao que acontece no vídeo.]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1:20 · acumulado 26:00
A solução é simples e é usada onde um erro pode custar vidas — hospitais e aviação. Chama-se comunicação em ciclo fechado. Compare com o que a gente costuma ouvir: "Vê aquele pedido lá pra mim." Qual pedido? Até quando?
[clique] Passo 1 — quem pede fala de forma objetiva: "Separe o pedido 4521 até as 14h. O caminhão sai às 15h."
[clique] Passo 2 — quem recebe repete com as próprias palavras: "Pedido 4521 até as 14h. Se faltar item, te aviso na hora."
[clique] Passo 3 — quem pediu confirma: "Isso. Combinado."
Leva cinco segundos. Cinco segundos de confirmação evitam horas de retrabalho.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acumulado 27:30
Feedback. Muita gente ouve essa palavra e pensa em bronca. Feedback é ferramenta de liderança.
Seis princípios:
— Frequente: não espere o problema crescer.
— Positivo também: reconheça o que deu certo, de preferência em público.
— Corretivo em particular: ninguém aprende sendo exposto na frente dos colegas.
— Específico: fato, dia e lugar — nada de "você sempre" ou "você nunca".
— Ouça o outro lado: pergunte o que aconteceu antes de concluir.
— Feche com um combinado: o que muda e a partir de quando.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2:00 · acumulado 29:30
Um jeito prático de estruturar: o modelo SCI — situação, comportamento e impacto —, e a gente fecha com um combinado.
[clique] Exemplo de feedback positivo: "Ontem, no fechamento do turno — situação —, você deixou a doca 3 organizada e sinalizada — comportamento. O turno seguinte começou sem atraso e sem risco de tropeço — impacto. Quero isso como padrão. Pode mostrar para a equipe como fez?"
[clique] Exemplo de feedback corretivo: "Hoje, às 10h, na separação, vi você operando a transpaleteira sem o calçado de segurança. Se um pallet cair, o pé fica exposto — e eu preciso de você inteiro. O que aconteceu? A partir de agora, só opera de calçado. Combinado?"
Repare: nos dois casos, fato e efeito — nada de ataque. E repare na pergunta "o que aconteceu?": ela abre espaço para ouvir.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2:30 · acumulado 32:00
Agora quero ouvir vocês. Sejam sinceros, isso aqui não é cobrança: por que o DDS não está acontecendo no seu turno?
[Ouça o grupo por cerca de 1 minuto. Anote as respostas em voz alta.]
[clique] Comparem com o que costuma aparecer: "não dá tempo", por causa da pressão da produção; falta de preparo ou de tema; a ideia de que é só burocracia; ninguém assume quando o líder falta; o turno começa corrido; e a lista de presença nunca está à mão.
Qual destes pesa mais no nosso CD?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acumulado 33:30
E qual é o preço de não fazer?
Mais acidentes e quase-acidentes, porque os riscos do dia passam sem ser lembrados. Equipe desinformada sobre mudanças. Nenhuma prova de orientação em fiscalização, auditoria ou processo — e aí vale o registro. A cultura de "segurança é só papel". E o líder perde o melhor momento para alinhar o turno.
[clique] O DDS que não acontece hoje pode virar o acidente que ninguém consegue explicar amanhã.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acumulado 35:00
Então, como destravar a partir de amanhã? Cinco propostas:
1. Horário fixo: os dez primeiros minutos do turno, sem exceção.
2. Banco de temas: um tema por dia, preparado na véspera — EPI, blue spot, empilhamento, ergonomia…
3. Rodízio: cada dia um colaborador conduz junto com o líder. A equipe se envolve.
4. Lista sempre à mão: impressa, na prancheta, junto com o tema.
5. Gestão presente: quem lidera participa, cobra e dá o exemplo.
Proposta para a equipe: DDS feito e registrado em todos os turnos.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0:20 · acumulado 35:20
Terceira parte: chega de falar sobre comunicação. Agora vocês vão viver a comunicação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0:40 · acumulado 36:00
[COMO USAR ESTE SLIDE: durante a apresentação, clique no cartão da dinâmica escolhida — o PowerPoint pula direto para ela. No último slide de cada dinâmica há dois botões: "Outra dinâmica" (volta para este menu) e "Ir para o fechamento" (pula para os compromissos, slide 42). Sem tempo para dinâmica? Use o botão "Ir para o fechamento" deste slide. Alternativa a tudo isso: digite o número do slide e tecle Enter.]
Escolha conforme o tempo e o grupo:
1. Desenho às cegas (slide 27) — 15 min, em duplas. Mostra por que confirmar o entendimento.
2. Papel rasgado (slide 32) — 7 min, todos juntos. Mostra que a mesma instrução gera resultados diferentes.
3. Telefone sem fio da operação (slide 35) — 10 min, 6 a 8 voluntários. Mostra como o recado muda no caminho.
4. Treino em trios (slide 38) — 15 min, em trios. Pratica CNV e feedback com casos do CD.
Fala sugerida: "Agora é com vocês. Preparei uma atividade rápida para a gente sentir na prática tudo o que conversamos."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Opção 1 (total ≈ 15 min)
A dinâmica se chama desenho às cegas.
Formem duplas e sentem de costas um para o outro. Um é o comunicador, o outro é o desenhista. O comunicador recebe uma figura e descreve; o desenhista desenha.
Regra de ouro: ninguém mostra a figura nem o desenho até o final.
[Distribua 1 folha e 1 caneta por dupla. Entregue a Figura A, virada para baixo, só para os comunicadores. As figuras estão no apêndice, prontas para imprimir.]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3:30 · Opção 1
Rodada 1: mão única.
Comunicador: descreva a Figura A só com palavras. Desenhista: só escute e desenhe.
É proibido perguntar, mostrar ou gesticular.
Valendo! [Cronometre 3 minutos. Avise quando faltar 1 minuto. Ao final: "Tempo! Caneta na mesa."]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4:30 · Opção 1
Rodada 2: mão dupla.
Troquem os papéis: quem desenhou agora descreve, com a Figura B. [Entregue a Figura B aos novos comunicadores.]
Agora o desenhista pode perguntar quanto quiser — e, antes de desenhar cada parte, repete o que entendeu. Fala, repete, confirma.
Valendo! [Cronometre 4 minutos.]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Opção 1
Hora da verdade. Comparem os desenhos com o original.
[clique] Figura A, da rodada sem perguntas.
[Deixe as duplas compararem e reagirem por alguns segundos.]
[clique] Figura B, da rodada com perguntas e confirmação.
Levantem a mão as duplas que chegaram mais perto na rodada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4:00 · Opção 1
Vamos conversar sobre o que aconteceu. Uma pergunta por vez:
[clique] Qual rodada foi mais fácil? Por quê?
[clique] Como foi desenhar sem poder perguntar? E descrever sem poder ver o desenho?
[clique] Onde essa "mão única" acontece no nosso turno? No rádio, no WhatsApp, na passagem de turno, no DDS feito às pressas…
[clique] O que muda quando a gente confirma o entendimento?
[clique] A conclusão: comunicação de mão dupla leva um pouco mais de tempo — e erra muito menos. É exatamente o ciclo fechado: fala, repete, confirma.
[Clique no botão "Ir para o fechamento ›" (ou digite 42 e tecle Enter). Se sobrar tempo e quiser outra dinâmica, use "‹ Outra dinâmica".]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1:00 · Opção 2 (total ≈ 7 min)
A dinâmica se chama papel rasgado. Cada um recebe uma folha.
As regras: todos de olhos fechados até o final. Eu vou dar algumas instruções e vocês seguem. Ninguém pode perguntar nada — nem olhar a folha do colega.
[Distribua uma folha A4 por pessoa antes de avançar.]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2:30 · Opção 2
Fechem os olhos. Lembrem: sem perguntas.
[Leia cada instrução em voz alta, uma única vez, e clique para ela aparecer na tela. Dê uns 10 segundos entre uma e outra.]
[clique] 1. Dobre a folha ao meio.
[clique] 2. Rasgue o canto de cima, do lado direito.
[clique] 3. Dobre a folha ao meio de novo.
[clique] 4. Rasgue o canto de baixo, do lado esquerdo.
[clique] 5. Dobre ao meio mais uma vez.
[clique] 6. Rasgue um pedaço do meio, do lado direito.
[clique] 7. Agora abram os olhos, desdobrem a folha e levantem para todo mundo ver.
[Deixe o grupo comparar os papéis. Normalmente quase ninguém fica igual.]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3:30 · Opção 2
Olhem em volta: todo mundo ouviu exatamente a mesma instrução. E os papéis ficaram iguais?
[clique] Por que ficaram diferentes? [Ouça: "dobrar para que lado?", "qual é o canto de cima?", "que tamanho de pedaço?".]
[clique] O que vocês teriam perguntado, se pudessem?
[clique] Onde a gente dá instrução "de olhos fechados" no turno? Pelo rádio, de longe, na correria…
[clique] A conclusão: instrução clara mostra o exemplo, deixa perguntar e confirma o entendimento. Do contrário, cada um entende de um jeito — e todos acham que fizeram certo.
[Clique no botão "Ir para o fechamento ›" (ou digite 42 e tecle Enter). Se sobrar tempo e quiser outra dinâmica, use "‹ Outra dinâmica".]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Opção 3 (total ≈ 10 min)
Telefone sem fio da operação. Preciso de seis a oito voluntários aqui na frente, em fila.
Regras: só o primeiro lê a mensagem — sem os outros verem. Cada um passa a mensagem no ouvido do próximo, uma única vez, sem repetir. O último fala em voz alta.
Quem não está na fila: observem e anotem o que vai mudando.
[Entregue o cartão com a mensagem ao primeiro da fila. O cartão está no apêndice, pronto para imprimir.]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5:00 · Opção 3
[Deixe a mensagem correr pela fila. Depois peça ao último: "Fale em voz alta o que você ouviu."]
[clique] Agora a mensagem original. Vamos conferir item por item o que chegou e o que se perdeu.
[clique] Doca, horário, quantidade de pallets, a ordem dos pallets de bebida, o filme duplo e quem precisa ser avisado.
[Pergunte à plateia quais itens chegaram corretos — e em que ponto da fila a mensagem começou a mudar.]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3:30 · Opção 3
[clique] O que mudou no caminho? O que se perdeu primeiro: números, horários ou nomes?
[clique] Onde isso acontece no turno? Passagem de turno, rádio, recado de boca de um líder para outro…
[clique] Como evitar?
[clique] A conclusão: recado importante vai escrito, é confirmado por quem recebe e passa pelo canal certo.
[Clique no botão "Ir para o fechamento ›" (ou digite 42 e tecle Enter). Se sobrar tempo e quiser outra dinâmica, use "‹ Outra dinâmica".]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1:30 · Opção 4 (total ≈ 15 min)
Treino em trios. Formem grupos de três.
Em cada trio, um é o líder: dá o feedback usando a CNV e o modelo SCI. Outro é o colaborador: reage como na vida real, sem exagerar. E o terceiro é o observador: usa o checklist e, no final, dá um retorno ao líder.
Serão três rodadas de três minutos. A cada rodada, troquem os papéis e o caso.
[Distribua os cartões de caso e o checklist — estão no apêndice, prontos para imprimir.]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1:00 · Opção 4
Estes são os casos. Três pedem feedback corretivo e um pede feedback positivo — feedback positivo também precisa de treino.
[Leia os casos em voz alta e combine qual trio começa por qual caso.]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10:00 · Opção 4 (3 rodadas de 3 min + trocas)
Observadores: marquem cada item do checklist. Líderes: lembrem do roteiro — fato, impacto, ouvir e combinar.
[Cronometre 3 minutos por rodada. Ao fim de cada rodada, dê 30 segundos para o observador falar e anuncie: "Troquem os papéis e o caso."]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2:30 · Opção 4
[clique] O que foi mais difícil: falar, ouvir ou fechar o combinado?
[clique] Que frase funcionou melhor no seu trio?
[clique] Que conversa você vai ter amanhã usando esse modelo?
[clique] A conclusão: conversa difícil fica mais fácil com roteiro — fato, impacto, ouvir e combinar.
[Clique no botão "Ir para o fechamento ›" (ou digite 42 e tecle Enter). Se sobrar tempo e quiser outra dinâmica, use "‹ Outra dinâmica".]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1:40 · acumulado ≈ 45 a 53 min (depende da dinâmica escolhida)
Para fechar, oito compromissos de quem lidera. Leiam comigo:
Falo com firmeza e sem agressividade. Toda saída passa pelo BC e vai para o livro. Entrego EPI com registro e fiscalizo todo dia. Medicamento só pelo BC, sempre registrado. Faço o DDS e registro a presença. Confiro e cobro o blue spot. Dou feedback toda semana. E fecho o ciclo: fala, repete, confirma.
Se cada um de nós cumprir estes oito, o turno fica mais seguro — e a equipe sente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1:00 · acumulado ≈ 46 a 54 min (depende da dinâmica escolhida)
Comunicação que protege é isso: o procedimento certo, dito do jeito certo, confirmado e registrado.
Muito obrigado. Fico à disposição para perguntas, dúvidas e sugestões.
[Abra para perguntas. Se sobrar tempo, faça uma segunda dinâmica curta: o papel rasgado leva 7 minutos — digite 32 e tecle Enter para ir direto a ela.]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 na apresentação). Imprima e entregue aos comunicadores na rodada 1. Para imprimir slides ocultos no PowerPoint: Arquivo › Imprimir › marque "Imprimir slides ocultos".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oculto). Imprima e entregue aos novos comunicadores na rodada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oculto). Modelo de lista de presença do DDS para imprimir.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oculto). Opção 3 — imprima e entregue só ao primeiro da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oculto). Opção 4 — imprima, recorte nas linhas tracejadas e entregue um caso por trio a cada rodada.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oculto). Opção 4 — imprima um checklist por trio (dois por folha).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 (slide oculto). Referências usadas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IVISOR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PALCO_P3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8308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Título do slide</a:t>
            </a: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60350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Título do slide</a:t>
            </a: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64008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Comunicação que protege  ·  CD Bartofil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 do slide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Comunicação que protege  ·  CD Bartofil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_P1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 do slide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Comunicação que protege  ·  CD Bartofil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6876288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1  PROCEDIMENTOS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458200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5">
              <a:alpha val="10000"/>
            </a:schemeClr>
          </a:solidFill>
          <a:ln w="6350">
            <a:solidFill>
              <a:schemeClr val="accent5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5"/>
                </a:solidFill>
              </a:rPr>
              <a:t>2  COMUNICAÇÃO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040112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5">
              <a:alpha val="10000"/>
            </a:schemeClr>
          </a:solidFill>
          <a:ln w="6350">
            <a:solidFill>
              <a:schemeClr val="accent5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5"/>
                </a:solidFill>
              </a:rPr>
              <a:t>3  DINÂMICA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_P2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 do slide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Comunicação que protege  ·  CD Bartofil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6876288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5">
              <a:alpha val="10000"/>
            </a:schemeClr>
          </a:solidFill>
          <a:ln w="6350">
            <a:solidFill>
              <a:schemeClr val="accent5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5"/>
                </a:solidFill>
              </a:rPr>
              <a:t>1  PROCEDIMENTOS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458200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2  COMUNICAÇÃO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040112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5">
              <a:alpha val="10000"/>
            </a:schemeClr>
          </a:solidFill>
          <a:ln w="6350">
            <a:solidFill>
              <a:schemeClr val="accent5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5"/>
                </a:solidFill>
              </a:rPr>
              <a:t>3  DINÂMICA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_P3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Título do slide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Comunicação que protege  ·  CD Bartofil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6876288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5">
              <a:alpha val="10000"/>
            </a:schemeClr>
          </a:solidFill>
          <a:ln w="6350">
            <a:solidFill>
              <a:schemeClr val="accent5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5"/>
                </a:solidFill>
              </a:rPr>
              <a:t>1  PROCEDIMENTOS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458200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5">
              <a:alpha val="10000"/>
            </a:schemeClr>
          </a:solidFill>
          <a:ln w="6350">
            <a:solidFill>
              <a:schemeClr val="accent5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5"/>
                </a:solidFill>
              </a:rPr>
              <a:t>2  COMUNICAÇÃO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040112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3  DINÂMICA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LCO_P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Título do slide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Comunicação que protege  ·  CD Bartofil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6876288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6350">
            <a:solidFill>
              <a:schemeClr val="accent6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6"/>
                </a:solidFill>
              </a:rPr>
              <a:t>1  PROCEDIMENTOS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458200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6350">
            <a:solidFill>
              <a:schemeClr val="accent6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accent6"/>
                </a:solidFill>
              </a:rPr>
              <a:t>2  COMUNICAÇÃO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040112" y="384048"/>
            <a:ext cx="15087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tx1"/>
                </a:solidFill>
              </a:rPr>
              <a:t>3  DINÂMICA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NDIC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Título do slide</a:t>
            </a: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image" Target="../media/image-8-2.png"/><Relationship Id="rId7" Type="http://schemas.openxmlformats.org/officeDocument/2006/relationships/image" Target="../media/image-8-2.png"/><Relationship Id="rId8" Type="http://schemas.openxmlformats.org/officeDocument/2006/relationships/image" Target="../media/image-8-2.png"/><Relationship Id="rId9" Type="http://schemas.openxmlformats.org/officeDocument/2006/relationships/image" Target="../media/image-8-2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26.xml"/><Relationship Id="rIdGo1" Type="http://schemas.openxmlformats.org/officeDocument/2006/relationships/slide" Target="slide27.xml"/><Relationship Id="rIdGo2" Type="http://schemas.openxmlformats.org/officeDocument/2006/relationships/slide" Target="slide32.xml"/><Relationship Id="rIdGo3" Type="http://schemas.openxmlformats.org/officeDocument/2006/relationships/slide" Target="slide35.xml"/><Relationship Id="rIdGo4" Type="http://schemas.openxmlformats.org/officeDocument/2006/relationships/slide" Target="slide38.xml"/><Relationship Id="rIdGo5" Type="http://schemas.openxmlformats.org/officeDocument/2006/relationships/slide" Target="slide4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27.xml"/><Relationship Id="rIdGo1" Type="http://schemas.openxmlformats.org/officeDocument/2006/relationships/slide" Target="slide2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1.xml"/><Relationship Id="rIdGo1" Type="http://schemas.openxmlformats.org/officeDocument/2006/relationships/slide" Target="slide26.xml"/><Relationship Id="rIdGo2" Type="http://schemas.openxmlformats.org/officeDocument/2006/relationships/slide" Target="slide4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32.xml"/><Relationship Id="rIdGo1" Type="http://schemas.openxmlformats.org/officeDocument/2006/relationships/slide" Target="slide2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4.xml"/><Relationship Id="rIdGo1" Type="http://schemas.openxmlformats.org/officeDocument/2006/relationships/slide" Target="slide26.xml"/><Relationship Id="rIdGo2" Type="http://schemas.openxmlformats.org/officeDocument/2006/relationships/slide" Target="slide4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35.xml"/><Relationship Id="rIdGo1" Type="http://schemas.openxmlformats.org/officeDocument/2006/relationships/slide" Target="slide2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2.png"/><Relationship Id="rId4" Type="http://schemas.openxmlformats.org/officeDocument/2006/relationships/image" Target="../media/image-36-2.png"/><Relationship Id="rId5" Type="http://schemas.openxmlformats.org/officeDocument/2006/relationships/image" Target="../media/image-36-2.png"/><Relationship Id="rId6" Type="http://schemas.openxmlformats.org/officeDocument/2006/relationships/image" Target="../media/image-36-2.png"/><Relationship Id="rId7" Type="http://schemas.openxmlformats.org/officeDocument/2006/relationships/image" Target="../media/image-36-2.png"/><Relationship Id="rId8" Type="http://schemas.openxmlformats.org/officeDocument/2006/relationships/slideLayout" Target="../slideLayouts/slideLayout7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7.xml"/><Relationship Id="rIdGo1" Type="http://schemas.openxmlformats.org/officeDocument/2006/relationships/slide" Target="slide26.xml"/><Relationship Id="rIdGo2" Type="http://schemas.openxmlformats.org/officeDocument/2006/relationships/slide" Target="slide4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slideLayout" Target="../slideLayouts/slideLayout7.xml"/><Relationship Id="rId8" Type="http://schemas.openxmlformats.org/officeDocument/2006/relationships/notesSlide" Target="../notesSlides/notesSlide38.xml"/><Relationship Id="rIdGo1" Type="http://schemas.openxmlformats.org/officeDocument/2006/relationships/slide" Target="slide2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1.png"/><Relationship Id="rId3" Type="http://schemas.openxmlformats.org/officeDocument/2006/relationships/image" Target="../media/image-40-1.png"/><Relationship Id="rId4" Type="http://schemas.openxmlformats.org/officeDocument/2006/relationships/image" Target="../media/image-40-1.png"/><Relationship Id="rId5" Type="http://schemas.openxmlformats.org/officeDocument/2006/relationships/image" Target="../media/image-40-1.png"/><Relationship Id="rId6" Type="http://schemas.openxmlformats.org/officeDocument/2006/relationships/image" Target="../media/image-40-1.png"/><Relationship Id="rId7" Type="http://schemas.openxmlformats.org/officeDocument/2006/relationships/slideLayout" Target="../slideLayouts/slideLayout7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1.xml"/><Relationship Id="rIdGo1" Type="http://schemas.openxmlformats.org/officeDocument/2006/relationships/slide" Target="slide26.xml"/><Relationship Id="rIdGo2" Type="http://schemas.openxmlformats.org/officeDocument/2006/relationships/slide" Target="slide4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1.png"/><Relationship Id="rId3" Type="http://schemas.openxmlformats.org/officeDocument/2006/relationships/image" Target="../media/image-42-1.png"/><Relationship Id="rId4" Type="http://schemas.openxmlformats.org/officeDocument/2006/relationships/image" Target="../media/image-42-1.png"/><Relationship Id="rId5" Type="http://schemas.openxmlformats.org/officeDocument/2006/relationships/image" Target="../media/image-42-1.png"/><Relationship Id="rId6" Type="http://schemas.openxmlformats.org/officeDocument/2006/relationships/image" Target="../media/image-42-1.png"/><Relationship Id="rId7" Type="http://schemas.openxmlformats.org/officeDocument/2006/relationships/image" Target="../media/image-42-1.png"/><Relationship Id="rId8" Type="http://schemas.openxmlformats.org/officeDocument/2006/relationships/image" Target="../media/image-42-1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verde"/>
          <p:cNvSpPr/>
          <p:nvPr/>
        </p:nvSpPr>
        <p:spPr>
          <a:xfrm>
            <a:off x="640080" y="566928"/>
            <a:ext cx="457200" cy="640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Marca amarela"/>
          <p:cNvSpPr/>
          <p:nvPr/>
        </p:nvSpPr>
        <p:spPr>
          <a:xfrm>
            <a:off x="640080" y="676656"/>
            <a:ext cx="457200" cy="640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Rotulo @a1f"/>
          <p:cNvSpPr txBox="1"/>
          <p:nvPr/>
        </p:nvSpPr>
        <p:spPr>
          <a:xfrm>
            <a:off x="128016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TREINAMENTO DE LIDERANÇA · CD BARTOFIL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8308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Comunicação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chemeClr val="accent2"/>
                </a:solidFill>
              </a:rPr>
              <a:t>que protege</a:t>
            </a:r>
            <a:endParaRPr lang="en-US" sz="5600" dirty="0"/>
          </a:p>
        </p:txBody>
      </p:sp>
      <p:sp>
        <p:nvSpPr>
          <p:cNvPr id="6" name="Subtitulo @a2u"/>
          <p:cNvSpPr txBox="1"/>
          <p:nvPr/>
        </p:nvSpPr>
        <p:spPr>
          <a:xfrm>
            <a:off x="640080" y="3931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Procedimentos, comunicação e feedback para líderes e encarregados</a:t>
            </a:r>
            <a:endParaRPr lang="en-US" sz="2000" dirty="0"/>
          </a:p>
        </p:txBody>
      </p:sp>
      <p:sp>
        <p:nvSpPr>
          <p:cNvPr id="7" name="Apresentador @a3f"/>
          <p:cNvSpPr txBox="1"/>
          <p:nvPr/>
        </p:nvSpPr>
        <p:spPr>
          <a:xfrm>
            <a:off x="640080" y="5623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Hércules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Administrador de Sistemas · Bartofil</a:t>
            </a:r>
            <a:endParaRPr lang="en-US" sz="1600" dirty="0"/>
          </a:p>
        </p:txBody>
      </p:sp>
      <p:pic>
        <p:nvPicPr>
          <p:cNvPr id="8" name="Ilustracao capa @a1z" descr="/tmp/claude-0/-home-claude/5746e17e-ab87-5418-9566-46e1b5e96b03/scratchpad/pptx2/assets/hero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ROTEIRO · CERCA DE 50 MINUTOS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Nosso roteiro</a:t>
            </a:r>
            <a:endParaRPr lang="en-US" sz="3200" dirty="0"/>
          </a:p>
        </p:txBody>
      </p:sp>
      <p:sp>
        <p:nvSpPr>
          <p:cNvPr id="4" name="Parte 01 @a1u"/>
          <p:cNvSpPr/>
          <p:nvPr/>
        </p:nvSpPr>
        <p:spPr>
          <a:xfrm>
            <a:off x="640080" y="169164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parte 01 @a1u" descr="hard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960120" cy="960120"/>
          </a:xfrm>
          <a:prstGeom prst="rect">
            <a:avLst/>
          </a:prstGeom>
        </p:spPr>
      </p:pic>
      <p:sp>
        <p:nvSpPr>
          <p:cNvPr id="6" name="Numero @a1u"/>
          <p:cNvSpPr txBox="1"/>
          <p:nvPr/>
        </p:nvSpPr>
        <p:spPr>
          <a:xfrm>
            <a:off x="960120" y="31546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01</a:t>
            </a:r>
            <a:endParaRPr lang="en-US" sz="4000" dirty="0"/>
          </a:p>
        </p:txBody>
      </p:sp>
      <p:sp>
        <p:nvSpPr>
          <p:cNvPr id="7" name="Titulo parte @a1u"/>
          <p:cNvSpPr txBox="1"/>
          <p:nvPr/>
        </p:nvSpPr>
        <p:spPr>
          <a:xfrm>
            <a:off x="960120" y="37947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Procedimentos que protegem</a:t>
            </a:r>
            <a:endParaRPr lang="en-US" sz="2000" dirty="0"/>
          </a:p>
        </p:txBody>
      </p:sp>
      <p:sp>
        <p:nvSpPr>
          <p:cNvPr id="8" name="Topicos @a1u"/>
          <p:cNvSpPr txBox="1"/>
          <p:nvPr/>
        </p:nvSpPr>
        <p:spPr>
          <a:xfrm>
            <a:off x="960120" y="452628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CNV · saídas e registro no livro · EPI · medicamentos · DDS · blue spot</a:t>
            </a:r>
            <a:endParaRPr lang="en-US" sz="1300" dirty="0"/>
          </a:p>
        </p:txBody>
      </p:sp>
      <p:sp>
        <p:nvSpPr>
          <p:cNvPr id="9" name="Tempo @a1u"/>
          <p:cNvSpPr txBox="1"/>
          <p:nvPr/>
        </p:nvSpPr>
        <p:spPr>
          <a:xfrm>
            <a:off x="960120" y="5458968"/>
            <a:ext cx="14630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≈ 20 min</a:t>
            </a:r>
            <a:endParaRPr lang="en-US" sz="1100" dirty="0"/>
          </a:p>
        </p:txBody>
      </p:sp>
      <p:sp>
        <p:nvSpPr>
          <p:cNvPr id="10" name="Parte 02 @a2u"/>
          <p:cNvSpPr/>
          <p:nvPr/>
        </p:nvSpPr>
        <p:spPr>
          <a:xfrm>
            <a:off x="4368698" y="169164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1" name="Icone parte 02 @a2u" descr="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2011680"/>
            <a:ext cx="960120" cy="960120"/>
          </a:xfrm>
          <a:prstGeom prst="rect">
            <a:avLst/>
          </a:prstGeom>
        </p:spPr>
      </p:pic>
      <p:sp>
        <p:nvSpPr>
          <p:cNvPr id="12" name="Numero @a2u"/>
          <p:cNvSpPr txBox="1"/>
          <p:nvPr/>
        </p:nvSpPr>
        <p:spPr>
          <a:xfrm>
            <a:off x="4688738" y="31546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02</a:t>
            </a:r>
            <a:endParaRPr lang="en-US" sz="4000" dirty="0"/>
          </a:p>
        </p:txBody>
      </p:sp>
      <p:sp>
        <p:nvSpPr>
          <p:cNvPr id="13" name="Titulo parte @a2u"/>
          <p:cNvSpPr txBox="1"/>
          <p:nvPr/>
        </p:nvSpPr>
        <p:spPr>
          <a:xfrm>
            <a:off x="4688738" y="37947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Comunicação e feedback</a:t>
            </a:r>
            <a:endParaRPr lang="en-US" sz="2000" dirty="0"/>
          </a:p>
        </p:txBody>
      </p:sp>
      <p:sp>
        <p:nvSpPr>
          <p:cNvPr id="14" name="Topicos @a2u"/>
          <p:cNvSpPr txBox="1"/>
          <p:nvPr/>
        </p:nvSpPr>
        <p:spPr>
          <a:xfrm>
            <a:off x="4688738" y="452628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Por que comunicar bem · feche o ciclo · feedback · DDS: por que não acontece</a:t>
            </a:r>
            <a:endParaRPr lang="en-US" sz="1300" dirty="0"/>
          </a:p>
        </p:txBody>
      </p:sp>
      <p:sp>
        <p:nvSpPr>
          <p:cNvPr id="15" name="Tempo @a2u"/>
          <p:cNvSpPr txBox="1"/>
          <p:nvPr/>
        </p:nvSpPr>
        <p:spPr>
          <a:xfrm>
            <a:off x="4688738" y="5458968"/>
            <a:ext cx="14630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≈ 15 min</a:t>
            </a:r>
            <a:endParaRPr lang="en-US" sz="1100" dirty="0"/>
          </a:p>
        </p:txBody>
      </p:sp>
      <p:sp>
        <p:nvSpPr>
          <p:cNvPr id="16" name="Parte 03 @a3u"/>
          <p:cNvSpPr/>
          <p:nvPr/>
        </p:nvSpPr>
        <p:spPr>
          <a:xfrm>
            <a:off x="8097317" y="169164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Icone parte 03 @a3u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2011680"/>
            <a:ext cx="960120" cy="960120"/>
          </a:xfrm>
          <a:prstGeom prst="rect">
            <a:avLst/>
          </a:prstGeom>
        </p:spPr>
      </p:pic>
      <p:sp>
        <p:nvSpPr>
          <p:cNvPr id="18" name="Numero @a3u"/>
          <p:cNvSpPr txBox="1"/>
          <p:nvPr/>
        </p:nvSpPr>
        <p:spPr>
          <a:xfrm>
            <a:off x="8417357" y="31546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03</a:t>
            </a:r>
            <a:endParaRPr lang="en-US" sz="4000" dirty="0"/>
          </a:p>
        </p:txBody>
      </p:sp>
      <p:sp>
        <p:nvSpPr>
          <p:cNvPr id="19" name="Titulo parte @a3u"/>
          <p:cNvSpPr txBox="1"/>
          <p:nvPr/>
        </p:nvSpPr>
        <p:spPr>
          <a:xfrm>
            <a:off x="8417357" y="3794760"/>
            <a:ext cx="28142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Dinâmica</a:t>
            </a:r>
            <a:endParaRPr lang="en-US" sz="2000" dirty="0"/>
          </a:p>
        </p:txBody>
      </p:sp>
      <p:sp>
        <p:nvSpPr>
          <p:cNvPr id="20" name="Topicos @a3u"/>
          <p:cNvSpPr txBox="1"/>
          <p:nvPr/>
        </p:nvSpPr>
        <p:spPr>
          <a:xfrm>
            <a:off x="8417357" y="452628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Escolha 1 de 4: desenho às cegas, papel rasgado, telefone sem fio ou treino em trios</a:t>
            </a:r>
            <a:endParaRPr lang="en-US" sz="1300" dirty="0"/>
          </a:p>
        </p:txBody>
      </p:sp>
      <p:sp>
        <p:nvSpPr>
          <p:cNvPr id="21" name="Tempo @a3u"/>
          <p:cNvSpPr txBox="1"/>
          <p:nvPr/>
        </p:nvSpPr>
        <p:spPr>
          <a:xfrm>
            <a:off x="8417357" y="5458968"/>
            <a:ext cx="14630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≈ 7 a 15 min</a:t>
            </a:r>
            <a:endParaRPr lang="en-US" sz="11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 @a1f"/>
          <p:cNvSpPr txBox="1"/>
          <p:nvPr/>
        </p:nvSpPr>
        <p:spPr>
          <a:xfrm>
            <a:off x="64008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PARTE 1 · 20 MIN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920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Procedimentos que protegem</a:t>
            </a:r>
            <a:endParaRPr lang="en-US" sz="4400" dirty="0"/>
          </a:p>
        </p:txBody>
      </p:sp>
      <p:sp>
        <p:nvSpPr>
          <p:cNvPr id="4" name="Topico @a2u.0"/>
          <p:cNvSpPr txBox="1"/>
          <p:nvPr/>
        </p:nvSpPr>
        <p:spPr>
          <a:xfrm>
            <a:off x="640080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CNV</a:t>
            </a:r>
            <a:endParaRPr lang="en-US" sz="1200" dirty="0"/>
          </a:p>
        </p:txBody>
      </p:sp>
      <p:sp>
        <p:nvSpPr>
          <p:cNvPr id="5" name="Topico @a2u.1"/>
          <p:cNvSpPr txBox="1"/>
          <p:nvPr/>
        </p:nvSpPr>
        <p:spPr>
          <a:xfrm>
            <a:off x="2624328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Saída e registro</a:t>
            </a:r>
            <a:endParaRPr lang="en-US" sz="1200" dirty="0"/>
          </a:p>
        </p:txBody>
      </p:sp>
      <p:sp>
        <p:nvSpPr>
          <p:cNvPr id="6" name="Topico @a2u.2"/>
          <p:cNvSpPr txBox="1"/>
          <p:nvPr/>
        </p:nvSpPr>
        <p:spPr>
          <a:xfrm>
            <a:off x="4608576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EPI</a:t>
            </a:r>
            <a:endParaRPr lang="en-US" sz="1200" dirty="0"/>
          </a:p>
        </p:txBody>
      </p:sp>
      <p:sp>
        <p:nvSpPr>
          <p:cNvPr id="7" name="Topico @a2u.3"/>
          <p:cNvSpPr txBox="1"/>
          <p:nvPr/>
        </p:nvSpPr>
        <p:spPr>
          <a:xfrm>
            <a:off x="640080" y="416052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Medicamentos</a:t>
            </a:r>
            <a:endParaRPr lang="en-US" sz="1200" dirty="0"/>
          </a:p>
        </p:txBody>
      </p:sp>
      <p:sp>
        <p:nvSpPr>
          <p:cNvPr id="8" name="Topico @a2u.4"/>
          <p:cNvSpPr txBox="1"/>
          <p:nvPr/>
        </p:nvSpPr>
        <p:spPr>
          <a:xfrm>
            <a:off x="2624328" y="416052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DDS e presença</a:t>
            </a:r>
            <a:endParaRPr lang="en-US" sz="1200" dirty="0"/>
          </a:p>
        </p:txBody>
      </p:sp>
      <p:sp>
        <p:nvSpPr>
          <p:cNvPr id="9" name="Topico @a2u.5"/>
          <p:cNvSpPr txBox="1"/>
          <p:nvPr/>
        </p:nvSpPr>
        <p:spPr>
          <a:xfrm>
            <a:off x="4608576" y="416052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Blue spot</a:t>
            </a:r>
            <a:endParaRPr lang="en-US" sz="1200" dirty="0"/>
          </a:p>
        </p:txBody>
      </p:sp>
      <p:pic>
        <p:nvPicPr>
          <p:cNvPr id="10" name="Ilustracao parte @a1z" descr="/tmp/claude-0/-home-claude/5746e17e-ab87-5418-9566-46e1b5e96b03/scratchpad/pptx2/assets/hero-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572000" cy="4572000"/>
          </a:xfrm>
          <a:prstGeom prst="rect">
            <a:avLst/>
          </a:prstGeom>
        </p:spPr>
      </p:pic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COMUNICAÇÃO NÃO VIOLENTA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CNV: firmeza sem agressividade</a:t>
            </a:r>
            <a:endParaRPr lang="en-US" sz="3200" dirty="0"/>
          </a:p>
        </p:txBody>
      </p:sp>
      <p:sp>
        <p:nvSpPr>
          <p:cNvPr id="4" name="Definicao @a1u"/>
          <p:cNvSpPr txBox="1"/>
          <p:nvPr/>
        </p:nvSpPr>
        <p:spPr>
          <a:xfrm>
            <a:off x="640080" y="1645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chemeClr val="accent5"/>
                </a:solidFill>
              </a:rPr>
              <a:t>Comunicação Não Violenta é um jeito de falar e de ouvir que foca no fato e na necessidade — não no ataque à pessoa.</a:t>
            </a:r>
            <a:endParaRPr lang="en-US" sz="1800" dirty="0"/>
          </a:p>
        </p:txBody>
      </p:sp>
      <p:pic>
        <p:nvPicPr>
          <p:cNvPr id="5" name="Check @a2u.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0"/>
            <a:ext cx="384048" cy="384048"/>
          </a:xfrm>
          <a:prstGeom prst="rect">
            <a:avLst/>
          </a:prstGeom>
        </p:spPr>
      </p:pic>
      <p:sp>
        <p:nvSpPr>
          <p:cNvPr id="6" name="Beneficio @a2u.0"/>
          <p:cNvSpPr txBox="1"/>
          <p:nvPr/>
        </p:nvSpPr>
        <p:spPr>
          <a:xfrm>
            <a:off x="1188720" y="27432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Corrige sem humilhar</a:t>
            </a:r>
            <a:endParaRPr lang="en-US" sz="1600" dirty="0"/>
          </a:p>
        </p:txBody>
      </p:sp>
      <p:pic>
        <p:nvPicPr>
          <p:cNvPr id="7" name="Check @a2u.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310128"/>
            <a:ext cx="384048" cy="384048"/>
          </a:xfrm>
          <a:prstGeom prst="rect">
            <a:avLst/>
          </a:prstGeom>
        </p:spPr>
      </p:pic>
      <p:sp>
        <p:nvSpPr>
          <p:cNvPr id="8" name="Beneficio @a2u.1"/>
          <p:cNvSpPr txBox="1"/>
          <p:nvPr/>
        </p:nvSpPr>
        <p:spPr>
          <a:xfrm>
            <a:off x="1188720" y="331012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Reduz conflitos e retrabalho</a:t>
            </a:r>
            <a:endParaRPr lang="en-US" sz="1600" dirty="0"/>
          </a:p>
        </p:txBody>
      </p:sp>
      <p:pic>
        <p:nvPicPr>
          <p:cNvPr id="9" name="Check @a2u.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77056"/>
            <a:ext cx="384048" cy="384048"/>
          </a:xfrm>
          <a:prstGeom prst="rect">
            <a:avLst/>
          </a:prstGeom>
        </p:spPr>
      </p:pic>
      <p:sp>
        <p:nvSpPr>
          <p:cNvPr id="10" name="Beneficio @a2u.2"/>
          <p:cNvSpPr txBox="1"/>
          <p:nvPr/>
        </p:nvSpPr>
        <p:spPr>
          <a:xfrm>
            <a:off x="1188720" y="38770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Aumenta a confiança na liderança</a:t>
            </a:r>
            <a:endParaRPr lang="en-US" sz="1600" dirty="0"/>
          </a:p>
        </p:txBody>
      </p:sp>
      <p:sp>
        <p:nvSpPr>
          <p:cNvPr id="11" name="Por que agora @a3u"/>
          <p:cNvSpPr/>
          <p:nvPr/>
        </p:nvSpPr>
        <p:spPr>
          <a:xfrm>
            <a:off x="640080" y="4572000"/>
            <a:ext cx="64008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o por que agora @a3u"/>
          <p:cNvSpPr txBox="1"/>
          <p:nvPr/>
        </p:nvSpPr>
        <p:spPr>
          <a:xfrm>
            <a:off x="868680" y="4681728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Por que agora?  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Desde 26/05/2026, a fiscalização da NR-1 cobra a gestão dos riscos psicossociais. O jeito como o líder fala com a equipe faz parte desse ambiente.</a:t>
            </a:r>
            <a:endParaRPr lang="en-US" sz="1350" dirty="0"/>
          </a:p>
        </p:txBody>
      </p:sp>
      <p:pic>
        <p:nvPicPr>
          <p:cNvPr id="13" name="Ilustracao CNV @a1z" descr="/tmp/claude-0/-home-claude/5746e17e-ab87-5418-9566-46e1b5e96b03/scratchpad/pptx2/assets/hero-cn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600200"/>
            <a:ext cx="3840480" cy="3840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5943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CNV: método de Marshall Rosenberg · NR-1: gestão de riscos ocupacionais, incluindo os psicossociais</a:t>
            </a:r>
            <a:endParaRPr lang="en-US" sz="10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CNV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4 passos da CNV</a:t>
            </a:r>
            <a:endParaRPr lang="en-US" sz="3200" dirty="0"/>
          </a:p>
        </p:txBody>
      </p:sp>
      <p:sp>
        <p:nvSpPr>
          <p:cNvPr id="4" name="Passo 1 @c1u"/>
          <p:cNvSpPr/>
          <p:nvPr/>
        </p:nvSpPr>
        <p:spPr>
          <a:xfrm>
            <a:off x="640080" y="1691640"/>
            <a:ext cx="2522144" cy="3794760"/>
          </a:xfrm>
          <a:prstGeom prst="roundRect">
            <a:avLst>
              <a:gd name="adj" fmla="val 435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passo @c1u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4248"/>
            <a:ext cx="868680" cy="868680"/>
          </a:xfrm>
          <a:prstGeom prst="rect">
            <a:avLst/>
          </a:prstGeom>
        </p:spPr>
      </p:pic>
      <p:sp>
        <p:nvSpPr>
          <p:cNvPr id="6" name="Num passo @c1u"/>
          <p:cNvSpPr txBox="1"/>
          <p:nvPr/>
        </p:nvSpPr>
        <p:spPr>
          <a:xfrm>
            <a:off x="914400" y="2990088"/>
            <a:ext cx="197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PASSO 1</a:t>
            </a:r>
            <a:endParaRPr lang="en-US" sz="1100" dirty="0"/>
          </a:p>
        </p:txBody>
      </p:sp>
      <p:sp>
        <p:nvSpPr>
          <p:cNvPr id="7" name="Nome passo @c1u"/>
          <p:cNvSpPr txBox="1"/>
          <p:nvPr/>
        </p:nvSpPr>
        <p:spPr>
          <a:xfrm>
            <a:off x="914400" y="3264408"/>
            <a:ext cx="197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Observação</a:t>
            </a:r>
            <a:endParaRPr lang="en-US" sz="2100" dirty="0"/>
          </a:p>
        </p:txBody>
      </p:sp>
      <p:sp>
        <p:nvSpPr>
          <p:cNvPr id="8" name="Desc passo @c1u"/>
          <p:cNvSpPr txBox="1"/>
          <p:nvPr/>
        </p:nvSpPr>
        <p:spPr>
          <a:xfrm>
            <a:off x="914400" y="3703320"/>
            <a:ext cx="1973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O que eu vi, sem julgar nem rotular.</a:t>
            </a:r>
            <a:endParaRPr lang="en-US" sz="1400" dirty="0"/>
          </a:p>
        </p:txBody>
      </p:sp>
      <p:sp>
        <p:nvSpPr>
          <p:cNvPr id="9" name="Exemplo passo @c1u"/>
          <p:cNvSpPr txBox="1"/>
          <p:nvPr/>
        </p:nvSpPr>
        <p:spPr>
          <a:xfrm>
            <a:off x="822960" y="4617720"/>
            <a:ext cx="2156384" cy="658368"/>
          </a:xfrm>
          <a:prstGeom prst="roundRect">
            <a:avLst>
              <a:gd name="adj" fmla="val 11111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2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“Hoje, às 10h, vi que…”</a:t>
            </a:r>
            <a:endParaRPr lang="en-US" sz="1400" dirty="0"/>
          </a:p>
        </p:txBody>
      </p:sp>
      <p:sp>
        <p:nvSpPr>
          <p:cNvPr id="10" name="Passo 2 @c2u"/>
          <p:cNvSpPr/>
          <p:nvPr/>
        </p:nvSpPr>
        <p:spPr>
          <a:xfrm>
            <a:off x="3436544" y="1691640"/>
            <a:ext cx="2522144" cy="3794760"/>
          </a:xfrm>
          <a:prstGeom prst="roundRect">
            <a:avLst>
              <a:gd name="adj" fmla="val 435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1" name="Icone passo @c2u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864" y="1984248"/>
            <a:ext cx="868680" cy="868680"/>
          </a:xfrm>
          <a:prstGeom prst="rect">
            <a:avLst/>
          </a:prstGeom>
        </p:spPr>
      </p:pic>
      <p:sp>
        <p:nvSpPr>
          <p:cNvPr id="12" name="Num passo @c2u"/>
          <p:cNvSpPr txBox="1"/>
          <p:nvPr/>
        </p:nvSpPr>
        <p:spPr>
          <a:xfrm>
            <a:off x="3710864" y="2990088"/>
            <a:ext cx="197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PASSO 2</a:t>
            </a:r>
            <a:endParaRPr lang="en-US" sz="1100" dirty="0"/>
          </a:p>
        </p:txBody>
      </p:sp>
      <p:sp>
        <p:nvSpPr>
          <p:cNvPr id="13" name="Nome passo @c2u"/>
          <p:cNvSpPr txBox="1"/>
          <p:nvPr/>
        </p:nvSpPr>
        <p:spPr>
          <a:xfrm>
            <a:off x="3710864" y="3264408"/>
            <a:ext cx="197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Sentimento</a:t>
            </a:r>
            <a:endParaRPr lang="en-US" sz="2100" dirty="0"/>
          </a:p>
        </p:txBody>
      </p:sp>
      <p:sp>
        <p:nvSpPr>
          <p:cNvPr id="14" name="Desc passo @c2u"/>
          <p:cNvSpPr txBox="1"/>
          <p:nvPr/>
        </p:nvSpPr>
        <p:spPr>
          <a:xfrm>
            <a:off x="3710864" y="3703320"/>
            <a:ext cx="1973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Como eu me sinto com isso.</a:t>
            </a:r>
            <a:endParaRPr lang="en-US" sz="1400" dirty="0"/>
          </a:p>
        </p:txBody>
      </p:sp>
      <p:sp>
        <p:nvSpPr>
          <p:cNvPr id="15" name="Exemplo passo @c2u"/>
          <p:cNvSpPr txBox="1"/>
          <p:nvPr/>
        </p:nvSpPr>
        <p:spPr>
          <a:xfrm>
            <a:off x="3619424" y="4617720"/>
            <a:ext cx="2156384" cy="658368"/>
          </a:xfrm>
          <a:prstGeom prst="roundRect">
            <a:avLst>
              <a:gd name="adj" fmla="val 11111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2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“Fico preocupado…”</a:t>
            </a:r>
            <a:endParaRPr lang="en-US" sz="1400" dirty="0"/>
          </a:p>
        </p:txBody>
      </p:sp>
      <p:sp>
        <p:nvSpPr>
          <p:cNvPr id="16" name="Passo 3 @c3u"/>
          <p:cNvSpPr/>
          <p:nvPr/>
        </p:nvSpPr>
        <p:spPr>
          <a:xfrm>
            <a:off x="6233008" y="1691640"/>
            <a:ext cx="2522144" cy="3794760"/>
          </a:xfrm>
          <a:prstGeom prst="roundRect">
            <a:avLst>
              <a:gd name="adj" fmla="val 435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Icone passo @c3u" descr="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1984248"/>
            <a:ext cx="868680" cy="868680"/>
          </a:xfrm>
          <a:prstGeom prst="rect">
            <a:avLst/>
          </a:prstGeom>
        </p:spPr>
      </p:pic>
      <p:sp>
        <p:nvSpPr>
          <p:cNvPr id="18" name="Num passo @c3u"/>
          <p:cNvSpPr txBox="1"/>
          <p:nvPr/>
        </p:nvSpPr>
        <p:spPr>
          <a:xfrm>
            <a:off x="6507328" y="2990088"/>
            <a:ext cx="197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PASSO 3</a:t>
            </a:r>
            <a:endParaRPr lang="en-US" sz="1100" dirty="0"/>
          </a:p>
        </p:txBody>
      </p:sp>
      <p:sp>
        <p:nvSpPr>
          <p:cNvPr id="19" name="Nome passo @c3u"/>
          <p:cNvSpPr txBox="1"/>
          <p:nvPr/>
        </p:nvSpPr>
        <p:spPr>
          <a:xfrm>
            <a:off x="6507328" y="3264408"/>
            <a:ext cx="197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Necessidade</a:t>
            </a:r>
            <a:endParaRPr lang="en-US" sz="2100" dirty="0"/>
          </a:p>
        </p:txBody>
      </p:sp>
      <p:sp>
        <p:nvSpPr>
          <p:cNvPr id="20" name="Desc passo @c3u"/>
          <p:cNvSpPr txBox="1"/>
          <p:nvPr/>
        </p:nvSpPr>
        <p:spPr>
          <a:xfrm>
            <a:off x="6507328" y="3703320"/>
            <a:ext cx="1973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O que está em jogo para mim e para a equipe.</a:t>
            </a:r>
            <a:endParaRPr lang="en-US" sz="1400" dirty="0"/>
          </a:p>
        </p:txBody>
      </p:sp>
      <p:sp>
        <p:nvSpPr>
          <p:cNvPr id="21" name="Exemplo passo @c3u"/>
          <p:cNvSpPr txBox="1"/>
          <p:nvPr/>
        </p:nvSpPr>
        <p:spPr>
          <a:xfrm>
            <a:off x="6415888" y="4617720"/>
            <a:ext cx="2156384" cy="658368"/>
          </a:xfrm>
          <a:prstGeom prst="roundRect">
            <a:avLst>
              <a:gd name="adj" fmla="val 11111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2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“…porque preciso que…”</a:t>
            </a:r>
            <a:endParaRPr lang="en-US" sz="1400" dirty="0"/>
          </a:p>
        </p:txBody>
      </p:sp>
      <p:sp>
        <p:nvSpPr>
          <p:cNvPr id="22" name="Passo 4 @c4u"/>
          <p:cNvSpPr/>
          <p:nvPr/>
        </p:nvSpPr>
        <p:spPr>
          <a:xfrm>
            <a:off x="9029471" y="1691640"/>
            <a:ext cx="2522144" cy="3794760"/>
          </a:xfrm>
          <a:prstGeom prst="roundRect">
            <a:avLst>
              <a:gd name="adj" fmla="val 435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3" name="Icone passo @c4u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3791" y="1984248"/>
            <a:ext cx="868680" cy="868680"/>
          </a:xfrm>
          <a:prstGeom prst="rect">
            <a:avLst/>
          </a:prstGeom>
        </p:spPr>
      </p:pic>
      <p:sp>
        <p:nvSpPr>
          <p:cNvPr id="24" name="Num passo @c4u"/>
          <p:cNvSpPr txBox="1"/>
          <p:nvPr/>
        </p:nvSpPr>
        <p:spPr>
          <a:xfrm>
            <a:off x="9303791" y="2990088"/>
            <a:ext cx="197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PASSO 4</a:t>
            </a:r>
            <a:endParaRPr lang="en-US" sz="1100" dirty="0"/>
          </a:p>
        </p:txBody>
      </p:sp>
      <p:sp>
        <p:nvSpPr>
          <p:cNvPr id="25" name="Nome passo @c4u"/>
          <p:cNvSpPr txBox="1"/>
          <p:nvPr/>
        </p:nvSpPr>
        <p:spPr>
          <a:xfrm>
            <a:off x="9303791" y="3264408"/>
            <a:ext cx="197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Pedido</a:t>
            </a:r>
            <a:endParaRPr lang="en-US" sz="2100" dirty="0"/>
          </a:p>
        </p:txBody>
      </p:sp>
      <p:sp>
        <p:nvSpPr>
          <p:cNvPr id="26" name="Desc passo @c4u"/>
          <p:cNvSpPr txBox="1"/>
          <p:nvPr/>
        </p:nvSpPr>
        <p:spPr>
          <a:xfrm>
            <a:off x="9303791" y="3703320"/>
            <a:ext cx="19735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Uma ação clara, possível e com prazo.</a:t>
            </a:r>
            <a:endParaRPr lang="en-US" sz="1400" dirty="0"/>
          </a:p>
        </p:txBody>
      </p:sp>
      <p:sp>
        <p:nvSpPr>
          <p:cNvPr id="27" name="Exemplo passo @c4u"/>
          <p:cNvSpPr txBox="1"/>
          <p:nvPr/>
        </p:nvSpPr>
        <p:spPr>
          <a:xfrm>
            <a:off x="9212351" y="4617720"/>
            <a:ext cx="2156384" cy="658368"/>
          </a:xfrm>
          <a:prstGeom prst="roundRect">
            <a:avLst>
              <a:gd name="adj" fmla="val 11111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2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“Você pode…?”</a:t>
            </a:r>
            <a:endParaRPr lang="en-US" sz="1400" dirty="0"/>
          </a:p>
        </p:txBody>
      </p:sp>
      <p:sp>
        <p:nvSpPr>
          <p:cNvPr id="28" name="Sintese @c4u.2"/>
          <p:cNvSpPr txBox="1"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Observação + sentimento + necessidade + pedido = cobrança firme e respeitosa.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CNV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mesma cobrança, dois jeitos</a:t>
            </a:r>
            <a:endParaRPr lang="en-US" sz="3200" dirty="0"/>
          </a:p>
        </p:txBody>
      </p:sp>
      <p:sp>
        <p:nvSpPr>
          <p:cNvPr id="4" name="Evite @a1u"/>
          <p:cNvSpPr/>
          <p:nvPr/>
        </p:nvSpPr>
        <p:spPr>
          <a:xfrm>
            <a:off x="640080" y="1691640"/>
            <a:ext cx="4480560" cy="3611880"/>
          </a:xfrm>
          <a:prstGeom prst="roundRect">
            <a:avLst>
              <a:gd name="adj" fmla="val 3038"/>
            </a:avLst>
          </a:prstGeom>
          <a:solidFill>
            <a:schemeClr val="accent5">
              <a:alpha val="8000"/>
            </a:schemeClr>
          </a:solidFill>
          <a:ln w="9525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5" name="Icone evite @a1u" descr="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38528"/>
            <a:ext cx="384048" cy="384048"/>
          </a:xfrm>
          <a:prstGeom prst="rect">
            <a:avLst/>
          </a:prstGeom>
        </p:spPr>
      </p:pic>
      <p:sp>
        <p:nvSpPr>
          <p:cNvPr id="6" name="Rotulo evite @a1u"/>
          <p:cNvSpPr txBox="1"/>
          <p:nvPr/>
        </p:nvSpPr>
        <p:spPr>
          <a:xfrm>
            <a:off x="1417320" y="1938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EVITE</a:t>
            </a:r>
            <a:endParaRPr lang="en-US" sz="1300" dirty="0"/>
          </a:p>
        </p:txBody>
      </p:sp>
      <p:sp>
        <p:nvSpPr>
          <p:cNvPr id="7" name="Frase evite @a1u"/>
          <p:cNvSpPr txBox="1"/>
          <p:nvPr/>
        </p:nvSpPr>
        <p:spPr>
          <a:xfrm>
            <a:off x="914400" y="256032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“Você nunca usa a luva! Quer se machucar? Da próxima vez vai ter advertência.”</a:t>
            </a:r>
            <a:endParaRPr lang="en-US" sz="2100" dirty="0"/>
          </a:p>
        </p:txBody>
      </p:sp>
      <p:sp>
        <p:nvSpPr>
          <p:cNvPr id="8" name="Efeitos evite @a1u"/>
          <p:cNvSpPr txBox="1"/>
          <p:nvPr/>
        </p:nvSpPr>
        <p:spPr>
          <a:xfrm>
            <a:off x="914400" y="4663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Rotula a pessoa  ·  Ameaça  ·  Gera defesa</a:t>
            </a:r>
            <a:endParaRPr lang="en-US" sz="1300" dirty="0"/>
          </a:p>
        </p:txBody>
      </p:sp>
      <p:sp>
        <p:nvSpPr>
          <p:cNvPr id="9" name="Com CNV @c1u"/>
          <p:cNvSpPr/>
          <p:nvPr/>
        </p:nvSpPr>
        <p:spPr>
          <a:xfrm>
            <a:off x="5394960" y="1691640"/>
            <a:ext cx="6156655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0" name="Icone CNV @c1u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938528"/>
            <a:ext cx="384048" cy="384048"/>
          </a:xfrm>
          <a:prstGeom prst="rect">
            <a:avLst/>
          </a:prstGeom>
        </p:spPr>
      </p:pic>
      <p:sp>
        <p:nvSpPr>
          <p:cNvPr id="11" name="Rotulo CNV @c1u"/>
          <p:cNvSpPr txBox="1"/>
          <p:nvPr/>
        </p:nvSpPr>
        <p:spPr>
          <a:xfrm>
            <a:off x="6172200" y="1938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</a:rPr>
              <a:t>COM CNV</a:t>
            </a:r>
            <a:endParaRPr lang="en-US" sz="1300" dirty="0"/>
          </a:p>
        </p:txBody>
      </p:sp>
      <p:sp>
        <p:nvSpPr>
          <p:cNvPr id="12" name="Etiqueta @c1u.1"/>
          <p:cNvSpPr txBox="1"/>
          <p:nvPr/>
        </p:nvSpPr>
        <p:spPr>
          <a:xfrm>
            <a:off x="5669280" y="2569464"/>
            <a:ext cx="141732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6350">
            <a:solidFill>
              <a:schemeClr val="accent3">
                <a:alpha val="5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OBSERVAÇÃO</a:t>
            </a:r>
            <a:endParaRPr lang="en-US" sz="1000" dirty="0"/>
          </a:p>
        </p:txBody>
      </p:sp>
      <p:sp>
        <p:nvSpPr>
          <p:cNvPr id="13" name="Linha @c1u.1"/>
          <p:cNvSpPr txBox="1"/>
          <p:nvPr/>
        </p:nvSpPr>
        <p:spPr>
          <a:xfrm>
            <a:off x="7223760" y="2514600"/>
            <a:ext cx="4053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Hoje, na doca 3, vi você descarregando sem a luva.</a:t>
            </a:r>
            <a:endParaRPr lang="en-US" sz="1500" dirty="0"/>
          </a:p>
        </p:txBody>
      </p:sp>
      <p:sp>
        <p:nvSpPr>
          <p:cNvPr id="14" name="Etiqueta @c1u.2"/>
          <p:cNvSpPr txBox="1"/>
          <p:nvPr/>
        </p:nvSpPr>
        <p:spPr>
          <a:xfrm>
            <a:off x="5669280" y="3255264"/>
            <a:ext cx="141732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6350">
            <a:solidFill>
              <a:schemeClr val="accent3">
                <a:alpha val="5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SENTIMENTO</a:t>
            </a:r>
            <a:endParaRPr lang="en-US" sz="1000" dirty="0"/>
          </a:p>
        </p:txBody>
      </p:sp>
      <p:sp>
        <p:nvSpPr>
          <p:cNvPr id="15" name="Linha @c1u.2"/>
          <p:cNvSpPr txBox="1"/>
          <p:nvPr/>
        </p:nvSpPr>
        <p:spPr>
          <a:xfrm>
            <a:off x="7223760" y="3200400"/>
            <a:ext cx="4053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Fico preocupado,</a:t>
            </a:r>
            <a:endParaRPr lang="en-US" sz="1500" dirty="0"/>
          </a:p>
        </p:txBody>
      </p:sp>
      <p:sp>
        <p:nvSpPr>
          <p:cNvPr id="16" name="Etiqueta @c1u.3"/>
          <p:cNvSpPr txBox="1"/>
          <p:nvPr/>
        </p:nvSpPr>
        <p:spPr>
          <a:xfrm>
            <a:off x="5669280" y="3941064"/>
            <a:ext cx="141732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6350">
            <a:solidFill>
              <a:schemeClr val="accent3">
                <a:alpha val="5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NECESSIDADE</a:t>
            </a:r>
            <a:endParaRPr lang="en-US" sz="1000" dirty="0"/>
          </a:p>
        </p:txBody>
      </p:sp>
      <p:sp>
        <p:nvSpPr>
          <p:cNvPr id="17" name="Linha @c1u.3"/>
          <p:cNvSpPr txBox="1"/>
          <p:nvPr/>
        </p:nvSpPr>
        <p:spPr>
          <a:xfrm>
            <a:off x="7223760" y="3886200"/>
            <a:ext cx="4053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porque preciso que todo mundo termine o turno inteiro.</a:t>
            </a:r>
            <a:endParaRPr lang="en-US" sz="1500" dirty="0"/>
          </a:p>
        </p:txBody>
      </p:sp>
      <p:sp>
        <p:nvSpPr>
          <p:cNvPr id="18" name="Etiqueta @c1u.4"/>
          <p:cNvSpPr txBox="1"/>
          <p:nvPr/>
        </p:nvSpPr>
        <p:spPr>
          <a:xfrm>
            <a:off x="5669280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6350">
            <a:solidFill>
              <a:schemeClr val="accent3">
                <a:alpha val="5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</a:rPr>
              <a:t>PEDIDO</a:t>
            </a:r>
            <a:endParaRPr lang="en-US" sz="1000" dirty="0"/>
          </a:p>
        </p:txBody>
      </p:sp>
      <p:sp>
        <p:nvSpPr>
          <p:cNvPr id="19" name="Linha @c1u.4"/>
          <p:cNvSpPr txBox="1"/>
          <p:nvPr/>
        </p:nvSpPr>
        <p:spPr>
          <a:xfrm>
            <a:off x="7223760" y="4572000"/>
            <a:ext cx="4053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Você pode colocar agora e me avisar se a luva estiver ruim?</a:t>
            </a:r>
            <a:endParaRPr lang="en-US" sz="1500" dirty="0"/>
          </a:p>
        </p:txBody>
      </p:sp>
      <p:sp>
        <p:nvSpPr>
          <p:cNvPr id="20" name="Firmeza @c2f"/>
          <p:cNvSpPr txBox="1"/>
          <p:nvPr/>
        </p:nvSpPr>
        <p:spPr>
          <a:xfrm>
            <a:off x="640080" y="557784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Firmeza continua: se repetir, a medida disciplinar acontece — com respeito.</a:t>
            </a:r>
            <a:endParaRPr lang="en-US" sz="16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SAÍDA DE COLABORADORES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Saída durante o turno: o caminho certo</a:t>
            </a:r>
            <a:endParaRPr lang="en-US" sz="3200" dirty="0"/>
          </a:p>
        </p:txBody>
      </p:sp>
      <p:sp>
        <p:nvSpPr>
          <p:cNvPr id="4" name="Circulo etapa @a1u"/>
          <p:cNvSpPr/>
          <p:nvPr/>
        </p:nvSpPr>
        <p:spPr>
          <a:xfrm>
            <a:off x="640080" y="1783080"/>
            <a:ext cx="1188720" cy="11887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>
                <a:alpha val="45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10000"/>
              </a:srgbClr>
            </a:outerShdw>
          </a:effectLst>
        </p:spPr>
      </p:sp>
      <p:pic>
        <p:nvPicPr>
          <p:cNvPr id="5" name="Icone etapa @a1u" descr="ra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749808" cy="749808"/>
          </a:xfrm>
          <a:prstGeom prst="rect">
            <a:avLst/>
          </a:prstGeom>
        </p:spPr>
      </p:pic>
      <p:sp>
        <p:nvSpPr>
          <p:cNvPr id="6" name="Numero etapa @a1u"/>
          <p:cNvSpPr txBox="1"/>
          <p:nvPr/>
        </p:nvSpPr>
        <p:spPr>
          <a:xfrm>
            <a:off x="594360" y="173736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itulo etapa @a1u"/>
          <p:cNvSpPr txBox="1"/>
          <p:nvPr/>
        </p:nvSpPr>
        <p:spPr>
          <a:xfrm>
            <a:off x="338328" y="313639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Colaborador avisa o líder</a:t>
            </a:r>
            <a:endParaRPr lang="en-US" sz="1400" dirty="0"/>
          </a:p>
        </p:txBody>
      </p:sp>
      <p:sp>
        <p:nvSpPr>
          <p:cNvPr id="8" name="Sub etapa @a1u"/>
          <p:cNvSpPr txBox="1"/>
          <p:nvPr/>
        </p:nvSpPr>
        <p:spPr>
          <a:xfrm>
            <a:off x="338328" y="373989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Mal-estar, acidente ou motivo pessoal</a:t>
            </a:r>
            <a:endParaRPr lang="en-US" sz="1200" dirty="0"/>
          </a:p>
        </p:txBody>
      </p:sp>
      <p:sp>
        <p:nvSpPr>
          <p:cNvPr id="9" name="Seta etapa @a1w.1"/>
          <p:cNvSpPr/>
          <p:nvPr/>
        </p:nvSpPr>
        <p:spPr>
          <a:xfrm>
            <a:off x="1901952" y="2377440"/>
            <a:ext cx="609539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Circulo etapa @a2u"/>
          <p:cNvSpPr/>
          <p:nvPr/>
        </p:nvSpPr>
        <p:spPr>
          <a:xfrm>
            <a:off x="2584643" y="1783080"/>
            <a:ext cx="1188720" cy="11887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>
                <a:alpha val="45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10000"/>
              </a:srgbClr>
            </a:outerShdw>
          </a:effectLst>
        </p:spPr>
      </p:sp>
      <p:pic>
        <p:nvPicPr>
          <p:cNvPr id="11" name="Icone etapa @a2u" descr="mega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99" y="2002536"/>
            <a:ext cx="749808" cy="749808"/>
          </a:xfrm>
          <a:prstGeom prst="rect">
            <a:avLst/>
          </a:prstGeom>
        </p:spPr>
      </p:pic>
      <p:sp>
        <p:nvSpPr>
          <p:cNvPr id="12" name="Numero etapa @a2u"/>
          <p:cNvSpPr txBox="1"/>
          <p:nvPr/>
        </p:nvSpPr>
        <p:spPr>
          <a:xfrm>
            <a:off x="2538923" y="173736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itulo etapa @a2u"/>
          <p:cNvSpPr txBox="1"/>
          <p:nvPr/>
        </p:nvSpPr>
        <p:spPr>
          <a:xfrm>
            <a:off x="2282891" y="313639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Líder aciona o BC de plantão</a:t>
            </a:r>
            <a:endParaRPr lang="en-US" sz="1400" dirty="0"/>
          </a:p>
        </p:txBody>
      </p:sp>
      <p:sp>
        <p:nvSpPr>
          <p:cNvPr id="14" name="Sub etapa @a2u"/>
          <p:cNvSpPr txBox="1"/>
          <p:nvPr/>
        </p:nvSpPr>
        <p:spPr>
          <a:xfrm>
            <a:off x="2282891" y="373989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Saúde ou acidente: BC sempre</a:t>
            </a:r>
            <a:endParaRPr lang="en-US" sz="1200" dirty="0"/>
          </a:p>
        </p:txBody>
      </p:sp>
      <p:sp>
        <p:nvSpPr>
          <p:cNvPr id="15" name="Seta etapa @a2w.1"/>
          <p:cNvSpPr/>
          <p:nvPr/>
        </p:nvSpPr>
        <p:spPr>
          <a:xfrm>
            <a:off x="3846515" y="2377440"/>
            <a:ext cx="609539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Circulo etapa @a3u"/>
          <p:cNvSpPr/>
          <p:nvPr/>
        </p:nvSpPr>
        <p:spPr>
          <a:xfrm>
            <a:off x="4529206" y="1783080"/>
            <a:ext cx="1188720" cy="11887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>
                <a:alpha val="45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10000"/>
              </a:srgbClr>
            </a:outerShdw>
          </a:effectLst>
        </p:spPr>
      </p:sp>
      <p:pic>
        <p:nvPicPr>
          <p:cNvPr id="17" name="Icone etapa @a3u" descr="medi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662" y="2002536"/>
            <a:ext cx="749808" cy="749808"/>
          </a:xfrm>
          <a:prstGeom prst="rect">
            <a:avLst/>
          </a:prstGeom>
        </p:spPr>
      </p:pic>
      <p:sp>
        <p:nvSpPr>
          <p:cNvPr id="18" name="Numero etapa @a3u"/>
          <p:cNvSpPr txBox="1"/>
          <p:nvPr/>
        </p:nvSpPr>
        <p:spPr>
          <a:xfrm>
            <a:off x="4483486" y="173736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itulo etapa @a3u"/>
          <p:cNvSpPr txBox="1"/>
          <p:nvPr/>
        </p:nvSpPr>
        <p:spPr>
          <a:xfrm>
            <a:off x="4227454" y="313639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BC avalia e atende</a:t>
            </a:r>
            <a:endParaRPr lang="en-US" sz="1400" dirty="0"/>
          </a:p>
        </p:txBody>
      </p:sp>
      <p:sp>
        <p:nvSpPr>
          <p:cNvPr id="20" name="Sub etapa @a3u"/>
          <p:cNvSpPr txBox="1"/>
          <p:nvPr/>
        </p:nvSpPr>
        <p:spPr>
          <a:xfrm>
            <a:off x="4227454" y="373989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Primeiro atendimento e decisão</a:t>
            </a:r>
            <a:endParaRPr lang="en-US" sz="1200" dirty="0"/>
          </a:p>
        </p:txBody>
      </p:sp>
      <p:sp>
        <p:nvSpPr>
          <p:cNvPr id="21" name="Seta etapa @a3w.1"/>
          <p:cNvSpPr/>
          <p:nvPr/>
        </p:nvSpPr>
        <p:spPr>
          <a:xfrm>
            <a:off x="5791078" y="2377440"/>
            <a:ext cx="609539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Circulo etapa @a4u"/>
          <p:cNvSpPr/>
          <p:nvPr/>
        </p:nvSpPr>
        <p:spPr>
          <a:xfrm>
            <a:off x="6473769" y="1783080"/>
            <a:ext cx="1188720" cy="11887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>
                <a:alpha val="45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10000"/>
              </a:srgbClr>
            </a:outerShdw>
          </a:effectLst>
        </p:spPr>
      </p:sp>
      <p:pic>
        <p:nvPicPr>
          <p:cNvPr id="23" name="Icone etapa @a4u" descr="ledg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225" y="2002536"/>
            <a:ext cx="749808" cy="749808"/>
          </a:xfrm>
          <a:prstGeom prst="rect">
            <a:avLst/>
          </a:prstGeom>
        </p:spPr>
      </p:pic>
      <p:sp>
        <p:nvSpPr>
          <p:cNvPr id="24" name="Numero etapa @a4u"/>
          <p:cNvSpPr txBox="1"/>
          <p:nvPr/>
        </p:nvSpPr>
        <p:spPr>
          <a:xfrm>
            <a:off x="6428049" y="173736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itulo etapa @a4u"/>
          <p:cNvSpPr txBox="1"/>
          <p:nvPr/>
        </p:nvSpPr>
        <p:spPr>
          <a:xfrm>
            <a:off x="6172017" y="313639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Registro no livro</a:t>
            </a:r>
            <a:endParaRPr lang="en-US" sz="1400" dirty="0"/>
          </a:p>
        </p:txBody>
      </p:sp>
      <p:sp>
        <p:nvSpPr>
          <p:cNvPr id="26" name="Sub etapa @a4u"/>
          <p:cNvSpPr txBox="1"/>
          <p:nvPr/>
        </p:nvSpPr>
        <p:spPr>
          <a:xfrm>
            <a:off x="6172017" y="373989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Antes de a pessoa sair</a:t>
            </a:r>
            <a:endParaRPr lang="en-US" sz="1200" dirty="0"/>
          </a:p>
        </p:txBody>
      </p:sp>
      <p:sp>
        <p:nvSpPr>
          <p:cNvPr id="27" name="Seta etapa @a4w.1"/>
          <p:cNvSpPr/>
          <p:nvPr/>
        </p:nvSpPr>
        <p:spPr>
          <a:xfrm>
            <a:off x="7735641" y="2377440"/>
            <a:ext cx="609539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Circulo etapa @a5u"/>
          <p:cNvSpPr/>
          <p:nvPr/>
        </p:nvSpPr>
        <p:spPr>
          <a:xfrm>
            <a:off x="8418332" y="1783080"/>
            <a:ext cx="1188720" cy="11887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>
                <a:alpha val="45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10000"/>
              </a:srgbClr>
            </a:outerShdw>
          </a:effectLst>
        </p:spPr>
      </p:sp>
      <p:pic>
        <p:nvPicPr>
          <p:cNvPr id="29" name="Icone etapa @a5u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7788" y="2002536"/>
            <a:ext cx="749808" cy="749808"/>
          </a:xfrm>
          <a:prstGeom prst="rect">
            <a:avLst/>
          </a:prstGeom>
        </p:spPr>
      </p:pic>
      <p:sp>
        <p:nvSpPr>
          <p:cNvPr id="30" name="Numero etapa @a5u"/>
          <p:cNvSpPr txBox="1"/>
          <p:nvPr/>
        </p:nvSpPr>
        <p:spPr>
          <a:xfrm>
            <a:off x="8372612" y="173736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itulo etapa @a5u"/>
          <p:cNvSpPr txBox="1"/>
          <p:nvPr/>
        </p:nvSpPr>
        <p:spPr>
          <a:xfrm>
            <a:off x="8116580" y="313639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Encaminhamento ou liberação</a:t>
            </a:r>
            <a:endParaRPr lang="en-US" sz="1400" dirty="0"/>
          </a:p>
        </p:txBody>
      </p:sp>
      <p:sp>
        <p:nvSpPr>
          <p:cNvPr id="32" name="Sub etapa @a5u"/>
          <p:cNvSpPr txBox="1"/>
          <p:nvPr/>
        </p:nvSpPr>
        <p:spPr>
          <a:xfrm>
            <a:off x="8116580" y="373989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Casa, UPA ou hospital</a:t>
            </a:r>
            <a:endParaRPr lang="en-US" sz="1200" dirty="0"/>
          </a:p>
        </p:txBody>
      </p:sp>
      <p:sp>
        <p:nvSpPr>
          <p:cNvPr id="33" name="Seta etapa @a5w.1"/>
          <p:cNvSpPr/>
          <p:nvPr/>
        </p:nvSpPr>
        <p:spPr>
          <a:xfrm>
            <a:off x="9680204" y="2377440"/>
            <a:ext cx="609539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Circulo etapa @a6u"/>
          <p:cNvSpPr/>
          <p:nvPr/>
        </p:nvSpPr>
        <p:spPr>
          <a:xfrm>
            <a:off x="10362895" y="1783080"/>
            <a:ext cx="1188720" cy="11887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>
                <a:alpha val="45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10000"/>
              </a:srgbClr>
            </a:outerShdw>
          </a:effectLst>
        </p:spPr>
      </p:sp>
      <p:pic>
        <p:nvPicPr>
          <p:cNvPr id="35" name="Icone etapa @a6u" descr="clipbo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351" y="2002536"/>
            <a:ext cx="749808" cy="749808"/>
          </a:xfrm>
          <a:prstGeom prst="rect">
            <a:avLst/>
          </a:prstGeom>
        </p:spPr>
      </p:pic>
      <p:sp>
        <p:nvSpPr>
          <p:cNvPr id="36" name="Numero etapa @a6u"/>
          <p:cNvSpPr txBox="1"/>
          <p:nvPr/>
        </p:nvSpPr>
        <p:spPr>
          <a:xfrm>
            <a:off x="10317175" y="173736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7" name="Titulo etapa @a6u"/>
          <p:cNvSpPr txBox="1"/>
          <p:nvPr/>
        </p:nvSpPr>
        <p:spPr>
          <a:xfrm>
            <a:off x="10061143" y="313639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RH e SESMT informados</a:t>
            </a:r>
            <a:endParaRPr lang="en-US" sz="1400" dirty="0"/>
          </a:p>
        </p:txBody>
      </p:sp>
      <p:sp>
        <p:nvSpPr>
          <p:cNvPr id="38" name="Sub etapa @a6u"/>
          <p:cNvSpPr txBox="1"/>
          <p:nvPr/>
        </p:nvSpPr>
        <p:spPr>
          <a:xfrm>
            <a:off x="10061143" y="373989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Acidente: abrir a CAT</a:t>
            </a:r>
            <a:endParaRPr lang="en-US" sz="1200" dirty="0"/>
          </a:p>
        </p:txBody>
      </p:sp>
      <p:sp>
        <p:nvSpPr>
          <p:cNvPr id="39" name="Regra de ouro @a7u"/>
          <p:cNvSpPr/>
          <p:nvPr/>
        </p:nvSpPr>
        <p:spPr>
          <a:xfrm>
            <a:off x="640080" y="4937760"/>
            <a:ext cx="10911535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pic>
        <p:nvPicPr>
          <p:cNvPr id="40" name="Icone regra @a7u" descr="war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074920"/>
            <a:ext cx="502920" cy="502920"/>
          </a:xfrm>
          <a:prstGeom prst="rect">
            <a:avLst/>
          </a:prstGeom>
        </p:spPr>
      </p:pic>
      <p:sp>
        <p:nvSpPr>
          <p:cNvPr id="41" name="Texto regra @a7u"/>
          <p:cNvSpPr txBox="1"/>
          <p:nvPr/>
        </p:nvSpPr>
        <p:spPr>
          <a:xfrm>
            <a:off x="1600200" y="4937760"/>
            <a:ext cx="9722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Nunca libere “de boca”: </a:t>
            </a:r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sem BC e sem livro, a saída não aconteceu oficialmente.</a:t>
            </a:r>
            <a:endParaRPr lang="en-US" sz="17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6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6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39" grpId="0" animBg="1"/>
      <p:bldP spid="4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SAÍDA DE COLABORADORES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não está no livro, não aconteceu</a:t>
            </a:r>
            <a:endParaRPr lang="en-US" sz="3200" dirty="0"/>
          </a:p>
        </p:txBody>
      </p:sp>
      <p:sp>
        <p:nvSpPr>
          <p:cNvPr id="4" name="Checklist livro @a1f"/>
          <p:cNvSpPr/>
          <p:nvPr/>
        </p:nvSpPr>
        <p:spPr>
          <a:xfrm>
            <a:off x="640080" y="1691640"/>
            <a:ext cx="658368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livro @a1f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548640" cy="548640"/>
          </a:xfrm>
          <a:prstGeom prst="rect">
            <a:avLst/>
          </a:prstGeom>
        </p:spPr>
      </p:pic>
      <p:sp>
        <p:nvSpPr>
          <p:cNvPr id="6" name="Titulo checklist @a1f"/>
          <p:cNvSpPr txBox="1"/>
          <p:nvPr/>
        </p:nvSpPr>
        <p:spPr>
          <a:xfrm>
            <a:off x="1600200" y="1874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O REGISTRO PRECISA TER</a:t>
            </a:r>
            <a:endParaRPr lang="en-US" sz="1300" dirty="0"/>
          </a:p>
        </p:txBody>
      </p:sp>
      <p:pic>
        <p:nvPicPr>
          <p:cNvPr id="7" name="Check @a1u.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10896" cy="310896"/>
          </a:xfrm>
          <a:prstGeom prst="rect">
            <a:avLst/>
          </a:prstGeom>
        </p:spPr>
      </p:pic>
      <p:sp>
        <p:nvSpPr>
          <p:cNvPr id="8" name="Item @a1u.1"/>
          <p:cNvSpPr txBox="1"/>
          <p:nvPr/>
        </p:nvSpPr>
        <p:spPr>
          <a:xfrm>
            <a:off x="137160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Data e hora</a:t>
            </a:r>
            <a:endParaRPr lang="en-US" sz="1400" dirty="0"/>
          </a:p>
        </p:txBody>
      </p:sp>
      <p:pic>
        <p:nvPicPr>
          <p:cNvPr id="9" name="Check @a1u.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410712"/>
            <a:ext cx="310896" cy="310896"/>
          </a:xfrm>
          <a:prstGeom prst="rect">
            <a:avLst/>
          </a:prstGeom>
        </p:spPr>
      </p:pic>
      <p:sp>
        <p:nvSpPr>
          <p:cNvPr id="10" name="Item @a1u.2"/>
          <p:cNvSpPr txBox="1"/>
          <p:nvPr/>
        </p:nvSpPr>
        <p:spPr>
          <a:xfrm>
            <a:off x="1371600" y="3383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Nome e matrícula</a:t>
            </a:r>
            <a:endParaRPr lang="en-US" sz="1400" dirty="0"/>
          </a:p>
        </p:txBody>
      </p:sp>
      <p:pic>
        <p:nvPicPr>
          <p:cNvPr id="11" name="Check @a1u.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96512"/>
            <a:ext cx="310896" cy="310896"/>
          </a:xfrm>
          <a:prstGeom prst="rect">
            <a:avLst/>
          </a:prstGeom>
        </p:spPr>
      </p:pic>
      <p:sp>
        <p:nvSpPr>
          <p:cNvPr id="12" name="Item @a1u.3"/>
          <p:cNvSpPr txBox="1"/>
          <p:nvPr/>
        </p:nvSpPr>
        <p:spPr>
          <a:xfrm>
            <a:off x="1371600" y="4069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Setor e turno</a:t>
            </a:r>
            <a:endParaRPr lang="en-US" sz="1400" dirty="0"/>
          </a:p>
        </p:txBody>
      </p:sp>
      <p:pic>
        <p:nvPicPr>
          <p:cNvPr id="13" name="Check @a1u.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782312"/>
            <a:ext cx="310896" cy="310896"/>
          </a:xfrm>
          <a:prstGeom prst="rect">
            <a:avLst/>
          </a:prstGeom>
        </p:spPr>
      </p:pic>
      <p:sp>
        <p:nvSpPr>
          <p:cNvPr id="14" name="Item @a1u.4"/>
          <p:cNvSpPr txBox="1"/>
          <p:nvPr/>
        </p:nvSpPr>
        <p:spPr>
          <a:xfrm>
            <a:off x="1371600" y="4754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Motivo da saída</a:t>
            </a:r>
            <a:endParaRPr lang="en-US" sz="1400" dirty="0"/>
          </a:p>
        </p:txBody>
      </p:sp>
      <p:pic>
        <p:nvPicPr>
          <p:cNvPr id="15" name="Check @a1u.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2724912"/>
            <a:ext cx="310896" cy="310896"/>
          </a:xfrm>
          <a:prstGeom prst="rect">
            <a:avLst/>
          </a:prstGeom>
        </p:spPr>
      </p:pic>
      <p:sp>
        <p:nvSpPr>
          <p:cNvPr id="16" name="Item @a1u.5"/>
          <p:cNvSpPr txBox="1"/>
          <p:nvPr/>
        </p:nvSpPr>
        <p:spPr>
          <a:xfrm>
            <a:off x="452628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Quem atendeu (BC) e o que fez</a:t>
            </a:r>
            <a:endParaRPr lang="en-US" sz="1400" dirty="0"/>
          </a:p>
        </p:txBody>
      </p:sp>
      <p:pic>
        <p:nvPicPr>
          <p:cNvPr id="17" name="Check @a1u.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3410712"/>
            <a:ext cx="310896" cy="310896"/>
          </a:xfrm>
          <a:prstGeom prst="rect">
            <a:avLst/>
          </a:prstGeom>
        </p:spPr>
      </p:pic>
      <p:sp>
        <p:nvSpPr>
          <p:cNvPr id="18" name="Item @a1u.6"/>
          <p:cNvSpPr txBox="1"/>
          <p:nvPr/>
        </p:nvSpPr>
        <p:spPr>
          <a:xfrm>
            <a:off x="4526280" y="3383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Quem autorizou a saída</a:t>
            </a:r>
            <a:endParaRPr lang="en-US" sz="1400" dirty="0"/>
          </a:p>
        </p:txBody>
      </p:sp>
      <p:pic>
        <p:nvPicPr>
          <p:cNvPr id="19" name="Check @a1u.7" descr="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0" y="4096512"/>
            <a:ext cx="310896" cy="310896"/>
          </a:xfrm>
          <a:prstGeom prst="rect">
            <a:avLst/>
          </a:prstGeom>
        </p:spPr>
      </p:pic>
      <p:sp>
        <p:nvSpPr>
          <p:cNvPr id="20" name="Item @a1u.7"/>
          <p:cNvSpPr txBox="1"/>
          <p:nvPr/>
        </p:nvSpPr>
        <p:spPr>
          <a:xfrm>
            <a:off x="4526280" y="4069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Encaminhamento (casa, UPA, hospital)</a:t>
            </a:r>
            <a:endParaRPr lang="en-US" sz="1400" dirty="0"/>
          </a:p>
        </p:txBody>
      </p:sp>
      <p:pic>
        <p:nvPicPr>
          <p:cNvPr id="21" name="Check @a1u.8" descr="che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14800" y="4782312"/>
            <a:ext cx="310896" cy="310896"/>
          </a:xfrm>
          <a:prstGeom prst="rect">
            <a:avLst/>
          </a:prstGeom>
        </p:spPr>
      </p:pic>
      <p:sp>
        <p:nvSpPr>
          <p:cNvPr id="22" name="Item @a1u.8"/>
          <p:cNvSpPr txBox="1"/>
          <p:nvPr/>
        </p:nvSpPr>
        <p:spPr>
          <a:xfrm>
            <a:off x="4526280" y="4754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Assinaturas do líder e do BC</a:t>
            </a:r>
            <a:endParaRPr lang="en-US" sz="1400" dirty="0"/>
          </a:p>
        </p:txBody>
      </p:sp>
      <p:sp>
        <p:nvSpPr>
          <p:cNvPr id="23" name="Acidente @a2z"/>
          <p:cNvSpPr/>
          <p:nvPr/>
        </p:nvSpPr>
        <p:spPr>
          <a:xfrm>
            <a:off x="7498080" y="1691640"/>
            <a:ext cx="4053535" cy="2514600"/>
          </a:xfrm>
          <a:prstGeom prst="roundRect">
            <a:avLst>
              <a:gd name="adj" fmla="val 436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4" name="Rotulo acidente @a2z"/>
          <p:cNvSpPr txBox="1"/>
          <p:nvPr/>
        </p:nvSpPr>
        <p:spPr>
          <a:xfrm>
            <a:off x="7772400" y="1920240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ACIDENTE DE TRABALHO</a:t>
            </a:r>
            <a:endParaRPr lang="en-US" sz="1200" dirty="0"/>
          </a:p>
        </p:txBody>
      </p:sp>
      <p:sp>
        <p:nvSpPr>
          <p:cNvPr id="25" name="Texto acidente @a2z"/>
          <p:cNvSpPr txBox="1"/>
          <p:nvPr/>
        </p:nvSpPr>
        <p:spPr>
          <a:xfrm>
            <a:off x="7772400" y="2286000"/>
            <a:ext cx="35048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A empresa deve emitir a CAT até o 1º dia útil seguinte — em caso de morte, imediatamente.</a:t>
            </a:r>
            <a:endParaRPr lang="en-US" sz="1600" dirty="0"/>
          </a:p>
        </p:txBody>
      </p:sp>
      <p:sp>
        <p:nvSpPr>
          <p:cNvPr id="26" name="Fonte acidente @a2z"/>
          <p:cNvSpPr txBox="1"/>
          <p:nvPr/>
        </p:nvSpPr>
        <p:spPr>
          <a:xfrm>
            <a:off x="7772400" y="3703320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Lei 8.213/91, art. 22</a:t>
            </a:r>
            <a:endParaRPr lang="en-US" sz="1100" dirty="0"/>
          </a:p>
        </p:txBody>
      </p:sp>
      <p:sp>
        <p:nvSpPr>
          <p:cNvPr id="27" name="Por que registrar @a3u"/>
          <p:cNvSpPr/>
          <p:nvPr/>
        </p:nvSpPr>
        <p:spPr>
          <a:xfrm>
            <a:off x="7498080" y="4389120"/>
            <a:ext cx="4053535" cy="1325880"/>
          </a:xfrm>
          <a:prstGeom prst="roundRect">
            <a:avLst>
              <a:gd name="adj" fmla="val 8276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  <a:prstDash val="solid"/>
          </a:ln>
        </p:spPr>
      </p:sp>
      <p:sp>
        <p:nvSpPr>
          <p:cNvPr id="28" name="Texto por que @a3u"/>
          <p:cNvSpPr txBox="1"/>
          <p:nvPr/>
        </p:nvSpPr>
        <p:spPr>
          <a:xfrm>
            <a:off x="7772400" y="4480560"/>
            <a:ext cx="35048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Por que registrar?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Protege o colaborador, o líder e a empresa — e permite investigar para não repetir.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EPI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EPI: entregar certo é obrigação</a:t>
            </a:r>
            <a:endParaRPr lang="en-US" sz="3200" dirty="0"/>
          </a:p>
        </p:txBody>
      </p:sp>
      <p:sp>
        <p:nvSpPr>
          <p:cNvPr id="4" name="Faixa EPI @a1f"/>
          <p:cNvSpPr/>
          <p:nvPr/>
        </p:nvSpPr>
        <p:spPr>
          <a:xfrm>
            <a:off x="640080" y="1536192"/>
            <a:ext cx="10911535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EPI Capacete @a1z.1" descr="hard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327" y="1627632"/>
            <a:ext cx="768096" cy="768096"/>
          </a:xfrm>
          <a:prstGeom prst="rect">
            <a:avLst/>
          </a:prstGeom>
        </p:spPr>
      </p:pic>
      <p:sp>
        <p:nvSpPr>
          <p:cNvPr id="6" name="Nome EPI @a1z.1"/>
          <p:cNvSpPr txBox="1"/>
          <p:nvPr/>
        </p:nvSpPr>
        <p:spPr>
          <a:xfrm>
            <a:off x="685800" y="2450592"/>
            <a:ext cx="1727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Capacete</a:t>
            </a:r>
            <a:endParaRPr lang="en-US" sz="1200" dirty="0"/>
          </a:p>
        </p:txBody>
      </p:sp>
      <p:pic>
        <p:nvPicPr>
          <p:cNvPr id="7" name="EPI Óculos @a1z.2" descr="gogg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916" y="1627632"/>
            <a:ext cx="768096" cy="768096"/>
          </a:xfrm>
          <a:prstGeom prst="rect">
            <a:avLst/>
          </a:prstGeom>
        </p:spPr>
      </p:pic>
      <p:sp>
        <p:nvSpPr>
          <p:cNvPr id="8" name="Nome EPI @a1z.2"/>
          <p:cNvSpPr txBox="1"/>
          <p:nvPr/>
        </p:nvSpPr>
        <p:spPr>
          <a:xfrm>
            <a:off x="2504389" y="2450592"/>
            <a:ext cx="1727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Óculos</a:t>
            </a:r>
            <a:endParaRPr lang="en-US" sz="1200" dirty="0"/>
          </a:p>
        </p:txBody>
      </p:sp>
      <p:pic>
        <p:nvPicPr>
          <p:cNvPr id="9" name="EPI Protetor auricular @a1z.3" descr="head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505" y="1627632"/>
            <a:ext cx="768096" cy="768096"/>
          </a:xfrm>
          <a:prstGeom prst="rect">
            <a:avLst/>
          </a:prstGeom>
        </p:spPr>
      </p:pic>
      <p:sp>
        <p:nvSpPr>
          <p:cNvPr id="10" name="Nome EPI @a1z.3"/>
          <p:cNvSpPr txBox="1"/>
          <p:nvPr/>
        </p:nvSpPr>
        <p:spPr>
          <a:xfrm>
            <a:off x="4322978" y="2450592"/>
            <a:ext cx="1727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Protetor auricular</a:t>
            </a:r>
            <a:endParaRPr lang="en-US" sz="1200" dirty="0"/>
          </a:p>
        </p:txBody>
      </p:sp>
      <p:pic>
        <p:nvPicPr>
          <p:cNvPr id="11" name="EPI Luvas @a1z.4" descr="glov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094" y="1627632"/>
            <a:ext cx="768096" cy="768096"/>
          </a:xfrm>
          <a:prstGeom prst="rect">
            <a:avLst/>
          </a:prstGeom>
        </p:spPr>
      </p:pic>
      <p:sp>
        <p:nvSpPr>
          <p:cNvPr id="12" name="Nome EPI @a1z.4"/>
          <p:cNvSpPr txBox="1"/>
          <p:nvPr/>
        </p:nvSpPr>
        <p:spPr>
          <a:xfrm>
            <a:off x="6141568" y="2450592"/>
            <a:ext cx="1727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Luvas</a:t>
            </a:r>
            <a:endParaRPr lang="en-US" sz="1200" dirty="0"/>
          </a:p>
        </p:txBody>
      </p:sp>
      <p:pic>
        <p:nvPicPr>
          <p:cNvPr id="13" name="EPI Calçado de segurança @a1z.5" descr="bo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683" y="1627632"/>
            <a:ext cx="768096" cy="768096"/>
          </a:xfrm>
          <a:prstGeom prst="rect">
            <a:avLst/>
          </a:prstGeom>
        </p:spPr>
      </p:pic>
      <p:sp>
        <p:nvSpPr>
          <p:cNvPr id="14" name="Nome EPI @a1z.5"/>
          <p:cNvSpPr txBox="1"/>
          <p:nvPr/>
        </p:nvSpPr>
        <p:spPr>
          <a:xfrm>
            <a:off x="7960157" y="2450592"/>
            <a:ext cx="1727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Calçado de segurança</a:t>
            </a:r>
            <a:endParaRPr lang="en-US" sz="1200" dirty="0"/>
          </a:p>
        </p:txBody>
      </p:sp>
      <p:pic>
        <p:nvPicPr>
          <p:cNvPr id="15" name="EPI Colete refletivo @a1z.6" descr="ve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8273" y="1627632"/>
            <a:ext cx="768096" cy="768096"/>
          </a:xfrm>
          <a:prstGeom prst="rect">
            <a:avLst/>
          </a:prstGeom>
        </p:spPr>
      </p:pic>
      <p:sp>
        <p:nvSpPr>
          <p:cNvPr id="16" name="Nome EPI @a1z.6"/>
          <p:cNvSpPr txBox="1"/>
          <p:nvPr/>
        </p:nvSpPr>
        <p:spPr>
          <a:xfrm>
            <a:off x="9778746" y="2450592"/>
            <a:ext cx="17271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Colete refletivo</a:t>
            </a:r>
            <a:endParaRPr lang="en-US" sz="1200" dirty="0"/>
          </a:p>
        </p:txBody>
      </p:sp>
      <p:sp>
        <p:nvSpPr>
          <p:cNvPr id="17" name="Nota EPI @a1f"/>
          <p:cNvSpPr txBox="1"/>
          <p:nvPr/>
        </p:nvSpPr>
        <p:spPr>
          <a:xfrm>
            <a:off x="640080" y="2962656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Os EPIs de cada função seguem a avaliação de riscos (PGR).</a:t>
            </a:r>
            <a:endParaRPr lang="en-US" sz="1100" dirty="0"/>
          </a:p>
        </p:txBody>
      </p:sp>
      <p:sp>
        <p:nvSpPr>
          <p:cNvPr id="18" name="Coluna EPI @a2u"/>
          <p:cNvSpPr/>
          <p:nvPr/>
        </p:nvSpPr>
        <p:spPr>
          <a:xfrm>
            <a:off x="640080" y="3310128"/>
            <a:ext cx="5318608" cy="2487168"/>
          </a:xfrm>
          <a:prstGeom prst="roundRect">
            <a:avLst>
              <a:gd name="adj" fmla="val 441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9" name="Titulo coluna @a2u"/>
          <p:cNvSpPr txBox="1"/>
          <p:nvPr/>
        </p:nvSpPr>
        <p:spPr>
          <a:xfrm>
            <a:off x="914400" y="349300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 EMPRESA DEVE  ·  NR-6, 6.5.1</a:t>
            </a:r>
            <a:endParaRPr lang="en-US" sz="1200" dirty="0"/>
          </a:p>
        </p:txBody>
      </p:sp>
      <p:sp>
        <p:nvSpPr>
          <p:cNvPr id="20" name="Lista coluna @a2u"/>
          <p:cNvSpPr txBox="1"/>
          <p:nvPr/>
        </p:nvSpPr>
        <p:spPr>
          <a:xfrm>
            <a:off x="914400" y="3858768"/>
            <a:ext cx="47699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Fornecer de graça, adequado ao risco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Orientar e treinar o uso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Registrar a entrega (ficha, livro ou sistema)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Exigir o uso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Substituir se danificar ou extraviar</a:t>
            </a:r>
            <a:endParaRPr lang="en-US" sz="1400" dirty="0"/>
          </a:p>
        </p:txBody>
      </p:sp>
      <p:sp>
        <p:nvSpPr>
          <p:cNvPr id="21" name="Coluna EPI @a3u"/>
          <p:cNvSpPr/>
          <p:nvPr/>
        </p:nvSpPr>
        <p:spPr>
          <a:xfrm>
            <a:off x="6233008" y="3310128"/>
            <a:ext cx="5318608" cy="2487168"/>
          </a:xfrm>
          <a:prstGeom prst="roundRect">
            <a:avLst>
              <a:gd name="adj" fmla="val 441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22" name="Titulo coluna @a3u"/>
          <p:cNvSpPr txBox="1"/>
          <p:nvPr/>
        </p:nvSpPr>
        <p:spPr>
          <a:xfrm>
            <a:off x="6507328" y="349300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 COLABORADOR DEVE  ·  NR-6, 6.6.1</a:t>
            </a:r>
            <a:endParaRPr lang="en-US" sz="1200" dirty="0"/>
          </a:p>
        </p:txBody>
      </p:sp>
      <p:sp>
        <p:nvSpPr>
          <p:cNvPr id="23" name="Lista coluna @a3u"/>
          <p:cNvSpPr txBox="1"/>
          <p:nvPr/>
        </p:nvSpPr>
        <p:spPr>
          <a:xfrm>
            <a:off x="6507328" y="3858768"/>
            <a:ext cx="47699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Usar o EPI fornecido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Usar só para a finalidade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Guardar e conservar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Avisar se danificar ou perder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Cumprir as orientações de uso</a:t>
            </a:r>
            <a:endParaRPr lang="en-US" sz="1400" dirty="0"/>
          </a:p>
        </p:txBody>
      </p:sp>
      <p:sp>
        <p:nvSpPr>
          <p:cNvPr id="24" name="Alerta ficha @a4f"/>
          <p:cNvSpPr txBox="1"/>
          <p:nvPr/>
        </p:nvSpPr>
        <p:spPr>
          <a:xfrm>
            <a:off x="640080" y="589788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EPI entregue sem assinatura na ficha é EPI que, no papel, nunca foi entregue.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EPI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Fiscalizar é rotina, não perseguição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QUANDO OLHAR</a:t>
            </a:r>
            <a:endParaRPr lang="en-US" sz="1200" dirty="0"/>
          </a:p>
        </p:txBody>
      </p:sp>
      <p:sp>
        <p:nvSpPr>
          <p:cNvPr id="5" name="Momento @a1u.0"/>
          <p:cNvSpPr/>
          <p:nvPr/>
        </p:nvSpPr>
        <p:spPr>
          <a:xfrm>
            <a:off x="640080" y="1965960"/>
            <a:ext cx="51206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6" name="Icone momento @a1u.0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84832"/>
            <a:ext cx="548640" cy="548640"/>
          </a:xfrm>
          <a:prstGeom prst="rect">
            <a:avLst/>
          </a:prstGeom>
        </p:spPr>
      </p:pic>
      <p:sp>
        <p:nvSpPr>
          <p:cNvPr id="7" name="Texto momento @a1u.0"/>
          <p:cNvSpPr txBox="1"/>
          <p:nvPr/>
        </p:nvSpPr>
        <p:spPr>
          <a:xfrm>
            <a:off x="150876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início do turno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Confira o EPI de todos durante o DDS.</a:t>
            </a:r>
            <a:endParaRPr lang="en-US" sz="1500" dirty="0"/>
          </a:p>
        </p:txBody>
      </p:sp>
      <p:sp>
        <p:nvSpPr>
          <p:cNvPr id="8" name="Momento @a1u.1"/>
          <p:cNvSpPr/>
          <p:nvPr/>
        </p:nvSpPr>
        <p:spPr>
          <a:xfrm>
            <a:off x="640080" y="2880360"/>
            <a:ext cx="51206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9" name="Icone momento @a1u.1" descr="wal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99232"/>
            <a:ext cx="548640" cy="548640"/>
          </a:xfrm>
          <a:prstGeom prst="rect">
            <a:avLst/>
          </a:prstGeom>
        </p:spPr>
      </p:pic>
      <p:sp>
        <p:nvSpPr>
          <p:cNvPr id="10" name="Texto momento @a1u.1"/>
          <p:cNvSpPr txBox="1"/>
          <p:nvPr/>
        </p:nvSpPr>
        <p:spPr>
          <a:xfrm>
            <a:off x="1508760" y="29535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Durante a operação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Faça rondas nos pontos de maior risco.</a:t>
            </a:r>
            <a:endParaRPr lang="en-US" sz="1500" dirty="0"/>
          </a:p>
        </p:txBody>
      </p:sp>
      <p:sp>
        <p:nvSpPr>
          <p:cNvPr id="11" name="Momento @a1u.2"/>
          <p:cNvSpPr/>
          <p:nvPr/>
        </p:nvSpPr>
        <p:spPr>
          <a:xfrm>
            <a:off x="640080" y="3794760"/>
            <a:ext cx="51206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2" name="Icone momento @a1u.2" descr="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13632"/>
            <a:ext cx="548640" cy="548640"/>
          </a:xfrm>
          <a:prstGeom prst="rect">
            <a:avLst/>
          </a:prstGeom>
        </p:spPr>
      </p:pic>
      <p:sp>
        <p:nvSpPr>
          <p:cNvPr id="13" name="Texto momento @a1u.2"/>
          <p:cNvSpPr txBox="1"/>
          <p:nvPr/>
        </p:nvSpPr>
        <p:spPr>
          <a:xfrm>
            <a:off x="1508760" y="38679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 troca de atividade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Tarefa nova pode exigir EPI diferente.</a:t>
            </a:r>
            <a:endParaRPr lang="en-US" sz="1500" dirty="0"/>
          </a:p>
        </p:txBody>
      </p:sp>
      <p:sp>
        <p:nvSpPr>
          <p:cNvPr id="14" name="Frase autoriza @c3f"/>
          <p:cNvSpPr txBox="1"/>
          <p:nvPr/>
        </p:nvSpPr>
        <p:spPr>
          <a:xfrm>
            <a:off x="640080" y="49834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Quem vê e não corrige, autoriza.</a:t>
            </a:r>
            <a:endParaRPr lang="en-US" sz="2400" dirty="0"/>
          </a:p>
        </p:txBody>
      </p:sp>
      <p:sp>
        <p:nvSpPr>
          <p:cNvPr id="15" name="Aja na hora @c1u"/>
          <p:cNvSpPr/>
          <p:nvPr/>
        </p:nvSpPr>
        <p:spPr>
          <a:xfrm>
            <a:off x="6126480" y="1600200"/>
            <a:ext cx="5425135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6" name="Titulo aja @c1u"/>
          <p:cNvSpPr txBox="1"/>
          <p:nvPr/>
        </p:nvSpPr>
        <p:spPr>
          <a:xfrm>
            <a:off x="6400800" y="178308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VIU SEM EPI? AJA NA HORA</a:t>
            </a:r>
            <a:endParaRPr lang="en-US" sz="1200" dirty="0"/>
          </a:p>
        </p:txBody>
      </p:sp>
      <p:sp>
        <p:nvSpPr>
          <p:cNvPr id="17" name="Num aja @c1u.1"/>
          <p:cNvSpPr txBox="1"/>
          <p:nvPr/>
        </p:nvSpPr>
        <p:spPr>
          <a:xfrm>
            <a:off x="6400800" y="2212848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Passo aja @c1u.1"/>
          <p:cNvSpPr txBox="1"/>
          <p:nvPr/>
        </p:nvSpPr>
        <p:spPr>
          <a:xfrm>
            <a:off x="6903720" y="2212848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Pare a atividade, com respeito (CNV)</a:t>
            </a:r>
            <a:endParaRPr lang="en-US" sz="1500" dirty="0"/>
          </a:p>
        </p:txBody>
      </p:sp>
      <p:sp>
        <p:nvSpPr>
          <p:cNvPr id="19" name="Num aja @c1u.2"/>
          <p:cNvSpPr txBox="1"/>
          <p:nvPr/>
        </p:nvSpPr>
        <p:spPr>
          <a:xfrm>
            <a:off x="6400800" y="2761488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Passo aja @c1u.2"/>
          <p:cNvSpPr txBox="1"/>
          <p:nvPr/>
        </p:nvSpPr>
        <p:spPr>
          <a:xfrm>
            <a:off x="6903720" y="2761488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Corrija e oriente na hora</a:t>
            </a:r>
            <a:endParaRPr lang="en-US" sz="1500" dirty="0"/>
          </a:p>
        </p:txBody>
      </p:sp>
      <p:sp>
        <p:nvSpPr>
          <p:cNvPr id="21" name="Num aja @c1u.3"/>
          <p:cNvSpPr txBox="1"/>
          <p:nvPr/>
        </p:nvSpPr>
        <p:spPr>
          <a:xfrm>
            <a:off x="6400800" y="3310128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Passo aja @c1u.3"/>
          <p:cNvSpPr txBox="1"/>
          <p:nvPr/>
        </p:nvSpPr>
        <p:spPr>
          <a:xfrm>
            <a:off x="6903720" y="3310128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Registre a orientação</a:t>
            </a:r>
            <a:endParaRPr lang="en-US" sz="1500" dirty="0"/>
          </a:p>
        </p:txBody>
      </p:sp>
      <p:sp>
        <p:nvSpPr>
          <p:cNvPr id="23" name="Num aja @c1u.4"/>
          <p:cNvSpPr txBox="1"/>
          <p:nvPr/>
        </p:nvSpPr>
        <p:spPr>
          <a:xfrm>
            <a:off x="6400800" y="3858768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Passo aja @c1u.4"/>
          <p:cNvSpPr txBox="1"/>
          <p:nvPr/>
        </p:nvSpPr>
        <p:spPr>
          <a:xfrm>
            <a:off x="6903720" y="3858768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Reincidência: medida disciplinar</a:t>
            </a:r>
            <a:endParaRPr lang="en-US" sz="1500" dirty="0"/>
          </a:p>
        </p:txBody>
      </p:sp>
      <p:sp>
        <p:nvSpPr>
          <p:cNvPr id="25" name="CLT @c2z"/>
          <p:cNvSpPr/>
          <p:nvPr/>
        </p:nvSpPr>
        <p:spPr>
          <a:xfrm>
            <a:off x="6126480" y="4617720"/>
            <a:ext cx="5425135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6" name="Texto CLT @c2z"/>
          <p:cNvSpPr txBox="1"/>
          <p:nvPr/>
        </p:nvSpPr>
        <p:spPr>
          <a:xfrm>
            <a:off x="6400800" y="4681728"/>
            <a:ext cx="48764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Recusar o uso de EPI sem justificativa é ato faltoso.</a:t>
            </a:r>
            <a:endParaRPr lang="en-US" sz="15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CLT, art. 158, parágrafo único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ENTREGA DE MEDICAMENTOS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Medicamento: só pelo BC, sempre com registro</a:t>
            </a:r>
            <a:endParaRPr lang="en-US" sz="3200" dirty="0"/>
          </a:p>
        </p:txBody>
      </p:sp>
      <p:sp>
        <p:nvSpPr>
          <p:cNvPr id="4" name="Regra @a2u.0"/>
          <p:cNvSpPr/>
          <p:nvPr/>
        </p:nvSpPr>
        <p:spPr>
          <a:xfrm>
            <a:off x="640080" y="1691640"/>
            <a:ext cx="6766560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pic>
        <p:nvPicPr>
          <p:cNvPr id="5" name="Icone regra @a2u.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92224"/>
            <a:ext cx="347472" cy="347472"/>
          </a:xfrm>
          <a:prstGeom prst="rect">
            <a:avLst/>
          </a:prstGeom>
        </p:spPr>
      </p:pic>
      <p:sp>
        <p:nvSpPr>
          <p:cNvPr id="6" name="Texto regra @a2u.0"/>
          <p:cNvSpPr txBox="1"/>
          <p:nvPr/>
        </p:nvSpPr>
        <p:spPr>
          <a:xfrm>
            <a:off x="1280160" y="169164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Quem entrega é o BC de plantão (ou quem o SESMT definir).</a:t>
            </a:r>
            <a:endParaRPr lang="en-US" sz="1450" dirty="0"/>
          </a:p>
        </p:txBody>
      </p:sp>
      <p:sp>
        <p:nvSpPr>
          <p:cNvPr id="7" name="Regra @a2u.1"/>
          <p:cNvSpPr/>
          <p:nvPr/>
        </p:nvSpPr>
        <p:spPr>
          <a:xfrm>
            <a:off x="640080" y="2350008"/>
            <a:ext cx="6766560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pic>
        <p:nvPicPr>
          <p:cNvPr id="8" name="Icone regra @a2u.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50592"/>
            <a:ext cx="347472" cy="347472"/>
          </a:xfrm>
          <a:prstGeom prst="rect">
            <a:avLst/>
          </a:prstGeom>
        </p:spPr>
      </p:pic>
      <p:sp>
        <p:nvSpPr>
          <p:cNvPr id="9" name="Texto regra @a2u.1"/>
          <p:cNvSpPr txBox="1"/>
          <p:nvPr/>
        </p:nvSpPr>
        <p:spPr>
          <a:xfrm>
            <a:off x="1280160" y="2350008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Antes, pergunte sobre alergias e outros remédios em uso.</a:t>
            </a:r>
            <a:endParaRPr lang="en-US" sz="1450" dirty="0"/>
          </a:p>
        </p:txBody>
      </p:sp>
      <p:sp>
        <p:nvSpPr>
          <p:cNvPr id="10" name="Regra @a2u.2"/>
          <p:cNvSpPr/>
          <p:nvPr/>
        </p:nvSpPr>
        <p:spPr>
          <a:xfrm>
            <a:off x="640080" y="3008376"/>
            <a:ext cx="6766560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pic>
        <p:nvPicPr>
          <p:cNvPr id="11" name="Icone regra @a2u.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08960"/>
            <a:ext cx="347472" cy="347472"/>
          </a:xfrm>
          <a:prstGeom prst="rect">
            <a:avLst/>
          </a:prstGeom>
        </p:spPr>
      </p:pic>
      <p:sp>
        <p:nvSpPr>
          <p:cNvPr id="12" name="Texto regra @a2u.2"/>
          <p:cNvSpPr txBox="1"/>
          <p:nvPr/>
        </p:nvSpPr>
        <p:spPr>
          <a:xfrm>
            <a:off x="1280160" y="3008376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Registre: nome, matrícula, horário, queixa, remédio e dose.</a:t>
            </a:r>
            <a:endParaRPr lang="en-US" sz="1450" dirty="0"/>
          </a:p>
        </p:txBody>
      </p:sp>
      <p:sp>
        <p:nvSpPr>
          <p:cNvPr id="13" name="Regra @a2u.3"/>
          <p:cNvSpPr/>
          <p:nvPr/>
        </p:nvSpPr>
        <p:spPr>
          <a:xfrm>
            <a:off x="640080" y="3666744"/>
            <a:ext cx="6766560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pic>
        <p:nvPicPr>
          <p:cNvPr id="14" name="Icone regra @a2u.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67328"/>
            <a:ext cx="347472" cy="347472"/>
          </a:xfrm>
          <a:prstGeom prst="rect">
            <a:avLst/>
          </a:prstGeom>
        </p:spPr>
      </p:pic>
      <p:sp>
        <p:nvSpPr>
          <p:cNvPr id="15" name="Texto regra @a2u.3"/>
          <p:cNvSpPr txBox="1"/>
          <p:nvPr/>
        </p:nvSpPr>
        <p:spPr>
          <a:xfrm>
            <a:off x="1280160" y="3666744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Queixa repetida ou sintoma forte: encaminhar ao atendimento médico.</a:t>
            </a:r>
            <a:endParaRPr lang="en-US" sz="1450" dirty="0"/>
          </a:p>
        </p:txBody>
      </p:sp>
      <p:sp>
        <p:nvSpPr>
          <p:cNvPr id="16" name="Regra @a2u.4"/>
          <p:cNvSpPr/>
          <p:nvPr/>
        </p:nvSpPr>
        <p:spPr>
          <a:xfrm>
            <a:off x="640080" y="4325112"/>
            <a:ext cx="6766560" cy="548640"/>
          </a:xfrm>
          <a:prstGeom prst="roundRect">
            <a:avLst>
              <a:gd name="adj" fmla="val 20000"/>
            </a:avLst>
          </a:prstGeom>
          <a:solidFill>
            <a:schemeClr val="accent5">
              <a:alpha val="8000"/>
            </a:schemeClr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pic>
        <p:nvPicPr>
          <p:cNvPr id="17" name="Icone regra @a2u.4" descr="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425696"/>
            <a:ext cx="347472" cy="347472"/>
          </a:xfrm>
          <a:prstGeom prst="rect">
            <a:avLst/>
          </a:prstGeom>
        </p:spPr>
      </p:pic>
      <p:sp>
        <p:nvSpPr>
          <p:cNvPr id="18" name="Texto regra @a2u.4"/>
          <p:cNvSpPr txBox="1"/>
          <p:nvPr/>
        </p:nvSpPr>
        <p:spPr>
          <a:xfrm>
            <a:off x="1280160" y="43251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Líder não entrega remédio por conta própria — nem “o da bolsa”.</a:t>
            </a:r>
            <a:endParaRPr lang="en-US" sz="1450" dirty="0"/>
          </a:p>
        </p:txBody>
      </p:sp>
      <p:sp>
        <p:nvSpPr>
          <p:cNvPr id="19" name="Regra @a2u.5"/>
          <p:cNvSpPr/>
          <p:nvPr/>
        </p:nvSpPr>
        <p:spPr>
          <a:xfrm>
            <a:off x="640080" y="4983480"/>
            <a:ext cx="6766560" cy="548640"/>
          </a:xfrm>
          <a:prstGeom prst="roundRect">
            <a:avLst>
              <a:gd name="adj" fmla="val 20000"/>
            </a:avLst>
          </a:prstGeom>
          <a:solidFill>
            <a:schemeClr val="accent5">
              <a:alpha val="8000"/>
            </a:schemeClr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pic>
        <p:nvPicPr>
          <p:cNvPr id="20" name="Icone regra @a2u.5" descr="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084064"/>
            <a:ext cx="347472" cy="347472"/>
          </a:xfrm>
          <a:prstGeom prst="rect">
            <a:avLst/>
          </a:prstGeom>
        </p:spPr>
      </p:pic>
      <p:sp>
        <p:nvSpPr>
          <p:cNvPr id="21" name="Texto regra @a2u.5"/>
          <p:cNvSpPr txBox="1"/>
          <p:nvPr/>
        </p:nvSpPr>
        <p:spPr>
          <a:xfrm>
            <a:off x="1280160" y="498348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Nada de remédio controlado ou que exige receita.</a:t>
            </a:r>
            <a:endParaRPr lang="en-US" sz="1450" dirty="0"/>
          </a:p>
        </p:txBody>
      </p:sp>
      <p:pic>
        <p:nvPicPr>
          <p:cNvPr id="22" name="Ilustracao medicamento @a1z" descr="/tmp/claude-0/-home-claude/5746e17e-ab87-5418-9566-46e1b5e96b03/scratchpad/pptx2/assets/hero-m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6680" y="1645920"/>
            <a:ext cx="3657600" cy="3657600"/>
          </a:xfrm>
          <a:prstGeom prst="rect">
            <a:avLst/>
          </a:prstGeom>
        </p:spPr>
      </p:pic>
      <p:sp>
        <p:nvSpPr>
          <p:cNvPr id="23" name="Nota SESMT @a3f"/>
          <p:cNvSpPr txBox="1"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chemeClr val="accent5"/>
                </a:solidFill>
              </a:rPr>
              <a:t>Siga sempre o procedimento do SESMT e do médico do trabalho da Bartofil.</a:t>
            </a:r>
            <a:endParaRPr lang="en-US" sz="125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DDS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DDS: 10 minutos que protegem o turno</a:t>
            </a:r>
            <a:endParaRPr lang="en-US" sz="3200" dirty="0"/>
          </a:p>
        </p:txBody>
      </p:sp>
      <p:sp>
        <p:nvSpPr>
          <p:cNvPr id="4" name="Definicao DDS @a1u"/>
          <p:cNvSpPr txBox="1"/>
          <p:nvPr/>
        </p:nvSpPr>
        <p:spPr>
          <a:xfrm>
            <a:off x="640080" y="1572768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5"/>
                </a:solidFill>
              </a:rPr>
              <a:t>Diálogo Diário de Segurança: conversa curta, no início do turno, sobre um risco real da operação.</a:t>
            </a:r>
            <a:endParaRPr lang="en-US" sz="1600" dirty="0"/>
          </a:p>
        </p:txBody>
      </p:sp>
      <p:sp>
        <p:nvSpPr>
          <p:cNvPr id="5" name="Etapa DDS @a2u.0"/>
          <p:cNvSpPr txBox="1"/>
          <p:nvPr/>
        </p:nvSpPr>
        <p:spPr>
          <a:xfrm>
            <a:off x="640080" y="2377440"/>
            <a:ext cx="1243584" cy="1097280"/>
          </a:xfrm>
          <a:prstGeom prst="roundRect">
            <a:avLst>
              <a:gd name="adj" fmla="val 8333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63500" tIns="63500" rIns="63500" bIns="635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MIN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Abertura e presença</a:t>
            </a:r>
            <a:endParaRPr lang="en-US" sz="1200" dirty="0"/>
          </a:p>
        </p:txBody>
      </p:sp>
      <p:sp>
        <p:nvSpPr>
          <p:cNvPr id="6" name="Etapa DDS @a2u.1"/>
          <p:cNvSpPr txBox="1"/>
          <p:nvPr/>
        </p:nvSpPr>
        <p:spPr>
          <a:xfrm>
            <a:off x="1975104" y="2377440"/>
            <a:ext cx="1243584" cy="1097280"/>
          </a:xfrm>
          <a:prstGeom prst="roundRect">
            <a:avLst>
              <a:gd name="adj" fmla="val 8333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63500" tIns="63500" rIns="63500" bIns="635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3 MIN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Tema do dia</a:t>
            </a:r>
            <a:endParaRPr lang="en-US" sz="1200" dirty="0"/>
          </a:p>
        </p:txBody>
      </p:sp>
      <p:sp>
        <p:nvSpPr>
          <p:cNvPr id="7" name="Etapa DDS @a2u.2"/>
          <p:cNvSpPr txBox="1"/>
          <p:nvPr/>
        </p:nvSpPr>
        <p:spPr>
          <a:xfrm>
            <a:off x="3310128" y="2377440"/>
            <a:ext cx="1243584" cy="1097280"/>
          </a:xfrm>
          <a:prstGeom prst="roundRect">
            <a:avLst>
              <a:gd name="adj" fmla="val 8333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63500" tIns="63500" rIns="63500" bIns="635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2 MIN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Exemplo real do CD</a:t>
            </a:r>
            <a:endParaRPr lang="en-US" sz="1200" dirty="0"/>
          </a:p>
        </p:txBody>
      </p:sp>
      <p:sp>
        <p:nvSpPr>
          <p:cNvPr id="8" name="Etapa DDS @a2u.3"/>
          <p:cNvSpPr txBox="1"/>
          <p:nvPr/>
        </p:nvSpPr>
        <p:spPr>
          <a:xfrm>
            <a:off x="4645152" y="2377440"/>
            <a:ext cx="1243584" cy="1097280"/>
          </a:xfrm>
          <a:prstGeom prst="roundRect">
            <a:avLst>
              <a:gd name="adj" fmla="val 8333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63500" tIns="63500" rIns="63500" bIns="635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2 MIN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Perguntas da equipe</a:t>
            </a:r>
            <a:endParaRPr lang="en-US" sz="1200" dirty="0"/>
          </a:p>
        </p:txBody>
      </p:sp>
      <p:sp>
        <p:nvSpPr>
          <p:cNvPr id="9" name="Etapa DDS @a2u.4"/>
          <p:cNvSpPr txBox="1"/>
          <p:nvPr/>
        </p:nvSpPr>
        <p:spPr>
          <a:xfrm>
            <a:off x="5980176" y="2377440"/>
            <a:ext cx="1243584" cy="1097280"/>
          </a:xfrm>
          <a:prstGeom prst="roundRect">
            <a:avLst>
              <a:gd name="adj" fmla="val 8333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63500" tIns="63500" rIns="63500" bIns="635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2 MIN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Compromisso do dia</a:t>
            </a:r>
            <a:endParaRPr lang="en-US" sz="1200" dirty="0"/>
          </a:p>
        </p:txBody>
      </p:sp>
      <p:sp>
        <p:nvSpPr>
          <p:cNvPr id="10" name="NR-1 @a4u"/>
          <p:cNvSpPr/>
          <p:nvPr/>
        </p:nvSpPr>
        <p:spPr>
          <a:xfrm>
            <a:off x="640080" y="3749040"/>
            <a:ext cx="6583680" cy="1417320"/>
          </a:xfrm>
          <a:prstGeom prst="roundRect">
            <a:avLst>
              <a:gd name="adj" fmla="val 7742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Texto NR-1 @a4u"/>
          <p:cNvSpPr txBox="1"/>
          <p:nvPr/>
        </p:nvSpPr>
        <p:spPr>
          <a:xfrm>
            <a:off x="914400" y="3822192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A NR-1 exige informar os trabalhadores sobre os riscos e as medidas de prevenção.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lista de presença é a prova de que isso aconteceu.</a:t>
            </a:r>
            <a:endParaRPr lang="en-US" sz="1500" dirty="0"/>
          </a:p>
        </p:txBody>
      </p:sp>
      <p:sp>
        <p:nvSpPr>
          <p:cNvPr id="12" name="Fonte NR-1 @a4u"/>
          <p:cNvSpPr txBox="1"/>
          <p:nvPr/>
        </p:nvSpPr>
        <p:spPr>
          <a:xfrm>
            <a:off x="914400" y="482803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NR-1, item 1.4.1</a:t>
            </a:r>
            <a:endParaRPr lang="en-US" sz="1050" dirty="0"/>
          </a:p>
        </p:txBody>
      </p:sp>
      <p:sp>
        <p:nvSpPr>
          <p:cNvPr id="13" name="Lista presenca @a3z"/>
          <p:cNvSpPr/>
          <p:nvPr/>
        </p:nvSpPr>
        <p:spPr>
          <a:xfrm>
            <a:off x="7543800" y="1572768"/>
            <a:ext cx="4007815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4" name="Icone lista @a3z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737360"/>
            <a:ext cx="457200" cy="457200"/>
          </a:xfrm>
          <a:prstGeom prst="rect">
            <a:avLst/>
          </a:prstGeom>
        </p:spPr>
      </p:pic>
      <p:sp>
        <p:nvSpPr>
          <p:cNvPr id="15" name="Titulo lista @a3z"/>
          <p:cNvSpPr txBox="1"/>
          <p:nvPr/>
        </p:nvSpPr>
        <p:spPr>
          <a:xfrm>
            <a:off x="8321040" y="17373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LISTA DE PRESENÇA</a:t>
            </a:r>
            <a:endParaRPr lang="en-US" sz="1200" dirty="0"/>
          </a:p>
        </p:txBody>
      </p:sp>
      <p:sp>
        <p:nvSpPr>
          <p:cNvPr id="16" name="Campos lista @a3z"/>
          <p:cNvSpPr txBox="1"/>
          <p:nvPr/>
        </p:nvSpPr>
        <p:spPr>
          <a:xfrm>
            <a:off x="7772400" y="228600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Data · Turno · Horário · Tema · Quem conduziu</a:t>
            </a:r>
            <a:endParaRPr lang="en-US" sz="1100" dirty="0"/>
          </a:p>
        </p:txBody>
      </p:sp>
      <p:graphicFrame>
        <p:nvGraphicFramePr>
          <p:cNvPr id="17" name="Tabela lista @a3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2670048"/>
          <a:ext cx="3550615" cy="914400"/>
        </p:xfrm>
        <a:graphic>
          <a:graphicData uri="http://schemas.openxmlformats.org/drawingml/2006/table">
            <a:tbl>
              <a:tblPr/>
              <a:tblGrid>
                <a:gridCol w="1491258"/>
                <a:gridCol w="852148"/>
                <a:gridCol w="1207209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Nome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Matrícula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Assinatura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5C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Nota apendice @a3z"/>
          <p:cNvSpPr txBox="1"/>
          <p:nvPr/>
        </p:nvSpPr>
        <p:spPr>
          <a:xfrm>
            <a:off x="7543800" y="5303520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Modelo para imprimir no apêndice</a:t>
            </a:r>
            <a:endParaRPr lang="en-US" sz="11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Graphic spid="17" grpId="0">
        <p:bldAsOne/>
      </p:bldGraphic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BLUE SPOT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Blue spot: o aviso que chega antes da máquina</a:t>
            </a:r>
            <a:endParaRPr lang="en-US" sz="3200" dirty="0"/>
          </a:p>
        </p:txBody>
      </p:sp>
      <p:pic>
        <p:nvPicPr>
          <p:cNvPr id="4" name="Cena CD @a1f" descr="/tmp/claude-0/-home-claude/5746e17e-ab87-5418-9566-46e1b5e96b03/scratchpad/pptx2/assets/scene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6766560" cy="3806190"/>
          </a:xfrm>
          <a:prstGeom prst="rect">
            <a:avLst/>
          </a:prstGeom>
        </p:spPr>
      </p:pic>
      <p:pic>
        <p:nvPicPr>
          <p:cNvPr id="5" name="Luz azul @a2f" descr="/tmp/claude-0/-home-claude/5746e17e-ab87-5418-9566-46e1b5e96b03/scratchpad/pptx2/assets/scene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2768"/>
            <a:ext cx="6766560" cy="3806190"/>
          </a:xfrm>
          <a:prstGeom prst="rect">
            <a:avLst/>
          </a:prstGeom>
        </p:spPr>
      </p:pic>
      <p:sp>
        <p:nvSpPr>
          <p:cNvPr id="6" name="Etiqueta luz @a2u.2"/>
          <p:cNvSpPr txBox="1"/>
          <p:nvPr/>
        </p:nvSpPr>
        <p:spPr>
          <a:xfrm>
            <a:off x="4700016" y="4389349"/>
            <a:ext cx="155448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Luz azul no piso</a:t>
            </a:r>
            <a:endParaRPr lang="en-US" sz="1200" dirty="0"/>
          </a:p>
        </p:txBody>
      </p:sp>
      <p:sp>
        <p:nvSpPr>
          <p:cNvPr id="7" name="Etiqueta distancia @a2u.3"/>
          <p:cNvSpPr txBox="1"/>
          <p:nvPr/>
        </p:nvSpPr>
        <p:spPr>
          <a:xfrm>
            <a:off x="1181405" y="1801139"/>
            <a:ext cx="219456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 a 6 m à frente ou atrás</a:t>
            </a:r>
            <a:endParaRPr lang="en-US" sz="1200" dirty="0"/>
          </a:p>
        </p:txBody>
      </p:sp>
      <p:pic>
        <p:nvPicPr>
          <p:cNvPr id="8" name="Icone fato @a3u.0" descr="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45920"/>
            <a:ext cx="548640" cy="548640"/>
          </a:xfrm>
          <a:prstGeom prst="rect">
            <a:avLst/>
          </a:prstGeom>
        </p:spPr>
      </p:pic>
      <p:sp>
        <p:nvSpPr>
          <p:cNvPr id="9" name="Fato @a3u.0"/>
          <p:cNvSpPr txBox="1"/>
          <p:nvPr/>
        </p:nvSpPr>
        <p:spPr>
          <a:xfrm>
            <a:off x="8458200" y="1600200"/>
            <a:ext cx="3093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Projeta uma luz azul no piso, de 3 a 6 m à frente ou atrás da máquina.</a:t>
            </a:r>
            <a:endParaRPr lang="en-US" sz="1500" dirty="0"/>
          </a:p>
        </p:txBody>
      </p:sp>
      <p:pic>
        <p:nvPicPr>
          <p:cNvPr id="10" name="Icone fato @a3u.1" descr="e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2926080"/>
            <a:ext cx="548640" cy="548640"/>
          </a:xfrm>
          <a:prstGeom prst="rect">
            <a:avLst/>
          </a:prstGeom>
        </p:spPr>
      </p:pic>
      <p:sp>
        <p:nvSpPr>
          <p:cNvPr id="11" name="Fato @a3u.1"/>
          <p:cNvSpPr txBox="1"/>
          <p:nvPr/>
        </p:nvSpPr>
        <p:spPr>
          <a:xfrm>
            <a:off x="8458200" y="2880360"/>
            <a:ext cx="3093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Funciona no barulho: o pedestre vê antes de ouvir.</a:t>
            </a:r>
            <a:endParaRPr lang="en-US" sz="1500" dirty="0"/>
          </a:p>
        </p:txBody>
      </p:sp>
      <p:pic>
        <p:nvPicPr>
          <p:cNvPr id="12" name="Icone fato @a3u.2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4206240"/>
            <a:ext cx="548640" cy="548640"/>
          </a:xfrm>
          <a:prstGeom prst="rect">
            <a:avLst/>
          </a:prstGeom>
        </p:spPr>
      </p:pic>
      <p:sp>
        <p:nvSpPr>
          <p:cNvPr id="13" name="Fato @a3u.2"/>
          <p:cNvSpPr txBox="1"/>
          <p:nvPr/>
        </p:nvSpPr>
        <p:spPr>
          <a:xfrm>
            <a:off x="8458200" y="4160520"/>
            <a:ext cx="3093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Mostra a direção da máquina — essencial nas elétricas, que são silenciosas.</a:t>
            </a:r>
            <a:endParaRPr lang="en-US" sz="1500" dirty="0"/>
          </a:p>
        </p:txBody>
      </p:sp>
      <p:sp>
        <p:nvSpPr>
          <p:cNvPr id="14" name="Text 7"/>
          <p:cNvSpPr txBox="1"/>
          <p:nvPr/>
        </p:nvSpPr>
        <p:spPr>
          <a:xfrm>
            <a:off x="640080" y="55321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Raymond West, “Enhancing Workplace Safety with Blue Safety Lights for Forklifts” (2024) · Ilustração: blue spot em equipamento de movimentação</a:t>
            </a:r>
            <a:endParaRPr lang="en-US" sz="10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1 · BLUE SPOT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Regras para quem opera, quem anda e quem lidera</a:t>
            </a:r>
            <a:endParaRPr lang="en-US" sz="3200" dirty="0"/>
          </a:p>
        </p:txBody>
      </p:sp>
      <p:sp>
        <p:nvSpPr>
          <p:cNvPr id="4" name="Operador @a1u"/>
          <p:cNvSpPr/>
          <p:nvPr/>
        </p:nvSpPr>
        <p:spPr>
          <a:xfrm>
            <a:off x="640080" y="164592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Operador @a1u" descr="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01952"/>
            <a:ext cx="731520" cy="731520"/>
          </a:xfrm>
          <a:prstGeom prst="rect">
            <a:avLst/>
          </a:prstGeom>
        </p:spPr>
      </p:pic>
      <p:sp>
        <p:nvSpPr>
          <p:cNvPr id="6" name="Titulo Operador @a1u"/>
          <p:cNvSpPr txBox="1"/>
          <p:nvPr/>
        </p:nvSpPr>
        <p:spPr>
          <a:xfrm>
            <a:off x="1783080" y="1901952"/>
            <a:ext cx="2082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Operador</a:t>
            </a:r>
            <a:endParaRPr lang="en-US" sz="2200" dirty="0"/>
          </a:p>
        </p:txBody>
      </p:sp>
      <p:sp>
        <p:nvSpPr>
          <p:cNvPr id="7" name="Regras Operador @a1u"/>
          <p:cNvSpPr txBox="1"/>
          <p:nvPr/>
        </p:nvSpPr>
        <p:spPr>
          <a:xfrm>
            <a:off x="914400" y="2880360"/>
            <a:ext cx="29056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Confere o blue spot no checklist pré-uso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Nunca desliga nem desvia a luz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Defeito? Avisa o líder na hora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Reduz e buzina nos cruzamentos</a:t>
            </a:r>
            <a:endParaRPr lang="en-US" sz="1450" dirty="0"/>
          </a:p>
        </p:txBody>
      </p:sp>
      <p:sp>
        <p:nvSpPr>
          <p:cNvPr id="8" name="Pedestre @a2u"/>
          <p:cNvSpPr/>
          <p:nvPr/>
        </p:nvSpPr>
        <p:spPr>
          <a:xfrm>
            <a:off x="4368698" y="164592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9" name="Icone Pedestre @a2u" descr="wal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18" y="1901952"/>
            <a:ext cx="731520" cy="731520"/>
          </a:xfrm>
          <a:prstGeom prst="rect">
            <a:avLst/>
          </a:prstGeom>
        </p:spPr>
      </p:pic>
      <p:sp>
        <p:nvSpPr>
          <p:cNvPr id="10" name="Titulo Pedestre @a2u"/>
          <p:cNvSpPr txBox="1"/>
          <p:nvPr/>
        </p:nvSpPr>
        <p:spPr>
          <a:xfrm>
            <a:off x="5511698" y="1901952"/>
            <a:ext cx="2082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Pedestre</a:t>
            </a:r>
            <a:endParaRPr lang="en-US" sz="2200" dirty="0"/>
          </a:p>
        </p:txBody>
      </p:sp>
      <p:sp>
        <p:nvSpPr>
          <p:cNvPr id="11" name="Regras Pedestre @a2u"/>
          <p:cNvSpPr txBox="1"/>
          <p:nvPr/>
        </p:nvSpPr>
        <p:spPr>
          <a:xfrm>
            <a:off x="4643018" y="2880360"/>
            <a:ext cx="29056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Viu a luz azul? Pare, olhe e espere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Faça contato visual com o operador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Nunca atravesse na frente da máquina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Use sempre a faixa de pedestre</a:t>
            </a:r>
            <a:endParaRPr lang="en-US" sz="1450" dirty="0"/>
          </a:p>
        </p:txBody>
      </p:sp>
      <p:sp>
        <p:nvSpPr>
          <p:cNvPr id="12" name="Líder @a3u"/>
          <p:cNvSpPr/>
          <p:nvPr/>
        </p:nvSpPr>
        <p:spPr>
          <a:xfrm>
            <a:off x="8097317" y="164592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3" name="Icone Líder @a3u" descr="lea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1901952"/>
            <a:ext cx="731520" cy="731520"/>
          </a:xfrm>
          <a:prstGeom prst="rect">
            <a:avLst/>
          </a:prstGeom>
        </p:spPr>
      </p:pic>
      <p:sp>
        <p:nvSpPr>
          <p:cNvPr id="14" name="Titulo Líder @a3u"/>
          <p:cNvSpPr txBox="1"/>
          <p:nvPr/>
        </p:nvSpPr>
        <p:spPr>
          <a:xfrm>
            <a:off x="9240317" y="1901952"/>
            <a:ext cx="2082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Líder</a:t>
            </a:r>
            <a:endParaRPr lang="en-US" sz="2200" dirty="0"/>
          </a:p>
        </p:txBody>
      </p:sp>
      <p:sp>
        <p:nvSpPr>
          <p:cNvPr id="15" name="Regras Líder @a3u"/>
          <p:cNvSpPr txBox="1"/>
          <p:nvPr/>
        </p:nvSpPr>
        <p:spPr>
          <a:xfrm>
            <a:off x="8371637" y="2880360"/>
            <a:ext cx="29056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Cobra o checklist no início do turno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Defeito: tira de uso, conforme a regra interna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Reforça o tema no DDS</a:t>
            </a:r>
            <a:endParaRPr lang="en-US" sz="145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Dá o exemplo na faixa</a:t>
            </a:r>
            <a:endParaRPr lang="en-US" sz="1450" dirty="0"/>
          </a:p>
        </p:txBody>
      </p:sp>
      <p:sp>
        <p:nvSpPr>
          <p:cNvPr id="16" name="Resumo blue @a4f"/>
          <p:cNvSpPr txBox="1"/>
          <p:nvPr/>
        </p:nvSpPr>
        <p:spPr>
          <a:xfrm>
            <a:off x="640080" y="580644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Luz azul no chão = máquina chegando. </a:t>
            </a:r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Todo mundo para.</a:t>
            </a:r>
            <a:endParaRPr lang="en-US" sz="17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 @a1f"/>
          <p:cNvSpPr txBox="1"/>
          <p:nvPr/>
        </p:nvSpPr>
        <p:spPr>
          <a:xfrm>
            <a:off x="64008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PARTE 2 · 15 MIN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920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Comunicação e feedback</a:t>
            </a:r>
            <a:endParaRPr lang="en-US" sz="4400" dirty="0"/>
          </a:p>
        </p:txBody>
      </p:sp>
      <p:sp>
        <p:nvSpPr>
          <p:cNvPr id="4" name="Topico @a2u.0"/>
          <p:cNvSpPr txBox="1"/>
          <p:nvPr/>
        </p:nvSpPr>
        <p:spPr>
          <a:xfrm>
            <a:off x="640080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Por que comunicar bem</a:t>
            </a:r>
            <a:endParaRPr lang="en-US" sz="1200" dirty="0"/>
          </a:p>
        </p:txBody>
      </p:sp>
      <p:sp>
        <p:nvSpPr>
          <p:cNvPr id="5" name="Topico @a2u.1"/>
          <p:cNvSpPr txBox="1"/>
          <p:nvPr/>
        </p:nvSpPr>
        <p:spPr>
          <a:xfrm>
            <a:off x="2624328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Feche o ciclo</a:t>
            </a:r>
            <a:endParaRPr lang="en-US" sz="1200" dirty="0"/>
          </a:p>
        </p:txBody>
      </p:sp>
      <p:sp>
        <p:nvSpPr>
          <p:cNvPr id="6" name="Topico @a2u.2"/>
          <p:cNvSpPr txBox="1"/>
          <p:nvPr/>
        </p:nvSpPr>
        <p:spPr>
          <a:xfrm>
            <a:off x="4608576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Feedback</a:t>
            </a:r>
            <a:endParaRPr lang="en-US" sz="1200" dirty="0"/>
          </a:p>
        </p:txBody>
      </p:sp>
      <p:sp>
        <p:nvSpPr>
          <p:cNvPr id="7" name="Topico @a2u.3"/>
          <p:cNvSpPr txBox="1"/>
          <p:nvPr/>
        </p:nvSpPr>
        <p:spPr>
          <a:xfrm>
            <a:off x="640080" y="416052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DDS: o que trava</a:t>
            </a:r>
            <a:endParaRPr lang="en-US" sz="1200" dirty="0"/>
          </a:p>
        </p:txBody>
      </p:sp>
      <p:pic>
        <p:nvPicPr>
          <p:cNvPr id="8" name="Ilustracao parte @a1z" descr="/tmp/claude-0/-home-claude/5746e17e-ab87-5418-9566-46e1b5e96b03/scratchpad/pptx2/assets/hero-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572000" cy="4572000"/>
          </a:xfrm>
          <a:prstGeom prst="rect">
            <a:avLst/>
          </a:prstGeom>
        </p:spPr>
      </p:pic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COMUNICAÇÃO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Comunicar é tornar comum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Do latim </a:t>
            </a:r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communicare</a:t>
            </a:r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: partilhar, tornar comum.</a:t>
            </a:r>
            <a:endParaRPr lang="en-US" sz="1500" dirty="0"/>
          </a:p>
        </p:txBody>
      </p:sp>
      <p:sp>
        <p:nvSpPr>
          <p:cNvPr id="5" name="No Emissor @a1u"/>
          <p:cNvSpPr/>
          <p:nvPr/>
        </p:nvSpPr>
        <p:spPr>
          <a:xfrm>
            <a:off x="640080" y="1965960"/>
            <a:ext cx="228600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6" name="Icone Emissor @a1u" descr="m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212848"/>
            <a:ext cx="548640" cy="548640"/>
          </a:xfrm>
          <a:prstGeom prst="rect">
            <a:avLst/>
          </a:prstGeom>
        </p:spPr>
      </p:pic>
      <p:sp>
        <p:nvSpPr>
          <p:cNvPr id="7" name="Texto Emissor @a1u"/>
          <p:cNvSpPr txBox="1"/>
          <p:nvPr/>
        </p:nvSpPr>
        <p:spPr>
          <a:xfrm>
            <a:off x="1463040" y="20574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Emissor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quem fala ou escreve</a:t>
            </a:r>
            <a:endParaRPr lang="en-US" sz="1800" dirty="0"/>
          </a:p>
        </p:txBody>
      </p:sp>
      <p:sp>
        <p:nvSpPr>
          <p:cNvPr id="8" name="Seta @a1w.1"/>
          <p:cNvSpPr/>
          <p:nvPr/>
        </p:nvSpPr>
        <p:spPr>
          <a:xfrm>
            <a:off x="2999232" y="2491740"/>
            <a:ext cx="442874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No Mensagem @a2u"/>
          <p:cNvSpPr/>
          <p:nvPr/>
        </p:nvSpPr>
        <p:spPr>
          <a:xfrm>
            <a:off x="3515258" y="1965960"/>
            <a:ext cx="228600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0" name="Icone Mensagem @a2u" descr="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850" y="2212848"/>
            <a:ext cx="548640" cy="548640"/>
          </a:xfrm>
          <a:prstGeom prst="rect">
            <a:avLst/>
          </a:prstGeom>
        </p:spPr>
      </p:pic>
      <p:sp>
        <p:nvSpPr>
          <p:cNvPr id="11" name="Texto Mensagem @a2u"/>
          <p:cNvSpPr txBox="1"/>
          <p:nvPr/>
        </p:nvSpPr>
        <p:spPr>
          <a:xfrm>
            <a:off x="4338218" y="20574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Mensagem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 ideia, em palavras</a:t>
            </a:r>
            <a:endParaRPr lang="en-US" sz="1800" dirty="0"/>
          </a:p>
        </p:txBody>
      </p:sp>
      <p:sp>
        <p:nvSpPr>
          <p:cNvPr id="12" name="Seta @a2w.1"/>
          <p:cNvSpPr/>
          <p:nvPr/>
        </p:nvSpPr>
        <p:spPr>
          <a:xfrm>
            <a:off x="5874410" y="2491740"/>
            <a:ext cx="442874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No Canal @a3u"/>
          <p:cNvSpPr/>
          <p:nvPr/>
        </p:nvSpPr>
        <p:spPr>
          <a:xfrm>
            <a:off x="6390437" y="1965960"/>
            <a:ext cx="228600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4" name="Icone Canal @a3u" descr="mega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029" y="2212848"/>
            <a:ext cx="548640" cy="548640"/>
          </a:xfrm>
          <a:prstGeom prst="rect">
            <a:avLst/>
          </a:prstGeom>
        </p:spPr>
      </p:pic>
      <p:sp>
        <p:nvSpPr>
          <p:cNvPr id="15" name="Texto Canal @a3u"/>
          <p:cNvSpPr txBox="1"/>
          <p:nvPr/>
        </p:nvSpPr>
        <p:spPr>
          <a:xfrm>
            <a:off x="7213397" y="20574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Canal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fala, e-mail, WhatsApp</a:t>
            </a:r>
            <a:endParaRPr lang="en-US" sz="1800" dirty="0"/>
          </a:p>
        </p:txBody>
      </p:sp>
      <p:sp>
        <p:nvSpPr>
          <p:cNvPr id="16" name="Seta @a3w.1"/>
          <p:cNvSpPr/>
          <p:nvPr/>
        </p:nvSpPr>
        <p:spPr>
          <a:xfrm>
            <a:off x="8749589" y="2491740"/>
            <a:ext cx="442874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No Receptor @a4u"/>
          <p:cNvSpPr/>
          <p:nvPr/>
        </p:nvSpPr>
        <p:spPr>
          <a:xfrm>
            <a:off x="9265615" y="1965960"/>
            <a:ext cx="228600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8" name="Icone Receptor @a4u" descr="e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0207" y="2212848"/>
            <a:ext cx="548640" cy="548640"/>
          </a:xfrm>
          <a:prstGeom prst="rect">
            <a:avLst/>
          </a:prstGeom>
        </p:spPr>
      </p:pic>
      <p:sp>
        <p:nvSpPr>
          <p:cNvPr id="19" name="Texto Receptor @a4u"/>
          <p:cNvSpPr txBox="1"/>
          <p:nvPr/>
        </p:nvSpPr>
        <p:spPr>
          <a:xfrm>
            <a:off x="10088575" y="20574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Receptor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quem precisa entender</a:t>
            </a:r>
            <a:endParaRPr lang="en-US" sz="1800" dirty="0"/>
          </a:p>
        </p:txBody>
      </p:sp>
      <p:sp>
        <p:nvSpPr>
          <p:cNvPr id="20" name="Feedback 1 @a5w"/>
          <p:cNvSpPr/>
          <p:nvPr/>
        </p:nvSpPr>
        <p:spPr>
          <a:xfrm>
            <a:off x="10408615" y="3017520"/>
            <a:ext cx="0" cy="45720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21" name="Feedback 2 @a5w.1"/>
          <p:cNvSpPr/>
          <p:nvPr/>
        </p:nvSpPr>
        <p:spPr>
          <a:xfrm flipH="1">
            <a:off x="1783080" y="3474720"/>
            <a:ext cx="862553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22" name="Feedback 3 @a5f.2"/>
          <p:cNvSpPr/>
          <p:nvPr/>
        </p:nvSpPr>
        <p:spPr>
          <a:xfrm>
            <a:off x="1783080" y="3017520"/>
            <a:ext cx="0" cy="45720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23" name="Rotulo feedback @a5f.2"/>
          <p:cNvSpPr txBox="1"/>
          <p:nvPr/>
        </p:nvSpPr>
        <p:spPr>
          <a:xfrm>
            <a:off x="2926080" y="3566160"/>
            <a:ext cx="6339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Feedback: o receptor mostra o que entendeu</a:t>
            </a:r>
            <a:endParaRPr lang="en-US" sz="1300" dirty="0"/>
          </a:p>
        </p:txBody>
      </p:sp>
      <p:sp>
        <p:nvSpPr>
          <p:cNvPr id="24" name="Ruido @a6f"/>
          <p:cNvSpPr/>
          <p:nvPr/>
        </p:nvSpPr>
        <p:spPr>
          <a:xfrm>
            <a:off x="640080" y="4069080"/>
            <a:ext cx="10911535" cy="502920"/>
          </a:xfrm>
          <a:prstGeom prst="roundRect">
            <a:avLst>
              <a:gd name="adj" fmla="val 21818"/>
            </a:avLst>
          </a:prstGeom>
          <a:noFill/>
          <a:ln w="12700">
            <a:solidFill>
              <a:schemeClr val="accent5">
                <a:alpha val="65000"/>
              </a:schemeClr>
            </a:solidFill>
            <a:prstDash val="dash"/>
          </a:ln>
        </p:spPr>
      </p:sp>
      <p:sp>
        <p:nvSpPr>
          <p:cNvPr id="25" name="Texto ruido @a6f"/>
          <p:cNvSpPr txBox="1"/>
          <p:nvPr/>
        </p:nvSpPr>
        <p:spPr>
          <a:xfrm>
            <a:off x="640080" y="406908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RUÍDO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  barulho do CD · pressa · siglas · suposições — atrapalham todas as etapas</a:t>
            </a:r>
            <a:endParaRPr lang="en-US" sz="1300" dirty="0"/>
          </a:p>
        </p:txBody>
      </p:sp>
      <p:sp>
        <p:nvSpPr>
          <p:cNvPr id="26" name="Frase central @a7u"/>
          <p:cNvSpPr/>
          <p:nvPr/>
        </p:nvSpPr>
        <p:spPr>
          <a:xfrm>
            <a:off x="640080" y="4892040"/>
            <a:ext cx="1091153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7" name="Texto frase central @a7u"/>
          <p:cNvSpPr txBox="1"/>
          <p:nvPr/>
        </p:nvSpPr>
        <p:spPr>
          <a:xfrm>
            <a:off x="960120" y="489204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Só existe comunicação quando o outro entende — </a:t>
            </a:r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e age como combinado.</a:t>
            </a:r>
            <a:endParaRPr lang="en-US" sz="19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COMUNICAÇÃO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preço de comunicar mal</a:t>
            </a:r>
            <a:endParaRPr lang="en-US" sz="3200" dirty="0"/>
          </a:p>
        </p:txBody>
      </p:sp>
      <p:sp>
        <p:nvSpPr>
          <p:cNvPr id="4" name="Dado 1 @a1z"/>
          <p:cNvSpPr/>
          <p:nvPr/>
        </p:nvSpPr>
        <p:spPr>
          <a:xfrm>
            <a:off x="640080" y="1645920"/>
            <a:ext cx="5295748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ero @a1z"/>
          <p:cNvSpPr txBox="1"/>
          <p:nvPr/>
        </p:nvSpPr>
        <p:spPr>
          <a:xfrm>
            <a:off x="1005840" y="187452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56%</a:t>
            </a:r>
            <a:endParaRPr lang="en-US" sz="8000" dirty="0"/>
          </a:p>
        </p:txBody>
      </p:sp>
      <p:sp>
        <p:nvSpPr>
          <p:cNvPr id="6" name="Legenda @a1z"/>
          <p:cNvSpPr txBox="1"/>
          <p:nvPr/>
        </p:nvSpPr>
        <p:spPr>
          <a:xfrm>
            <a:off x="1005840" y="320040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dos recursos em risco nos projetos estão ligados à comunicação ineficaz</a:t>
            </a:r>
            <a:endParaRPr lang="en-US" sz="1500" dirty="0"/>
          </a:p>
        </p:txBody>
      </p:sp>
      <p:sp>
        <p:nvSpPr>
          <p:cNvPr id="7" name="Fonte @a1z"/>
          <p:cNvSpPr txBox="1"/>
          <p:nvPr/>
        </p:nvSpPr>
        <p:spPr>
          <a:xfrm>
            <a:off x="1005840" y="4114800"/>
            <a:ext cx="4564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PMI · Pulse of the Profession, 2013</a:t>
            </a:r>
            <a:endParaRPr lang="en-US" sz="1100" dirty="0"/>
          </a:p>
        </p:txBody>
      </p:sp>
      <p:sp>
        <p:nvSpPr>
          <p:cNvPr id="8" name="Dado 2 @a2z"/>
          <p:cNvSpPr/>
          <p:nvPr/>
        </p:nvSpPr>
        <p:spPr>
          <a:xfrm>
            <a:off x="6255868" y="1645920"/>
            <a:ext cx="5295748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9" name="Numero @a2z"/>
          <p:cNvSpPr txBox="1"/>
          <p:nvPr/>
        </p:nvSpPr>
        <p:spPr>
          <a:xfrm>
            <a:off x="6621628" y="187452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7,47 h</a:t>
            </a:r>
            <a:endParaRPr lang="en-US" sz="8000" dirty="0"/>
          </a:p>
        </p:txBody>
      </p:sp>
      <p:sp>
        <p:nvSpPr>
          <p:cNvPr id="10" name="Legenda @a2z"/>
          <p:cNvSpPr txBox="1"/>
          <p:nvPr/>
        </p:nvSpPr>
        <p:spPr>
          <a:xfrm>
            <a:off x="6621628" y="320040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por semana é o que as equipes perdem com comunicação ruim — quase um dia de trabalho</a:t>
            </a:r>
            <a:endParaRPr lang="en-US" sz="1500" dirty="0"/>
          </a:p>
        </p:txBody>
      </p:sp>
      <p:sp>
        <p:nvSpPr>
          <p:cNvPr id="11" name="Fonte @a2z"/>
          <p:cNvSpPr txBox="1"/>
          <p:nvPr/>
        </p:nvSpPr>
        <p:spPr>
          <a:xfrm>
            <a:off x="6621628" y="4114800"/>
            <a:ext cx="4564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Grammarly e The Harris Poll · EUA, 2022</a:t>
            </a:r>
            <a:endParaRPr lang="en-US" sz="1100" dirty="0"/>
          </a:p>
        </p:txBody>
      </p:sp>
      <p:sp>
        <p:nvSpPr>
          <p:cNvPr id="12" name="Na operacao @a3u"/>
          <p:cNvSpPr/>
          <p:nvPr/>
        </p:nvSpPr>
        <p:spPr>
          <a:xfrm>
            <a:off x="640080" y="4937760"/>
            <a:ext cx="10911535" cy="777240"/>
          </a:xfrm>
          <a:prstGeom prst="roundRect">
            <a:avLst>
              <a:gd name="adj" fmla="val 14118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cone operacao @a3u" descr="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5074920"/>
            <a:ext cx="502920" cy="502920"/>
          </a:xfrm>
          <a:prstGeom prst="rect">
            <a:avLst/>
          </a:prstGeom>
        </p:spPr>
      </p:pic>
      <p:sp>
        <p:nvSpPr>
          <p:cNvPr id="14" name="Texto operacao @a3u"/>
          <p:cNvSpPr txBox="1"/>
          <p:nvPr/>
        </p:nvSpPr>
        <p:spPr>
          <a:xfrm>
            <a:off x="1554480" y="493776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Na operação, isso vira retrabalho, atraso, avaria e risco de acidente.</a:t>
            </a:r>
            <a:endParaRPr lang="en-US" sz="18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CASO REAL (52 S)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Quando a comunicação falha</a:t>
            </a:r>
            <a:endParaRPr lang="en-US" sz="3200" dirty="0"/>
          </a:p>
        </p:txBody>
      </p:sp>
      <p:pic>
        <p:nvPicPr>
          <p:cNvPr id="4" name="Video Comunicacao e tud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463040"/>
            <a:ext cx="2700338" cy="4800600"/>
          </a:xfrm>
          <a:prstGeom prst="rect">
            <a:avLst/>
          </a:prstGeom>
        </p:spPr>
      </p:pic>
      <p:sp>
        <p:nvSpPr>
          <p:cNvPr id="5" name="Pergunta video @a1u"/>
          <p:cNvSpPr/>
          <p:nvPr/>
        </p:nvSpPr>
        <p:spPr>
          <a:xfrm>
            <a:off x="3751898" y="1600200"/>
            <a:ext cx="7799718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6" name="Icone pergunta @a1u" descr="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0498" y="1874520"/>
            <a:ext cx="594360" cy="594360"/>
          </a:xfrm>
          <a:prstGeom prst="rect">
            <a:avLst/>
          </a:prstGeom>
        </p:spPr>
      </p:pic>
      <p:sp>
        <p:nvSpPr>
          <p:cNvPr id="7" name="Texto pergunta @a1u"/>
          <p:cNvSpPr txBox="1"/>
          <p:nvPr/>
        </p:nvSpPr>
        <p:spPr>
          <a:xfrm>
            <a:off x="4757738" y="1600200"/>
            <a:ext cx="66109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Enquanto assiste: o que faltou nessa comunicação?</a:t>
            </a:r>
            <a:endParaRPr lang="en-US" sz="2100" dirty="0"/>
          </a:p>
        </p:txBody>
      </p:sp>
      <p:sp>
        <p:nvSpPr>
          <p:cNvPr id="8" name="Faltou 0 @c1u.0"/>
          <p:cNvSpPr txBox="1"/>
          <p:nvPr/>
        </p:nvSpPr>
        <p:spPr>
          <a:xfrm>
            <a:off x="3751898" y="2971800"/>
            <a:ext cx="1828800" cy="411480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Instrução clara</a:t>
            </a:r>
            <a:endParaRPr lang="en-US" sz="1300" dirty="0"/>
          </a:p>
        </p:txBody>
      </p:sp>
      <p:sp>
        <p:nvSpPr>
          <p:cNvPr id="9" name="Faltou 1 @c1u.1"/>
          <p:cNvSpPr txBox="1"/>
          <p:nvPr/>
        </p:nvSpPr>
        <p:spPr>
          <a:xfrm>
            <a:off x="5717858" y="2971800"/>
            <a:ext cx="2971800" cy="411480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Confirmação do entendimento</a:t>
            </a:r>
            <a:endParaRPr lang="en-US" sz="1300" dirty="0"/>
          </a:p>
        </p:txBody>
      </p:sp>
      <p:sp>
        <p:nvSpPr>
          <p:cNvPr id="10" name="Faltou 2 @c1u.2"/>
          <p:cNvSpPr txBox="1"/>
          <p:nvPr/>
        </p:nvSpPr>
        <p:spPr>
          <a:xfrm>
            <a:off x="8826818" y="2971800"/>
            <a:ext cx="2331720" cy="411480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Registro do combinado</a:t>
            </a:r>
            <a:endParaRPr lang="en-US" sz="1300" dirty="0"/>
          </a:p>
        </p:txBody>
      </p:sp>
      <p:sp>
        <p:nvSpPr>
          <p:cNvPr id="11" name="Ma-fe @c2u"/>
          <p:cNvSpPr/>
          <p:nvPr/>
        </p:nvSpPr>
        <p:spPr>
          <a:xfrm>
            <a:off x="3751898" y="3657600"/>
            <a:ext cx="7799718" cy="146304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2" name="Texto ma-fe @c2u"/>
          <p:cNvSpPr txBox="1"/>
          <p:nvPr/>
        </p:nvSpPr>
        <p:spPr>
          <a:xfrm>
            <a:off x="4071938" y="3657600"/>
            <a:ext cx="71596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accent2"/>
                </a:solidFill>
              </a:rPr>
              <a:t>Quase nunca é má-fé: </a:t>
            </a:r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bg1"/>
                </a:solidFill>
              </a:rPr>
              <a:t>alguém pede uma coisa, o outro entende outra e ninguém confere antes de agir.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751898" y="5943600"/>
            <a:ext cx="7799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Vídeo: Geyza Dourado (@geyza.dourado)</a:t>
            </a:r>
            <a:endParaRPr lang="en-US" sz="11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COMUNICAÇÃO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Feche o ciclo: fala, repete, confirma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188720" cy="329184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accent5">
                <a:alpha val="5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EM VEZ 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48132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strike="sngStrike" dirty="0">
                <a:solidFill>
                  <a:schemeClr val="accent5"/>
                </a:solidFill>
              </a:rPr>
              <a:t>“Vê aquele pedido lá pra mim.”</a:t>
            </a:r>
            <a:endParaRPr lang="en-US" sz="1500" dirty="0"/>
          </a:p>
        </p:txBody>
      </p:sp>
      <p:sp>
        <p:nvSpPr>
          <p:cNvPr id="6" name="Passo ciclo @c1u"/>
          <p:cNvSpPr/>
          <p:nvPr/>
        </p:nvSpPr>
        <p:spPr>
          <a:xfrm>
            <a:off x="640080" y="2057400"/>
            <a:ext cx="3210458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7" name="Icone ciclo @c1u" descr="m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31720"/>
            <a:ext cx="548640" cy="548640"/>
          </a:xfrm>
          <a:prstGeom prst="rect">
            <a:avLst/>
          </a:prstGeom>
        </p:spPr>
      </p:pic>
      <p:sp>
        <p:nvSpPr>
          <p:cNvPr id="8" name="Rotulo ciclo @c1u"/>
          <p:cNvSpPr txBox="1"/>
          <p:nvPr/>
        </p:nvSpPr>
        <p:spPr>
          <a:xfrm>
            <a:off x="1600200" y="2331720"/>
            <a:ext cx="20217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 · FALA</a:t>
            </a:r>
            <a:endParaRPr lang="en-US" sz="1200" dirty="0"/>
          </a:p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Quem pede</a:t>
            </a:r>
            <a:endParaRPr lang="en-US" sz="1200" dirty="0"/>
          </a:p>
        </p:txBody>
      </p:sp>
      <p:sp>
        <p:nvSpPr>
          <p:cNvPr id="9" name="Fala ciclo @c1u"/>
          <p:cNvSpPr txBox="1"/>
          <p:nvPr/>
        </p:nvSpPr>
        <p:spPr>
          <a:xfrm>
            <a:off x="914400" y="3108960"/>
            <a:ext cx="266181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“Separe o pedido 4521 até as 14h. O caminhão sai às 15h.”</a:t>
            </a:r>
            <a:endParaRPr lang="en-US" sz="1800" dirty="0"/>
          </a:p>
        </p:txBody>
      </p:sp>
      <p:sp>
        <p:nvSpPr>
          <p:cNvPr id="10" name="Seta ciclo @c2w"/>
          <p:cNvSpPr/>
          <p:nvPr/>
        </p:nvSpPr>
        <p:spPr>
          <a:xfrm>
            <a:off x="3941978" y="3360420"/>
            <a:ext cx="457200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Passo ciclo @c2u"/>
          <p:cNvSpPr/>
          <p:nvPr/>
        </p:nvSpPr>
        <p:spPr>
          <a:xfrm>
            <a:off x="4490618" y="2057400"/>
            <a:ext cx="3210458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2" name="Icone ciclo @c2u" descr="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38" y="2331720"/>
            <a:ext cx="548640" cy="548640"/>
          </a:xfrm>
          <a:prstGeom prst="rect">
            <a:avLst/>
          </a:prstGeom>
        </p:spPr>
      </p:pic>
      <p:sp>
        <p:nvSpPr>
          <p:cNvPr id="13" name="Rotulo ciclo @c2u"/>
          <p:cNvSpPr txBox="1"/>
          <p:nvPr/>
        </p:nvSpPr>
        <p:spPr>
          <a:xfrm>
            <a:off x="5450738" y="2331720"/>
            <a:ext cx="20217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2 · REPETE</a:t>
            </a:r>
            <a:endParaRPr lang="en-US" sz="1200" dirty="0"/>
          </a:p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Quem recebe</a:t>
            </a:r>
            <a:endParaRPr lang="en-US" sz="1200" dirty="0"/>
          </a:p>
        </p:txBody>
      </p:sp>
      <p:sp>
        <p:nvSpPr>
          <p:cNvPr id="14" name="Fala ciclo @c2u"/>
          <p:cNvSpPr txBox="1"/>
          <p:nvPr/>
        </p:nvSpPr>
        <p:spPr>
          <a:xfrm>
            <a:off x="4764938" y="3108960"/>
            <a:ext cx="266181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“Pedido 4521 até as 14h. Se faltar item, te aviso na hora.”</a:t>
            </a:r>
            <a:endParaRPr lang="en-US" sz="1800" dirty="0"/>
          </a:p>
        </p:txBody>
      </p:sp>
      <p:sp>
        <p:nvSpPr>
          <p:cNvPr id="15" name="Seta ciclo @c3w"/>
          <p:cNvSpPr/>
          <p:nvPr/>
        </p:nvSpPr>
        <p:spPr>
          <a:xfrm>
            <a:off x="7792517" y="3360420"/>
            <a:ext cx="457200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Passo ciclo @c3u"/>
          <p:cNvSpPr/>
          <p:nvPr/>
        </p:nvSpPr>
        <p:spPr>
          <a:xfrm>
            <a:off x="8341157" y="2057400"/>
            <a:ext cx="3210458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Icone ciclo @c3u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477" y="2331720"/>
            <a:ext cx="548640" cy="548640"/>
          </a:xfrm>
          <a:prstGeom prst="rect">
            <a:avLst/>
          </a:prstGeom>
        </p:spPr>
      </p:pic>
      <p:sp>
        <p:nvSpPr>
          <p:cNvPr id="18" name="Rotulo ciclo @c3u"/>
          <p:cNvSpPr txBox="1"/>
          <p:nvPr/>
        </p:nvSpPr>
        <p:spPr>
          <a:xfrm>
            <a:off x="9301277" y="2331720"/>
            <a:ext cx="20217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3 · CONFIRMA</a:t>
            </a:r>
            <a:endParaRPr lang="en-US" sz="1200" dirty="0"/>
          </a:p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Quem pediu</a:t>
            </a:r>
            <a:endParaRPr lang="en-US" sz="1200" dirty="0"/>
          </a:p>
        </p:txBody>
      </p:sp>
      <p:sp>
        <p:nvSpPr>
          <p:cNvPr id="19" name="Fala ciclo @c3u"/>
          <p:cNvSpPr txBox="1"/>
          <p:nvPr/>
        </p:nvSpPr>
        <p:spPr>
          <a:xfrm>
            <a:off x="8615477" y="3108960"/>
            <a:ext cx="266181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“Isso. Combinado.”</a:t>
            </a:r>
            <a:endParaRPr lang="en-US" sz="1800" dirty="0"/>
          </a:p>
        </p:txBody>
      </p:sp>
      <p:sp>
        <p:nvSpPr>
          <p:cNvPr id="20" name="Sintese ciclo @c3f.2"/>
          <p:cNvSpPr txBox="1"/>
          <p:nvPr/>
        </p:nvSpPr>
        <p:spPr>
          <a:xfrm>
            <a:off x="640080" y="49377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Cinco segundos de confirmação evitam horas de retrabalho.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59436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Comunicação em ciclo fechado (check-back), usada na saúde e na aviação · Fonte: AHRQ, TeamSTEPPS</a:t>
            </a:r>
            <a:endParaRPr lang="en-US" sz="10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FEEDBACK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Feedback é ferramenta de liderança, não bronca</a:t>
            </a:r>
            <a:endParaRPr lang="en-US" sz="3200" dirty="0"/>
          </a:p>
        </p:txBody>
      </p:sp>
      <p:pic>
        <p:nvPicPr>
          <p:cNvPr id="4" name="Ilustracao feedback @a1z" descr="/tmp/claude-0/-home-claude/5746e17e-ab87-5418-9566-46e1b5e96b03/scratchpad/pptx2/assets/hero-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91640"/>
            <a:ext cx="3383280" cy="3383280"/>
          </a:xfrm>
          <a:prstGeom prst="rect">
            <a:avLst/>
          </a:prstGeom>
        </p:spPr>
      </p:pic>
      <p:sp>
        <p:nvSpPr>
          <p:cNvPr id="5" name="Principio @a2u.0"/>
          <p:cNvSpPr/>
          <p:nvPr/>
        </p:nvSpPr>
        <p:spPr>
          <a:xfrm>
            <a:off x="4251960" y="1645920"/>
            <a:ext cx="228081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6" name="Icone principio @a2u.0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874520"/>
            <a:ext cx="502920" cy="502920"/>
          </a:xfrm>
          <a:prstGeom prst="rect">
            <a:avLst/>
          </a:prstGeom>
        </p:spPr>
      </p:pic>
      <p:sp>
        <p:nvSpPr>
          <p:cNvPr id="7" name="Texto principio @a2u.0"/>
          <p:cNvSpPr txBox="1"/>
          <p:nvPr/>
        </p:nvSpPr>
        <p:spPr>
          <a:xfrm>
            <a:off x="4480560" y="2468880"/>
            <a:ext cx="18693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Frequente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Não espere o problema crescer.</a:t>
            </a:r>
            <a:endParaRPr lang="en-US" sz="1500" dirty="0"/>
          </a:p>
        </p:txBody>
      </p:sp>
      <p:sp>
        <p:nvSpPr>
          <p:cNvPr id="8" name="Principio @a2u.1"/>
          <p:cNvSpPr/>
          <p:nvPr/>
        </p:nvSpPr>
        <p:spPr>
          <a:xfrm>
            <a:off x="6761378" y="1645920"/>
            <a:ext cx="228081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9" name="Icone principio @a2u.1" descr="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978" y="1874520"/>
            <a:ext cx="502920" cy="502920"/>
          </a:xfrm>
          <a:prstGeom prst="rect">
            <a:avLst/>
          </a:prstGeom>
        </p:spPr>
      </p:pic>
      <p:sp>
        <p:nvSpPr>
          <p:cNvPr id="10" name="Texto principio @a2u.1"/>
          <p:cNvSpPr txBox="1"/>
          <p:nvPr/>
        </p:nvSpPr>
        <p:spPr>
          <a:xfrm>
            <a:off x="6989978" y="2468880"/>
            <a:ext cx="18693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Positivo também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Reconheça o que deu certo, em público.</a:t>
            </a:r>
            <a:endParaRPr lang="en-US" sz="1500" dirty="0"/>
          </a:p>
        </p:txBody>
      </p:sp>
      <p:sp>
        <p:nvSpPr>
          <p:cNvPr id="11" name="Principio @a2u.2"/>
          <p:cNvSpPr/>
          <p:nvPr/>
        </p:nvSpPr>
        <p:spPr>
          <a:xfrm>
            <a:off x="9270797" y="1645920"/>
            <a:ext cx="228081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2" name="Icone principio @a2u.2" descr="ch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397" y="1874520"/>
            <a:ext cx="502920" cy="502920"/>
          </a:xfrm>
          <a:prstGeom prst="rect">
            <a:avLst/>
          </a:prstGeom>
        </p:spPr>
      </p:pic>
      <p:sp>
        <p:nvSpPr>
          <p:cNvPr id="13" name="Texto principio @a2u.2"/>
          <p:cNvSpPr txBox="1"/>
          <p:nvPr/>
        </p:nvSpPr>
        <p:spPr>
          <a:xfrm>
            <a:off x="9499397" y="2468880"/>
            <a:ext cx="18693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Corretivo em particular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Ninguém aprende sendo exposto.</a:t>
            </a:r>
            <a:endParaRPr lang="en-US" sz="1500" dirty="0"/>
          </a:p>
        </p:txBody>
      </p:sp>
      <p:sp>
        <p:nvSpPr>
          <p:cNvPr id="14" name="Principio @a2u.3"/>
          <p:cNvSpPr/>
          <p:nvPr/>
        </p:nvSpPr>
        <p:spPr>
          <a:xfrm>
            <a:off x="4251960" y="3749040"/>
            <a:ext cx="228081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5" name="Icone principio @a2u.3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977640"/>
            <a:ext cx="502920" cy="502920"/>
          </a:xfrm>
          <a:prstGeom prst="rect">
            <a:avLst/>
          </a:prstGeom>
        </p:spPr>
      </p:pic>
      <p:sp>
        <p:nvSpPr>
          <p:cNvPr id="16" name="Texto principio @a2u.3"/>
          <p:cNvSpPr txBox="1"/>
          <p:nvPr/>
        </p:nvSpPr>
        <p:spPr>
          <a:xfrm>
            <a:off x="4480560" y="4572000"/>
            <a:ext cx="18693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Específico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Fato, dia e lugar — nada de “você sempre…”.</a:t>
            </a:r>
            <a:endParaRPr lang="en-US" sz="1500" dirty="0"/>
          </a:p>
        </p:txBody>
      </p:sp>
      <p:sp>
        <p:nvSpPr>
          <p:cNvPr id="17" name="Principio @a2u.4"/>
          <p:cNvSpPr/>
          <p:nvPr/>
        </p:nvSpPr>
        <p:spPr>
          <a:xfrm>
            <a:off x="6761378" y="3749040"/>
            <a:ext cx="228081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8" name="Icone principio @a2u.4" descr="e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9978" y="3977640"/>
            <a:ext cx="502920" cy="502920"/>
          </a:xfrm>
          <a:prstGeom prst="rect">
            <a:avLst/>
          </a:prstGeom>
        </p:spPr>
      </p:pic>
      <p:sp>
        <p:nvSpPr>
          <p:cNvPr id="19" name="Texto principio @a2u.4"/>
          <p:cNvSpPr txBox="1"/>
          <p:nvPr/>
        </p:nvSpPr>
        <p:spPr>
          <a:xfrm>
            <a:off x="6989978" y="4572000"/>
            <a:ext cx="18693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Ouça o outro lado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Pergunte o que aconteceu.</a:t>
            </a:r>
            <a:endParaRPr lang="en-US" sz="1500" dirty="0"/>
          </a:p>
        </p:txBody>
      </p:sp>
      <p:sp>
        <p:nvSpPr>
          <p:cNvPr id="20" name="Principio @a2u.5"/>
          <p:cNvSpPr/>
          <p:nvPr/>
        </p:nvSpPr>
        <p:spPr>
          <a:xfrm>
            <a:off x="9270797" y="3749040"/>
            <a:ext cx="228081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1" name="Icone principio @a2u.5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9397" y="3977640"/>
            <a:ext cx="502920" cy="502920"/>
          </a:xfrm>
          <a:prstGeom prst="rect">
            <a:avLst/>
          </a:prstGeom>
        </p:spPr>
      </p:pic>
      <p:sp>
        <p:nvSpPr>
          <p:cNvPr id="22" name="Texto principio @a2u.5"/>
          <p:cNvSpPr txBox="1"/>
          <p:nvPr/>
        </p:nvSpPr>
        <p:spPr>
          <a:xfrm>
            <a:off x="9499397" y="4572000"/>
            <a:ext cx="18693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Feche com um combinado</a:t>
            </a:r>
            <a:endParaRPr lang="en-US" sz="1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O que muda e a partir de quando.</a:t>
            </a:r>
            <a:endParaRPr lang="en-US" sz="1500" dirty="0"/>
          </a:p>
        </p:txBody>
      </p:sp>
      <p:sp>
        <p:nvSpPr>
          <p:cNvPr id="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FEEDBACK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Modelo SCI: situação, comportamento, impacto</a:t>
            </a:r>
            <a:endParaRPr lang="en-US" sz="3200" dirty="0"/>
          </a:p>
        </p:txBody>
      </p:sp>
      <p:sp>
        <p:nvSpPr>
          <p:cNvPr id="4" name="Etapa SCI @a1u.0"/>
          <p:cNvSpPr/>
          <p:nvPr/>
        </p:nvSpPr>
        <p:spPr>
          <a:xfrm>
            <a:off x="640080" y="1554480"/>
            <a:ext cx="2625014" cy="868680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5" name="Letra SCI @a1u.0"/>
          <p:cNvSpPr txBox="1"/>
          <p:nvPr/>
        </p:nvSpPr>
        <p:spPr>
          <a:xfrm>
            <a:off x="822960" y="15544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S</a:t>
            </a:r>
            <a:endParaRPr lang="en-US" sz="3400" dirty="0"/>
          </a:p>
        </p:txBody>
      </p:sp>
      <p:sp>
        <p:nvSpPr>
          <p:cNvPr id="6" name="Texto SCI @a1u.0"/>
          <p:cNvSpPr txBox="1"/>
          <p:nvPr/>
        </p:nvSpPr>
        <p:spPr>
          <a:xfrm>
            <a:off x="1417320" y="1554480"/>
            <a:ext cx="17106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Situação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Quando e onde?</a:t>
            </a:r>
            <a:endParaRPr lang="en-US" sz="1600" dirty="0"/>
          </a:p>
        </p:txBody>
      </p:sp>
      <p:sp>
        <p:nvSpPr>
          <p:cNvPr id="7" name="Etapa SCI @a1u.1"/>
          <p:cNvSpPr/>
          <p:nvPr/>
        </p:nvSpPr>
        <p:spPr>
          <a:xfrm>
            <a:off x="3402254" y="1554480"/>
            <a:ext cx="2625014" cy="868680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8" name="Letra SCI @a1u.1"/>
          <p:cNvSpPr txBox="1"/>
          <p:nvPr/>
        </p:nvSpPr>
        <p:spPr>
          <a:xfrm>
            <a:off x="3585134" y="15544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C</a:t>
            </a:r>
            <a:endParaRPr lang="en-US" sz="3400" dirty="0"/>
          </a:p>
        </p:txBody>
      </p:sp>
      <p:sp>
        <p:nvSpPr>
          <p:cNvPr id="9" name="Texto SCI @a1u.1"/>
          <p:cNvSpPr txBox="1"/>
          <p:nvPr/>
        </p:nvSpPr>
        <p:spPr>
          <a:xfrm>
            <a:off x="4179494" y="1554480"/>
            <a:ext cx="17106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Comportamento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 que eu vi?</a:t>
            </a:r>
            <a:endParaRPr lang="en-US" sz="1600" dirty="0"/>
          </a:p>
        </p:txBody>
      </p:sp>
      <p:sp>
        <p:nvSpPr>
          <p:cNvPr id="10" name="Etapa SCI @a1u.2"/>
          <p:cNvSpPr/>
          <p:nvPr/>
        </p:nvSpPr>
        <p:spPr>
          <a:xfrm>
            <a:off x="6164428" y="1554480"/>
            <a:ext cx="2625014" cy="868680"/>
          </a:xfrm>
          <a:prstGeom prst="roundRect">
            <a:avLst>
              <a:gd name="adj" fmla="val 10526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1" name="Letra SCI @a1u.2"/>
          <p:cNvSpPr txBox="1"/>
          <p:nvPr/>
        </p:nvSpPr>
        <p:spPr>
          <a:xfrm>
            <a:off x="6347308" y="15544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I</a:t>
            </a:r>
            <a:endParaRPr lang="en-US" sz="3400" dirty="0"/>
          </a:p>
        </p:txBody>
      </p:sp>
      <p:sp>
        <p:nvSpPr>
          <p:cNvPr id="12" name="Texto SCI @a1u.2"/>
          <p:cNvSpPr txBox="1"/>
          <p:nvPr/>
        </p:nvSpPr>
        <p:spPr>
          <a:xfrm>
            <a:off x="6941668" y="1554480"/>
            <a:ext cx="17106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Impacto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Qual o efeito?</a:t>
            </a:r>
            <a:endParaRPr lang="en-US" sz="1600" dirty="0"/>
          </a:p>
        </p:txBody>
      </p:sp>
      <p:sp>
        <p:nvSpPr>
          <p:cNvPr id="13" name="Etapa SCI @a1u.3"/>
          <p:cNvSpPr/>
          <p:nvPr/>
        </p:nvSpPr>
        <p:spPr>
          <a:xfrm>
            <a:off x="8926601" y="1554480"/>
            <a:ext cx="2625014" cy="86868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4" name="Letra SCI @a1u.3"/>
          <p:cNvSpPr txBox="1"/>
          <p:nvPr/>
        </p:nvSpPr>
        <p:spPr>
          <a:xfrm>
            <a:off x="9109481" y="15544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</a:t>
            </a:r>
            <a:endParaRPr lang="en-US" sz="3400" dirty="0"/>
          </a:p>
        </p:txBody>
      </p:sp>
      <p:sp>
        <p:nvSpPr>
          <p:cNvPr id="15" name="Texto SCI @a1u.3"/>
          <p:cNvSpPr txBox="1"/>
          <p:nvPr/>
        </p:nvSpPr>
        <p:spPr>
          <a:xfrm>
            <a:off x="9703841" y="1554480"/>
            <a:ext cx="17106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Combinado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 que fazemos agora?</a:t>
            </a:r>
            <a:endParaRPr lang="en-US" sz="1600" dirty="0"/>
          </a:p>
        </p:txBody>
      </p:sp>
      <p:sp>
        <p:nvSpPr>
          <p:cNvPr id="16" name="Exemplo POSITIVO @c1u"/>
          <p:cNvSpPr/>
          <p:nvPr/>
        </p:nvSpPr>
        <p:spPr>
          <a:xfrm>
            <a:off x="640080" y="2651760"/>
            <a:ext cx="5318608" cy="32004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7" name="Titulo exemplo @c1u"/>
          <p:cNvSpPr txBox="1"/>
          <p:nvPr/>
        </p:nvSpPr>
        <p:spPr>
          <a:xfrm>
            <a:off x="914400" y="2816352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FEEDBACK POSITIVO</a:t>
            </a:r>
            <a:endParaRPr lang="en-US" sz="1200" dirty="0"/>
          </a:p>
        </p:txBody>
      </p:sp>
      <p:sp>
        <p:nvSpPr>
          <p:cNvPr id="18" name="Letra exemplo @c1u"/>
          <p:cNvSpPr txBox="1"/>
          <p:nvPr/>
        </p:nvSpPr>
        <p:spPr>
          <a:xfrm>
            <a:off x="914400" y="3218688"/>
            <a:ext cx="384048" cy="384048"/>
          </a:xfrm>
          <a:prstGeom prst="ellipse">
            <a:avLst/>
          </a:prstGeom>
          <a:solidFill>
            <a:schemeClr val="tx1"/>
          </a:solidFill>
          <a:ln w="63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</a:t>
            </a:r>
            <a:endParaRPr lang="en-US" sz="1300" dirty="0"/>
          </a:p>
        </p:txBody>
      </p:sp>
      <p:sp>
        <p:nvSpPr>
          <p:cNvPr id="19" name="Linha exemplo @c1u"/>
          <p:cNvSpPr txBox="1"/>
          <p:nvPr/>
        </p:nvSpPr>
        <p:spPr>
          <a:xfrm>
            <a:off x="1463040" y="318211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Ontem, no fechamento do turno,</a:t>
            </a:r>
            <a:endParaRPr lang="en-US" sz="1350" dirty="0"/>
          </a:p>
        </p:txBody>
      </p:sp>
      <p:sp>
        <p:nvSpPr>
          <p:cNvPr id="20" name="Letra exemplo @c1u"/>
          <p:cNvSpPr txBox="1"/>
          <p:nvPr/>
        </p:nvSpPr>
        <p:spPr>
          <a:xfrm>
            <a:off x="914400" y="3858768"/>
            <a:ext cx="384048" cy="384048"/>
          </a:xfrm>
          <a:prstGeom prst="ellipse">
            <a:avLst/>
          </a:prstGeom>
          <a:solidFill>
            <a:schemeClr val="tx1"/>
          </a:solidFill>
          <a:ln w="63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21" name="Linha exemplo @c1u"/>
          <p:cNvSpPr txBox="1"/>
          <p:nvPr/>
        </p:nvSpPr>
        <p:spPr>
          <a:xfrm>
            <a:off x="1463040" y="382219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você deixou a doca 3 organizada e sinalizada.</a:t>
            </a:r>
            <a:endParaRPr lang="en-US" sz="1350" dirty="0"/>
          </a:p>
        </p:txBody>
      </p:sp>
      <p:sp>
        <p:nvSpPr>
          <p:cNvPr id="22" name="Letra exemplo @c1u"/>
          <p:cNvSpPr txBox="1"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chemeClr val="tx1"/>
          </a:solidFill>
          <a:ln w="63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23" name="Linha exemplo @c1u"/>
          <p:cNvSpPr txBox="1"/>
          <p:nvPr/>
        </p:nvSpPr>
        <p:spPr>
          <a:xfrm>
            <a:off x="1463040" y="446227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O turno seguinte começou sem atraso e sem risco de tropeço.</a:t>
            </a:r>
            <a:endParaRPr lang="en-US" sz="1350" dirty="0"/>
          </a:p>
        </p:txBody>
      </p:sp>
      <p:sp>
        <p:nvSpPr>
          <p:cNvPr id="24" name="Letra exemplo @c1u"/>
          <p:cNvSpPr txBox="1"/>
          <p:nvPr/>
        </p:nvSpPr>
        <p:spPr>
          <a:xfrm>
            <a:off x="914400" y="5138928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+</a:t>
            </a:r>
            <a:endParaRPr lang="en-US" sz="1300" dirty="0"/>
          </a:p>
        </p:txBody>
      </p:sp>
      <p:sp>
        <p:nvSpPr>
          <p:cNvPr id="25" name="Linha exemplo @c1u"/>
          <p:cNvSpPr txBox="1"/>
          <p:nvPr/>
        </p:nvSpPr>
        <p:spPr>
          <a:xfrm>
            <a:off x="1463040" y="510235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Quero isso como padrão. Pode mostrar para a equipe como fez?</a:t>
            </a:r>
            <a:endParaRPr lang="en-US" sz="1350" dirty="0"/>
          </a:p>
        </p:txBody>
      </p:sp>
      <p:sp>
        <p:nvSpPr>
          <p:cNvPr id="26" name="Exemplo CORRETIVO @c2u"/>
          <p:cNvSpPr/>
          <p:nvPr/>
        </p:nvSpPr>
        <p:spPr>
          <a:xfrm>
            <a:off x="6233008" y="2651760"/>
            <a:ext cx="5318608" cy="32004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27" name="Titulo exemplo @c2u"/>
          <p:cNvSpPr txBox="1"/>
          <p:nvPr/>
        </p:nvSpPr>
        <p:spPr>
          <a:xfrm>
            <a:off x="6507328" y="2816352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FEEDBACK CORRETIVO</a:t>
            </a:r>
            <a:endParaRPr lang="en-US" sz="1200" dirty="0"/>
          </a:p>
        </p:txBody>
      </p:sp>
      <p:sp>
        <p:nvSpPr>
          <p:cNvPr id="28" name="Letra exemplo @c2u"/>
          <p:cNvSpPr txBox="1"/>
          <p:nvPr/>
        </p:nvSpPr>
        <p:spPr>
          <a:xfrm>
            <a:off x="6507328" y="3218688"/>
            <a:ext cx="384048" cy="384048"/>
          </a:xfrm>
          <a:prstGeom prst="ellipse">
            <a:avLst/>
          </a:prstGeom>
          <a:solidFill>
            <a:schemeClr val="tx1"/>
          </a:solidFill>
          <a:ln w="63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</a:t>
            </a:r>
            <a:endParaRPr lang="en-US" sz="1300" dirty="0"/>
          </a:p>
        </p:txBody>
      </p:sp>
      <p:sp>
        <p:nvSpPr>
          <p:cNvPr id="29" name="Linha exemplo @c2u"/>
          <p:cNvSpPr txBox="1"/>
          <p:nvPr/>
        </p:nvSpPr>
        <p:spPr>
          <a:xfrm>
            <a:off x="7055968" y="318211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Hoje, às 10h, na separação,</a:t>
            </a:r>
            <a:endParaRPr lang="en-US" sz="1350" dirty="0"/>
          </a:p>
        </p:txBody>
      </p:sp>
      <p:sp>
        <p:nvSpPr>
          <p:cNvPr id="30" name="Letra exemplo @c2u"/>
          <p:cNvSpPr txBox="1"/>
          <p:nvPr/>
        </p:nvSpPr>
        <p:spPr>
          <a:xfrm>
            <a:off x="6507328" y="3858768"/>
            <a:ext cx="384048" cy="384048"/>
          </a:xfrm>
          <a:prstGeom prst="ellipse">
            <a:avLst/>
          </a:prstGeom>
          <a:solidFill>
            <a:schemeClr val="tx1"/>
          </a:solidFill>
          <a:ln w="63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1" name="Linha exemplo @c2u"/>
          <p:cNvSpPr txBox="1"/>
          <p:nvPr/>
        </p:nvSpPr>
        <p:spPr>
          <a:xfrm>
            <a:off x="7055968" y="382219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vi você operando a transpaleteira sem o calçado de segurança.</a:t>
            </a:r>
            <a:endParaRPr lang="en-US" sz="1350" dirty="0"/>
          </a:p>
        </p:txBody>
      </p:sp>
      <p:sp>
        <p:nvSpPr>
          <p:cNvPr id="32" name="Letra exemplo @c2u"/>
          <p:cNvSpPr txBox="1"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chemeClr val="tx1"/>
          </a:solidFill>
          <a:ln w="635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33" name="Linha exemplo @c2u"/>
          <p:cNvSpPr txBox="1"/>
          <p:nvPr/>
        </p:nvSpPr>
        <p:spPr>
          <a:xfrm>
            <a:off x="7055968" y="446227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Se um pallet cair, o pé fica exposto — e eu preciso de você inteiro.</a:t>
            </a:r>
            <a:endParaRPr lang="en-US" sz="1350" dirty="0"/>
          </a:p>
        </p:txBody>
      </p:sp>
      <p:sp>
        <p:nvSpPr>
          <p:cNvPr id="34" name="Letra exemplo @c2u"/>
          <p:cNvSpPr txBox="1"/>
          <p:nvPr/>
        </p:nvSpPr>
        <p:spPr>
          <a:xfrm>
            <a:off x="6507328" y="5138928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+</a:t>
            </a:r>
            <a:endParaRPr lang="en-US" sz="1300" dirty="0"/>
          </a:p>
        </p:txBody>
      </p:sp>
      <p:sp>
        <p:nvSpPr>
          <p:cNvPr id="35" name="Linha exemplo @c2u"/>
          <p:cNvSpPr txBox="1"/>
          <p:nvPr/>
        </p:nvSpPr>
        <p:spPr>
          <a:xfrm>
            <a:off x="7055968" y="5102352"/>
            <a:ext cx="4267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O que aconteceu? A partir de agora, só opera de calçado. Combinado?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9618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Baseado no modelo SBI (Situation–Behavior–Impact), do Center for Creative Leadership</a:t>
            </a:r>
            <a:endParaRPr lang="en-US" sz="10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DDS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o DDS não está acontecendo?</a:t>
            </a:r>
            <a:endParaRPr lang="en-US" sz="3200" dirty="0"/>
          </a:p>
        </p:txBody>
      </p:sp>
      <p:sp>
        <p:nvSpPr>
          <p:cNvPr id="4" name="Pergunta grupo @a1u"/>
          <p:cNvSpPr/>
          <p:nvPr/>
        </p:nvSpPr>
        <p:spPr>
          <a:xfrm>
            <a:off x="640080" y="1645920"/>
            <a:ext cx="3886200" cy="4069080"/>
          </a:xfrm>
          <a:prstGeom prst="roundRect">
            <a:avLst>
              <a:gd name="adj" fmla="val 282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pic>
        <p:nvPicPr>
          <p:cNvPr id="5" name="Icone pergunta grupo @a1u" descr="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731520" cy="731520"/>
          </a:xfrm>
          <a:prstGeom prst="rect">
            <a:avLst/>
          </a:prstGeom>
        </p:spPr>
      </p:pic>
      <p:sp>
        <p:nvSpPr>
          <p:cNvPr id="6" name="Texto pergunta grupo @a1u"/>
          <p:cNvSpPr txBox="1"/>
          <p:nvPr/>
        </p:nvSpPr>
        <p:spPr>
          <a:xfrm>
            <a:off x="960120" y="28346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Pergunta para vocês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O que impede o DDS de acontecer no seu turno?</a:t>
            </a:r>
            <a:endParaRPr lang="en-US" sz="1300" dirty="0"/>
          </a:p>
        </p:txBody>
      </p:sp>
      <p:sp>
        <p:nvSpPr>
          <p:cNvPr id="7" name="Motivo @c1u.0"/>
          <p:cNvSpPr/>
          <p:nvPr/>
        </p:nvSpPr>
        <p:spPr>
          <a:xfrm>
            <a:off x="4800600" y="1645920"/>
            <a:ext cx="32612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8" name="Icone motivo @c1u.0" descr="hour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965960"/>
            <a:ext cx="566928" cy="566928"/>
          </a:xfrm>
          <a:prstGeom prst="rect">
            <a:avLst/>
          </a:prstGeom>
        </p:spPr>
      </p:pic>
      <p:sp>
        <p:nvSpPr>
          <p:cNvPr id="9" name="Texto motivo @c1u.0"/>
          <p:cNvSpPr txBox="1"/>
          <p:nvPr/>
        </p:nvSpPr>
        <p:spPr>
          <a:xfrm>
            <a:off x="5760720" y="1737360"/>
            <a:ext cx="2118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chemeClr val="tx1"/>
                </a:solidFill>
              </a:rPr>
              <a:t>“Não dá tempo”</a:t>
            </a:r>
            <a:endParaRPr lang="en-US" sz="1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Pressão da produção no início do turno</a:t>
            </a:r>
            <a:endParaRPr lang="en-US" sz="1550" dirty="0"/>
          </a:p>
        </p:txBody>
      </p:sp>
      <p:sp>
        <p:nvSpPr>
          <p:cNvPr id="10" name="Motivo @c1u.1"/>
          <p:cNvSpPr/>
          <p:nvPr/>
        </p:nvSpPr>
        <p:spPr>
          <a:xfrm>
            <a:off x="8290408" y="1645920"/>
            <a:ext cx="32612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1" name="Icone motivo @c1u.1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008" y="1965960"/>
            <a:ext cx="566928" cy="566928"/>
          </a:xfrm>
          <a:prstGeom prst="rect">
            <a:avLst/>
          </a:prstGeom>
        </p:spPr>
      </p:pic>
      <p:sp>
        <p:nvSpPr>
          <p:cNvPr id="12" name="Texto motivo @c1u.1"/>
          <p:cNvSpPr txBox="1"/>
          <p:nvPr/>
        </p:nvSpPr>
        <p:spPr>
          <a:xfrm>
            <a:off x="9250528" y="1737360"/>
            <a:ext cx="2118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chemeClr val="tx1"/>
                </a:solidFill>
              </a:rPr>
              <a:t>Falta de preparo</a:t>
            </a:r>
            <a:endParaRPr lang="en-US" sz="1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Sem tema definido, ninguém sabe o que falar</a:t>
            </a:r>
            <a:endParaRPr lang="en-US" sz="1550" dirty="0"/>
          </a:p>
        </p:txBody>
      </p:sp>
      <p:sp>
        <p:nvSpPr>
          <p:cNvPr id="13" name="Motivo @c1u.2"/>
          <p:cNvSpPr/>
          <p:nvPr/>
        </p:nvSpPr>
        <p:spPr>
          <a:xfrm>
            <a:off x="4800600" y="3063240"/>
            <a:ext cx="32612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4" name="Icone motivo @c1u.2" descr="w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83280"/>
            <a:ext cx="566928" cy="566928"/>
          </a:xfrm>
          <a:prstGeom prst="rect">
            <a:avLst/>
          </a:prstGeom>
        </p:spPr>
      </p:pic>
      <p:sp>
        <p:nvSpPr>
          <p:cNvPr id="15" name="Texto motivo @c1u.2"/>
          <p:cNvSpPr txBox="1"/>
          <p:nvPr/>
        </p:nvSpPr>
        <p:spPr>
          <a:xfrm>
            <a:off x="5760720" y="3154680"/>
            <a:ext cx="2118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chemeClr val="tx1"/>
                </a:solidFill>
              </a:rPr>
              <a:t>“É só burocracia”</a:t>
            </a:r>
            <a:endParaRPr lang="en-US" sz="1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A equipe não vê valor no DDS</a:t>
            </a:r>
            <a:endParaRPr lang="en-US" sz="1550" dirty="0"/>
          </a:p>
        </p:txBody>
      </p:sp>
      <p:sp>
        <p:nvSpPr>
          <p:cNvPr id="16" name="Motivo @c1u.3"/>
          <p:cNvSpPr/>
          <p:nvPr/>
        </p:nvSpPr>
        <p:spPr>
          <a:xfrm>
            <a:off x="8290408" y="3063240"/>
            <a:ext cx="32612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Icone motivo @c1u.3" descr="peop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008" y="3383280"/>
            <a:ext cx="566928" cy="566928"/>
          </a:xfrm>
          <a:prstGeom prst="rect">
            <a:avLst/>
          </a:prstGeom>
        </p:spPr>
      </p:pic>
      <p:sp>
        <p:nvSpPr>
          <p:cNvPr id="18" name="Texto motivo @c1u.3"/>
          <p:cNvSpPr txBox="1"/>
          <p:nvPr/>
        </p:nvSpPr>
        <p:spPr>
          <a:xfrm>
            <a:off x="9250528" y="3154680"/>
            <a:ext cx="2118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chemeClr val="tx1"/>
                </a:solidFill>
              </a:rPr>
              <a:t>Ninguém assume</a:t>
            </a:r>
            <a:endParaRPr lang="en-US" sz="1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Quando o líder falta, o DDS some</a:t>
            </a:r>
            <a:endParaRPr lang="en-US" sz="1550" dirty="0"/>
          </a:p>
        </p:txBody>
      </p:sp>
      <p:sp>
        <p:nvSpPr>
          <p:cNvPr id="19" name="Motivo @c1u.4"/>
          <p:cNvSpPr/>
          <p:nvPr/>
        </p:nvSpPr>
        <p:spPr>
          <a:xfrm>
            <a:off x="4800600" y="4480560"/>
            <a:ext cx="32612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0" name="Icone motivo @c1u.4" descr="c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4800600"/>
            <a:ext cx="566928" cy="566928"/>
          </a:xfrm>
          <a:prstGeom prst="rect">
            <a:avLst/>
          </a:prstGeom>
        </p:spPr>
      </p:pic>
      <p:sp>
        <p:nvSpPr>
          <p:cNvPr id="21" name="Texto motivo @c1u.4"/>
          <p:cNvSpPr txBox="1"/>
          <p:nvPr/>
        </p:nvSpPr>
        <p:spPr>
          <a:xfrm>
            <a:off x="5760720" y="4572000"/>
            <a:ext cx="2118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chemeClr val="tx1"/>
                </a:solidFill>
              </a:rPr>
              <a:t>Turno começa corrido</a:t>
            </a:r>
            <a:endParaRPr lang="en-US" sz="1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Atraso, troca de turno, carga chegando</a:t>
            </a:r>
            <a:endParaRPr lang="en-US" sz="1550" dirty="0"/>
          </a:p>
        </p:txBody>
      </p:sp>
      <p:sp>
        <p:nvSpPr>
          <p:cNvPr id="22" name="Motivo @c1u.5"/>
          <p:cNvSpPr/>
          <p:nvPr/>
        </p:nvSpPr>
        <p:spPr>
          <a:xfrm>
            <a:off x="8290408" y="4480560"/>
            <a:ext cx="32612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3" name="Icone motivo @c1u.5" descr="clipboar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9008" y="4800600"/>
            <a:ext cx="566928" cy="566928"/>
          </a:xfrm>
          <a:prstGeom prst="rect">
            <a:avLst/>
          </a:prstGeom>
        </p:spPr>
      </p:pic>
      <p:sp>
        <p:nvSpPr>
          <p:cNvPr id="24" name="Texto motivo @c1u.5"/>
          <p:cNvSpPr txBox="1"/>
          <p:nvPr/>
        </p:nvSpPr>
        <p:spPr>
          <a:xfrm>
            <a:off x="9250528" y="4572000"/>
            <a:ext cx="2118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chemeClr val="tx1"/>
                </a:solidFill>
              </a:rPr>
              <a:t>Lista não está à mão</a:t>
            </a:r>
            <a:endParaRPr lang="en-US" sz="1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chemeClr val="accent5"/>
                </a:solidFill>
              </a:rPr>
              <a:t>Faz e não registra — ou nem faz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DDS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Sem DDS, o risco fica sem dono</a:t>
            </a:r>
            <a:endParaRPr lang="en-US" sz="3200" dirty="0"/>
          </a:p>
        </p:txBody>
      </p:sp>
      <p:sp>
        <p:nvSpPr>
          <p:cNvPr id="4" name="Consequencia @a1u.0"/>
          <p:cNvSpPr/>
          <p:nvPr/>
        </p:nvSpPr>
        <p:spPr>
          <a:xfrm>
            <a:off x="640080" y="1645920"/>
            <a:ext cx="69037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consequencia @a1u.0" descr="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55648"/>
            <a:ext cx="493776" cy="493776"/>
          </a:xfrm>
          <a:prstGeom prst="rect">
            <a:avLst/>
          </a:prstGeom>
        </p:spPr>
      </p:pic>
      <p:sp>
        <p:nvSpPr>
          <p:cNvPr id="6" name="Texto consequencia @a1u.0"/>
          <p:cNvSpPr txBox="1"/>
          <p:nvPr/>
        </p:nvSpPr>
        <p:spPr>
          <a:xfrm>
            <a:off x="146304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Mais acidentes e quase-acidentes  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Os riscos do dia passam sem ser lembrados.</a:t>
            </a:r>
            <a:endParaRPr lang="en-US" sz="1500" dirty="0"/>
          </a:p>
        </p:txBody>
      </p:sp>
      <p:sp>
        <p:nvSpPr>
          <p:cNvPr id="7" name="Consequencia @a1u.1"/>
          <p:cNvSpPr/>
          <p:nvPr/>
        </p:nvSpPr>
        <p:spPr>
          <a:xfrm>
            <a:off x="640080" y="2468880"/>
            <a:ext cx="69037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8" name="Icone consequencia @a1u.1" descr="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578608"/>
            <a:ext cx="493776" cy="493776"/>
          </a:xfrm>
          <a:prstGeom prst="rect">
            <a:avLst/>
          </a:prstGeom>
        </p:spPr>
      </p:pic>
      <p:sp>
        <p:nvSpPr>
          <p:cNvPr id="9" name="Texto consequencia @a1u.1"/>
          <p:cNvSpPr txBox="1"/>
          <p:nvPr/>
        </p:nvSpPr>
        <p:spPr>
          <a:xfrm>
            <a:off x="1463040" y="24688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Equipe desinformada  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Mudanças e novos riscos não chegam a todos.</a:t>
            </a:r>
            <a:endParaRPr lang="en-US" sz="1500" dirty="0"/>
          </a:p>
        </p:txBody>
      </p:sp>
      <p:sp>
        <p:nvSpPr>
          <p:cNvPr id="10" name="Consequencia @a1u.2"/>
          <p:cNvSpPr/>
          <p:nvPr/>
        </p:nvSpPr>
        <p:spPr>
          <a:xfrm>
            <a:off x="640080" y="3291840"/>
            <a:ext cx="69037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1" name="Icone consequencia @a1u.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401568"/>
            <a:ext cx="493776" cy="493776"/>
          </a:xfrm>
          <a:prstGeom prst="rect">
            <a:avLst/>
          </a:prstGeom>
        </p:spPr>
      </p:pic>
      <p:sp>
        <p:nvSpPr>
          <p:cNvPr id="12" name="Texto consequencia @a1u.2"/>
          <p:cNvSpPr txBox="1"/>
          <p:nvPr/>
        </p:nvSpPr>
        <p:spPr>
          <a:xfrm>
            <a:off x="1463040" y="32918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prova de orientação  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Em fiscalização, auditoria ou processo, vale o registro.</a:t>
            </a:r>
            <a:endParaRPr lang="en-US" sz="1500" dirty="0"/>
          </a:p>
        </p:txBody>
      </p:sp>
      <p:sp>
        <p:nvSpPr>
          <p:cNvPr id="13" name="Consequencia @a1u.3"/>
          <p:cNvSpPr/>
          <p:nvPr/>
        </p:nvSpPr>
        <p:spPr>
          <a:xfrm>
            <a:off x="640080" y="4114800"/>
            <a:ext cx="69037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4" name="Icone consequencia @a1u.3" descr="warnpers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224528"/>
            <a:ext cx="493776" cy="493776"/>
          </a:xfrm>
          <a:prstGeom prst="rect">
            <a:avLst/>
          </a:prstGeom>
        </p:spPr>
      </p:pic>
      <p:sp>
        <p:nvSpPr>
          <p:cNvPr id="15" name="Texto consequencia @a1u.3"/>
          <p:cNvSpPr txBox="1"/>
          <p:nvPr/>
        </p:nvSpPr>
        <p:spPr>
          <a:xfrm>
            <a:off x="1463040" y="41148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“Segurança é só papel”  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 cultura enfraquece e o mau hábito vira regra.</a:t>
            </a:r>
            <a:endParaRPr lang="en-US" sz="1500" dirty="0"/>
          </a:p>
        </p:txBody>
      </p:sp>
      <p:sp>
        <p:nvSpPr>
          <p:cNvPr id="16" name="Consequencia @a1u.4"/>
          <p:cNvSpPr/>
          <p:nvPr/>
        </p:nvSpPr>
        <p:spPr>
          <a:xfrm>
            <a:off x="640080" y="4937760"/>
            <a:ext cx="6903720" cy="713232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Icone consequencia @a1u.4" descr="mega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047488"/>
            <a:ext cx="493776" cy="493776"/>
          </a:xfrm>
          <a:prstGeom prst="rect">
            <a:avLst/>
          </a:prstGeom>
        </p:spPr>
      </p:pic>
      <p:sp>
        <p:nvSpPr>
          <p:cNvPr id="18" name="Texto consequencia @a1u.4"/>
          <p:cNvSpPr txBox="1"/>
          <p:nvPr/>
        </p:nvSpPr>
        <p:spPr>
          <a:xfrm>
            <a:off x="1463040" y="49377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Líder sem voz no turno  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Perde o melhor momento para alinhar a equipe.</a:t>
            </a:r>
            <a:endParaRPr lang="en-US" sz="1500" dirty="0"/>
          </a:p>
        </p:txBody>
      </p:sp>
      <p:sp>
        <p:nvSpPr>
          <p:cNvPr id="19" name="Frase DDS @c1z"/>
          <p:cNvSpPr/>
          <p:nvPr/>
        </p:nvSpPr>
        <p:spPr>
          <a:xfrm>
            <a:off x="7818120" y="1645920"/>
            <a:ext cx="3733495" cy="4005072"/>
          </a:xfrm>
          <a:prstGeom prst="roundRect">
            <a:avLst>
              <a:gd name="adj" fmla="val 2939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0" name="Texto frase DDS @c1z"/>
          <p:cNvSpPr txBox="1"/>
          <p:nvPr/>
        </p:nvSpPr>
        <p:spPr>
          <a:xfrm>
            <a:off x="8138160" y="1783080"/>
            <a:ext cx="309341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chemeClr val="accent2"/>
                </a:solidFill>
              </a:rPr>
              <a:t>“</a:t>
            </a:r>
            <a:endParaRPr lang="en-US" sz="6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O DDS que não acontece hoje pode virar o acidente que ninguém consegue explicar amanhã.</a:t>
            </a:r>
            <a:endParaRPr lang="en-US" sz="60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2 · DDS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destravar o DDS a partir de amanhã</a:t>
            </a:r>
            <a:endParaRPr lang="en-US" sz="3200" dirty="0"/>
          </a:p>
        </p:txBody>
      </p:sp>
      <p:sp>
        <p:nvSpPr>
          <p:cNvPr id="4" name="Solucao @a1u"/>
          <p:cNvSpPr/>
          <p:nvPr/>
        </p:nvSpPr>
        <p:spPr>
          <a:xfrm>
            <a:off x="640080" y="1645920"/>
            <a:ext cx="2021373" cy="3611880"/>
          </a:xfrm>
          <a:prstGeom prst="roundRect">
            <a:avLst>
              <a:gd name="adj" fmla="val 542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solucao @a1u"/>
          <p:cNvSpPr txBox="1"/>
          <p:nvPr/>
        </p:nvSpPr>
        <p:spPr>
          <a:xfrm>
            <a:off x="868680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pic>
        <p:nvPicPr>
          <p:cNvPr id="6" name="Icone solucao @a1u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4213" y="1874520"/>
            <a:ext cx="548640" cy="548640"/>
          </a:xfrm>
          <a:prstGeom prst="rect">
            <a:avLst/>
          </a:prstGeom>
        </p:spPr>
      </p:pic>
      <p:sp>
        <p:nvSpPr>
          <p:cNvPr id="7" name="Texto solucao @a1u"/>
          <p:cNvSpPr txBox="1"/>
          <p:nvPr/>
        </p:nvSpPr>
        <p:spPr>
          <a:xfrm>
            <a:off x="868680" y="2606040"/>
            <a:ext cx="160989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Horário fixo</a:t>
            </a:r>
            <a:endParaRPr lang="en-US" sz="17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chemeClr val="accent5"/>
                </a:solidFill>
              </a:rPr>
              <a:t>Os 10 primeiros minutos do turno, sem exceção.</a:t>
            </a:r>
            <a:endParaRPr lang="en-US" sz="1700" dirty="0"/>
          </a:p>
        </p:txBody>
      </p:sp>
      <p:sp>
        <p:nvSpPr>
          <p:cNvPr id="8" name="Solucao @a2u"/>
          <p:cNvSpPr/>
          <p:nvPr/>
        </p:nvSpPr>
        <p:spPr>
          <a:xfrm>
            <a:off x="2862621" y="1645920"/>
            <a:ext cx="2021373" cy="3611880"/>
          </a:xfrm>
          <a:prstGeom prst="roundRect">
            <a:avLst>
              <a:gd name="adj" fmla="val 542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9" name="Num solucao @a2u"/>
          <p:cNvSpPr txBox="1"/>
          <p:nvPr/>
        </p:nvSpPr>
        <p:spPr>
          <a:xfrm>
            <a:off x="3091221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pic>
        <p:nvPicPr>
          <p:cNvPr id="10" name="Icone solucao @a2u" descr="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753" y="1874520"/>
            <a:ext cx="548640" cy="548640"/>
          </a:xfrm>
          <a:prstGeom prst="rect">
            <a:avLst/>
          </a:prstGeom>
        </p:spPr>
      </p:pic>
      <p:sp>
        <p:nvSpPr>
          <p:cNvPr id="11" name="Texto solucao @a2u"/>
          <p:cNvSpPr txBox="1"/>
          <p:nvPr/>
        </p:nvSpPr>
        <p:spPr>
          <a:xfrm>
            <a:off x="3091221" y="2606040"/>
            <a:ext cx="160989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Banco de temas</a:t>
            </a:r>
            <a:endParaRPr lang="en-US" sz="17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chemeClr val="accent5"/>
                </a:solidFill>
              </a:rPr>
              <a:t>Um tema por dia, preparado na véspera.</a:t>
            </a:r>
            <a:endParaRPr lang="en-US" sz="1700" dirty="0"/>
          </a:p>
        </p:txBody>
      </p:sp>
      <p:sp>
        <p:nvSpPr>
          <p:cNvPr id="12" name="Solucao @a3u"/>
          <p:cNvSpPr/>
          <p:nvPr/>
        </p:nvSpPr>
        <p:spPr>
          <a:xfrm>
            <a:off x="5085161" y="1645920"/>
            <a:ext cx="2021373" cy="3611880"/>
          </a:xfrm>
          <a:prstGeom prst="roundRect">
            <a:avLst>
              <a:gd name="adj" fmla="val 542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3" name="Num solucao @a3u"/>
          <p:cNvSpPr txBox="1"/>
          <p:nvPr/>
        </p:nvSpPr>
        <p:spPr>
          <a:xfrm>
            <a:off x="5313761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pic>
        <p:nvPicPr>
          <p:cNvPr id="14" name="Icone solucao @a3u" descr="peop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294" y="1874520"/>
            <a:ext cx="548640" cy="548640"/>
          </a:xfrm>
          <a:prstGeom prst="rect">
            <a:avLst/>
          </a:prstGeom>
        </p:spPr>
      </p:pic>
      <p:sp>
        <p:nvSpPr>
          <p:cNvPr id="15" name="Texto solucao @a3u"/>
          <p:cNvSpPr txBox="1"/>
          <p:nvPr/>
        </p:nvSpPr>
        <p:spPr>
          <a:xfrm>
            <a:off x="5313761" y="2606040"/>
            <a:ext cx="160989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Rodízio</a:t>
            </a:r>
            <a:endParaRPr lang="en-US" sz="17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chemeClr val="accent5"/>
                </a:solidFill>
              </a:rPr>
              <a:t>Cada dia um colaborador conduz junto com o líder.</a:t>
            </a:r>
            <a:endParaRPr lang="en-US" sz="1700" dirty="0"/>
          </a:p>
        </p:txBody>
      </p:sp>
      <p:sp>
        <p:nvSpPr>
          <p:cNvPr id="16" name="Solucao @a4u"/>
          <p:cNvSpPr/>
          <p:nvPr/>
        </p:nvSpPr>
        <p:spPr>
          <a:xfrm>
            <a:off x="7307702" y="1645920"/>
            <a:ext cx="2021373" cy="3611880"/>
          </a:xfrm>
          <a:prstGeom prst="roundRect">
            <a:avLst>
              <a:gd name="adj" fmla="val 542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7" name="Num solucao @a4u"/>
          <p:cNvSpPr txBox="1"/>
          <p:nvPr/>
        </p:nvSpPr>
        <p:spPr>
          <a:xfrm>
            <a:off x="7536302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pic>
        <p:nvPicPr>
          <p:cNvPr id="18" name="Icone solucao @a4u" descr="clip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1835" y="1874520"/>
            <a:ext cx="548640" cy="548640"/>
          </a:xfrm>
          <a:prstGeom prst="rect">
            <a:avLst/>
          </a:prstGeom>
        </p:spPr>
      </p:pic>
      <p:sp>
        <p:nvSpPr>
          <p:cNvPr id="19" name="Texto solucao @a4u"/>
          <p:cNvSpPr txBox="1"/>
          <p:nvPr/>
        </p:nvSpPr>
        <p:spPr>
          <a:xfrm>
            <a:off x="7536302" y="2606040"/>
            <a:ext cx="160989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Lista à mão</a:t>
            </a:r>
            <a:endParaRPr lang="en-US" sz="17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chemeClr val="accent5"/>
                </a:solidFill>
              </a:rPr>
              <a:t>Impressa, na prancheta, junto com o tema do dia.</a:t>
            </a:r>
            <a:endParaRPr lang="en-US" sz="1700" dirty="0"/>
          </a:p>
        </p:txBody>
      </p:sp>
      <p:sp>
        <p:nvSpPr>
          <p:cNvPr id="20" name="Solucao @a5u"/>
          <p:cNvSpPr/>
          <p:nvPr/>
        </p:nvSpPr>
        <p:spPr>
          <a:xfrm>
            <a:off x="9530243" y="1645920"/>
            <a:ext cx="2021373" cy="3611880"/>
          </a:xfrm>
          <a:prstGeom prst="roundRect">
            <a:avLst>
              <a:gd name="adj" fmla="val 5428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21" name="Num solucao @a5u"/>
          <p:cNvSpPr txBox="1"/>
          <p:nvPr/>
        </p:nvSpPr>
        <p:spPr>
          <a:xfrm>
            <a:off x="9758843" y="1828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05</a:t>
            </a:r>
            <a:endParaRPr lang="en-US" sz="3000" dirty="0"/>
          </a:p>
        </p:txBody>
      </p:sp>
      <p:pic>
        <p:nvPicPr>
          <p:cNvPr id="22" name="Icone solucao @a5u" descr="shie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4375" y="1874520"/>
            <a:ext cx="548640" cy="548640"/>
          </a:xfrm>
          <a:prstGeom prst="rect">
            <a:avLst/>
          </a:prstGeom>
        </p:spPr>
      </p:pic>
      <p:sp>
        <p:nvSpPr>
          <p:cNvPr id="23" name="Texto solucao @a5u"/>
          <p:cNvSpPr txBox="1"/>
          <p:nvPr/>
        </p:nvSpPr>
        <p:spPr>
          <a:xfrm>
            <a:off x="9758843" y="2606040"/>
            <a:ext cx="160989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Gestão presente</a:t>
            </a:r>
            <a:endParaRPr lang="en-US" sz="17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chemeClr val="accent5"/>
                </a:solidFill>
              </a:rPr>
              <a:t>Quem lidera participa, cobra e dá o exemplo.</a:t>
            </a:r>
            <a:endParaRPr lang="en-US" sz="1700" dirty="0"/>
          </a:p>
        </p:txBody>
      </p:sp>
      <p:sp>
        <p:nvSpPr>
          <p:cNvPr id="24" name="Proposta @a6u"/>
          <p:cNvSpPr/>
          <p:nvPr/>
        </p:nvSpPr>
        <p:spPr>
          <a:xfrm>
            <a:off x="640080" y="5440680"/>
            <a:ext cx="10911535" cy="594360"/>
          </a:xfrm>
          <a:prstGeom prst="roundRect">
            <a:avLst>
              <a:gd name="adj" fmla="val 18462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25" name="Texto proposta @a6u"/>
          <p:cNvSpPr txBox="1"/>
          <p:nvPr/>
        </p:nvSpPr>
        <p:spPr>
          <a:xfrm>
            <a:off x="914400" y="5440680"/>
            <a:ext cx="10362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Proposta: DDS feito e registrado em todos os turnos.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 @a1f"/>
          <p:cNvSpPr txBox="1"/>
          <p:nvPr/>
        </p:nvSpPr>
        <p:spPr>
          <a:xfrm>
            <a:off x="64008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PARTE 3 · DINÂMICA · 7 A 15 MIN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920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Comunicação na prática</a:t>
            </a:r>
            <a:endParaRPr lang="en-US" sz="4400" dirty="0"/>
          </a:p>
        </p:txBody>
      </p:sp>
      <p:sp>
        <p:nvSpPr>
          <p:cNvPr id="4" name="Topico @a2u.0"/>
          <p:cNvSpPr txBox="1"/>
          <p:nvPr/>
        </p:nvSpPr>
        <p:spPr>
          <a:xfrm>
            <a:off x="640080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 opções</a:t>
            </a:r>
            <a:endParaRPr lang="en-US" sz="1200" dirty="0"/>
          </a:p>
        </p:txBody>
      </p:sp>
      <p:sp>
        <p:nvSpPr>
          <p:cNvPr id="5" name="Topico @a2u.1"/>
          <p:cNvSpPr txBox="1"/>
          <p:nvPr/>
        </p:nvSpPr>
        <p:spPr>
          <a:xfrm>
            <a:off x="2624328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Você escolhe 1</a:t>
            </a:r>
            <a:endParaRPr lang="en-US" sz="1200" dirty="0"/>
          </a:p>
        </p:txBody>
      </p:sp>
      <p:sp>
        <p:nvSpPr>
          <p:cNvPr id="6" name="Topico @a2u.2"/>
          <p:cNvSpPr txBox="1"/>
          <p:nvPr/>
        </p:nvSpPr>
        <p:spPr>
          <a:xfrm>
            <a:off x="4608576" y="365760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Todos participam</a:t>
            </a:r>
            <a:endParaRPr lang="en-US" sz="1200" dirty="0"/>
          </a:p>
        </p:txBody>
      </p:sp>
      <p:pic>
        <p:nvPicPr>
          <p:cNvPr id="7" name="Ilustracao parte @a1z" descr="/tmp/claude-0/-home-claude/5746e17e-ab87-5418-9566-46e1b5e96b03/scratchpad/pptx2/assets/hero-p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572000" cy="4572000"/>
          </a:xfrm>
          <a:prstGeom prst="rect">
            <a:avLst/>
          </a:prstGeom>
        </p:spPr>
      </p:pic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PARTE 3 · DINÂMICA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Escolha a dinâmica</a:t>
            </a:r>
            <a:endParaRPr lang="en-US" sz="3200" dirty="0"/>
          </a:p>
        </p:txBody>
      </p:sp>
      <p:sp>
        <p:nvSpPr>
          <p:cNvPr id="4" name="Opcao 1 @a1u #go:opt1">
            <a:hlinkClick r:id="rIdGo1" action="ppaction://hlinksldjump"/>
          </p:cNvPr>
          <p:cNvSpPr/>
          <p:nvPr/>
        </p:nvSpPr>
        <p:spPr>
          <a:xfrm>
            <a:off x="640080" y="1600200"/>
            <a:ext cx="531860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opcao @a1u #go:opt1" descr="picture">
            <a:hlinkClick r:id="rIdGo1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868680" cy="868680"/>
          </a:xfrm>
          <a:prstGeom prst="rect">
            <a:avLst/>
          </a:prstGeom>
        </p:spPr>
      </p:pic>
      <p:sp>
        <p:nvSpPr>
          <p:cNvPr id="6" name="Rotulo opcao @a1u #go:opt1">
            <a:hlinkClick r:id="rIdGo1" action="ppaction://hlinksldjump"/>
          </p:cNvPr>
          <p:cNvSpPr txBox="1"/>
          <p:nvPr/>
        </p:nvSpPr>
        <p:spPr>
          <a:xfrm>
            <a:off x="2011680" y="185623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OPÇÃO 1  ·  SLIDE 27</a:t>
            </a:r>
            <a:endParaRPr lang="en-US" sz="1100" dirty="0"/>
          </a:p>
        </p:txBody>
      </p:sp>
      <p:sp>
        <p:nvSpPr>
          <p:cNvPr id="7" name="Nome opcao @a1u #go:opt1">
            <a:hlinkClick r:id="rIdGo1" action="ppaction://hlinksldjump"/>
          </p:cNvPr>
          <p:cNvSpPr txBox="1"/>
          <p:nvPr/>
        </p:nvSpPr>
        <p:spPr>
          <a:xfrm>
            <a:off x="2011680" y="2130552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Desenho às cegas</a:t>
            </a:r>
            <a:endParaRPr lang="en-US" sz="2000" dirty="0"/>
          </a:p>
        </p:txBody>
      </p:sp>
      <p:sp>
        <p:nvSpPr>
          <p:cNvPr id="8" name="Desc opcao @a1u #go:opt1">
            <a:hlinkClick r:id="rIdGo1" action="ppaction://hlinksldjump"/>
          </p:cNvPr>
          <p:cNvSpPr txBox="1"/>
          <p:nvPr/>
        </p:nvSpPr>
        <p:spPr>
          <a:xfrm>
            <a:off x="2011680" y="2560320"/>
            <a:ext cx="367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Mão única × mão dupla: por que confirmar o entendimento.</a:t>
            </a:r>
            <a:endParaRPr lang="en-US" sz="1400" dirty="0"/>
          </a:p>
        </p:txBody>
      </p:sp>
      <p:sp>
        <p:nvSpPr>
          <p:cNvPr id="9" name="Meta opcao @a1u #go:opt1">
            <a:hlinkClick r:id="rIdGo1" action="ppaction://hlinksldjump"/>
          </p:cNvPr>
          <p:cNvSpPr txBox="1"/>
          <p:nvPr/>
        </p:nvSpPr>
        <p:spPr>
          <a:xfrm>
            <a:off x="914400" y="3154680"/>
            <a:ext cx="4769968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15 min  ·  Duplas  ·  Folha, caneta e figuras</a:t>
            </a:r>
            <a:endParaRPr lang="en-US" sz="1200" dirty="0"/>
          </a:p>
        </p:txBody>
      </p:sp>
      <p:sp>
        <p:nvSpPr>
          <p:cNvPr id="10" name="Opcao 2 @a2u #go:opt2">
            <a:hlinkClick r:id="rIdGo2" action="ppaction://hlinksldjump"/>
          </p:cNvPr>
          <p:cNvSpPr/>
          <p:nvPr/>
        </p:nvSpPr>
        <p:spPr>
          <a:xfrm>
            <a:off x="6233008" y="1600200"/>
            <a:ext cx="531860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1" name="Icone opcao @a2u #go:opt2" descr="scissors">
            <a:hlinkClick r:id="rIdGo2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1874520"/>
            <a:ext cx="868680" cy="868680"/>
          </a:xfrm>
          <a:prstGeom prst="rect">
            <a:avLst/>
          </a:prstGeom>
        </p:spPr>
      </p:pic>
      <p:sp>
        <p:nvSpPr>
          <p:cNvPr id="12" name="Rotulo opcao @a2u #go:opt2">
            <a:hlinkClick r:id="rIdGo2" action="ppaction://hlinksldjump"/>
          </p:cNvPr>
          <p:cNvSpPr txBox="1"/>
          <p:nvPr/>
        </p:nvSpPr>
        <p:spPr>
          <a:xfrm>
            <a:off x="7604608" y="185623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OPÇÃO 2  ·  SLIDE 32</a:t>
            </a:r>
            <a:endParaRPr lang="en-US" sz="1100" dirty="0"/>
          </a:p>
        </p:txBody>
      </p:sp>
      <p:sp>
        <p:nvSpPr>
          <p:cNvPr id="13" name="Nome opcao @a2u #go:opt2">
            <a:hlinkClick r:id="rIdGo2" action="ppaction://hlinksldjump"/>
          </p:cNvPr>
          <p:cNvSpPr txBox="1"/>
          <p:nvPr/>
        </p:nvSpPr>
        <p:spPr>
          <a:xfrm>
            <a:off x="7604608" y="2130552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Papel rasgado</a:t>
            </a:r>
            <a:endParaRPr lang="en-US" sz="2000" dirty="0"/>
          </a:p>
        </p:txBody>
      </p:sp>
      <p:sp>
        <p:nvSpPr>
          <p:cNvPr id="14" name="Desc opcao @a2u #go:opt2">
            <a:hlinkClick r:id="rIdGo2" action="ppaction://hlinksldjump"/>
          </p:cNvPr>
          <p:cNvSpPr txBox="1"/>
          <p:nvPr/>
        </p:nvSpPr>
        <p:spPr>
          <a:xfrm>
            <a:off x="7604608" y="2560320"/>
            <a:ext cx="367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A mesma instrução gera resultados diferentes.</a:t>
            </a:r>
            <a:endParaRPr lang="en-US" sz="1400" dirty="0"/>
          </a:p>
        </p:txBody>
      </p:sp>
      <p:sp>
        <p:nvSpPr>
          <p:cNvPr id="15" name="Meta opcao @a2u #go:opt2">
            <a:hlinkClick r:id="rIdGo2" action="ppaction://hlinksldjump"/>
          </p:cNvPr>
          <p:cNvSpPr txBox="1"/>
          <p:nvPr/>
        </p:nvSpPr>
        <p:spPr>
          <a:xfrm>
            <a:off x="6507328" y="3154680"/>
            <a:ext cx="4769968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7 min  ·  Todos juntos  ·  1 folha A4 por pessoa</a:t>
            </a:r>
            <a:endParaRPr lang="en-US" sz="1200" dirty="0"/>
          </a:p>
        </p:txBody>
      </p:sp>
      <p:sp>
        <p:nvSpPr>
          <p:cNvPr id="16" name="Opcao 3 @a3u #go:opt3">
            <a:hlinkClick r:id="rIdGo3" action="ppaction://hlinksldjump"/>
          </p:cNvPr>
          <p:cNvSpPr/>
          <p:nvPr/>
        </p:nvSpPr>
        <p:spPr>
          <a:xfrm>
            <a:off x="640080" y="3794760"/>
            <a:ext cx="531860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Icone opcao @a3u #go:opt3" descr="phone">
            <a:hlinkClick r:id="rIdGo3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69080"/>
            <a:ext cx="868680" cy="868680"/>
          </a:xfrm>
          <a:prstGeom prst="rect">
            <a:avLst/>
          </a:prstGeom>
        </p:spPr>
      </p:pic>
      <p:sp>
        <p:nvSpPr>
          <p:cNvPr id="18" name="Rotulo opcao @a3u #go:opt3">
            <a:hlinkClick r:id="rIdGo3" action="ppaction://hlinksldjump"/>
          </p:cNvPr>
          <p:cNvSpPr txBox="1"/>
          <p:nvPr/>
        </p:nvSpPr>
        <p:spPr>
          <a:xfrm>
            <a:off x="2011680" y="40507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OPÇÃO 3  ·  SLIDE 35</a:t>
            </a:r>
            <a:endParaRPr lang="en-US" sz="1100" dirty="0"/>
          </a:p>
        </p:txBody>
      </p:sp>
      <p:sp>
        <p:nvSpPr>
          <p:cNvPr id="19" name="Nome opcao @a3u #go:opt3">
            <a:hlinkClick r:id="rIdGo3" action="ppaction://hlinksldjump"/>
          </p:cNvPr>
          <p:cNvSpPr txBox="1"/>
          <p:nvPr/>
        </p:nvSpPr>
        <p:spPr>
          <a:xfrm>
            <a:off x="2011680" y="4325112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Telefone sem fio</a:t>
            </a:r>
            <a:endParaRPr lang="en-US" sz="2000" dirty="0"/>
          </a:p>
        </p:txBody>
      </p:sp>
      <p:sp>
        <p:nvSpPr>
          <p:cNvPr id="20" name="Desc opcao @a3u #go:opt3">
            <a:hlinkClick r:id="rIdGo3" action="ppaction://hlinksldjump"/>
          </p:cNvPr>
          <p:cNvSpPr txBox="1"/>
          <p:nvPr/>
        </p:nvSpPr>
        <p:spPr>
          <a:xfrm>
            <a:off x="2011680" y="4754880"/>
            <a:ext cx="367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O recado da operação que muda no caminho.</a:t>
            </a:r>
            <a:endParaRPr lang="en-US" sz="1400" dirty="0"/>
          </a:p>
        </p:txBody>
      </p:sp>
      <p:sp>
        <p:nvSpPr>
          <p:cNvPr id="21" name="Meta opcao @a3u #go:opt3">
            <a:hlinkClick r:id="rIdGo3" action="ppaction://hlinksldjump"/>
          </p:cNvPr>
          <p:cNvSpPr txBox="1"/>
          <p:nvPr/>
        </p:nvSpPr>
        <p:spPr>
          <a:xfrm>
            <a:off x="914400" y="5349240"/>
            <a:ext cx="4769968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 min  ·  6 a 8 voluntários  ·  Cartão da mensagem</a:t>
            </a:r>
            <a:endParaRPr lang="en-US" sz="1200" dirty="0"/>
          </a:p>
        </p:txBody>
      </p:sp>
      <p:sp>
        <p:nvSpPr>
          <p:cNvPr id="22" name="Opcao 4 @a4u #go:opt4">
            <a:hlinkClick r:id="rIdGo4" action="ppaction://hlinksldjump"/>
          </p:cNvPr>
          <p:cNvSpPr/>
          <p:nvPr/>
        </p:nvSpPr>
        <p:spPr>
          <a:xfrm>
            <a:off x="6233008" y="3794760"/>
            <a:ext cx="531860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3" name="Icone opcao @a4u #go:opt4" descr="people">
            <a:hlinkClick r:id="rIdGo4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4069080"/>
            <a:ext cx="868680" cy="868680"/>
          </a:xfrm>
          <a:prstGeom prst="rect">
            <a:avLst/>
          </a:prstGeom>
        </p:spPr>
      </p:pic>
      <p:sp>
        <p:nvSpPr>
          <p:cNvPr id="24" name="Rotulo opcao @a4u #go:opt4">
            <a:hlinkClick r:id="rIdGo4" action="ppaction://hlinksldjump"/>
          </p:cNvPr>
          <p:cNvSpPr txBox="1"/>
          <p:nvPr/>
        </p:nvSpPr>
        <p:spPr>
          <a:xfrm>
            <a:off x="7604608" y="40507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OPÇÃO 4  ·  SLIDE 38</a:t>
            </a:r>
            <a:endParaRPr lang="en-US" sz="1100" dirty="0"/>
          </a:p>
        </p:txBody>
      </p:sp>
      <p:sp>
        <p:nvSpPr>
          <p:cNvPr id="25" name="Nome opcao @a4u #go:opt4">
            <a:hlinkClick r:id="rIdGo4" action="ppaction://hlinksldjump"/>
          </p:cNvPr>
          <p:cNvSpPr txBox="1"/>
          <p:nvPr/>
        </p:nvSpPr>
        <p:spPr>
          <a:xfrm>
            <a:off x="7604608" y="4325112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Treino em trios</a:t>
            </a:r>
            <a:endParaRPr lang="en-US" sz="2000" dirty="0"/>
          </a:p>
        </p:txBody>
      </p:sp>
      <p:sp>
        <p:nvSpPr>
          <p:cNvPr id="26" name="Desc opcao @a4u #go:opt4">
            <a:hlinkClick r:id="rIdGo4" action="ppaction://hlinksldjump"/>
          </p:cNvPr>
          <p:cNvSpPr txBox="1"/>
          <p:nvPr/>
        </p:nvSpPr>
        <p:spPr>
          <a:xfrm>
            <a:off x="7604608" y="4754880"/>
            <a:ext cx="367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CNV e feedback na prática, com casos do CD.</a:t>
            </a:r>
            <a:endParaRPr lang="en-US" sz="1400" dirty="0"/>
          </a:p>
        </p:txBody>
      </p:sp>
      <p:sp>
        <p:nvSpPr>
          <p:cNvPr id="27" name="Meta opcao @a4u #go:opt4">
            <a:hlinkClick r:id="rIdGo4" action="ppaction://hlinksldjump"/>
          </p:cNvPr>
          <p:cNvSpPr txBox="1"/>
          <p:nvPr/>
        </p:nvSpPr>
        <p:spPr>
          <a:xfrm>
            <a:off x="6507328" y="5349240"/>
            <a:ext cx="4769968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"/>
            </a:schemeClr>
          </a:solidFill>
          <a:ln w="6350">
            <a:solidFill>
              <a:schemeClr val="accent1">
                <a:alpha val="30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15 min  ·  Trios  ·  Cartões de caso e checklist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640080" y="5989320"/>
            <a:ext cx="7985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Clique no cartão para abrir a dinâmica — ou digite o número do slide e tecle Enter.</a:t>
            </a:r>
            <a:endParaRPr lang="en-US" sz="1100" dirty="0"/>
          </a:p>
        </p:txBody>
      </p:sp>
      <p:sp>
        <p:nvSpPr>
          <p:cNvPr id="29" name="Botao fechamento #go:fim">
            <a:hlinkClick r:id="rIdGo5" action="ppaction://hlinksldjump"/>
          </p:cNvPr>
          <p:cNvSpPr txBox="1"/>
          <p:nvPr/>
        </p:nvSpPr>
        <p:spPr>
          <a:xfrm>
            <a:off x="9037015" y="5943600"/>
            <a:ext cx="2514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Ir para o fechamento  ›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1 · DESENHO ÀS CEGAS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Desenho às cegas: como funciona</a:t>
            </a:r>
            <a:endParaRPr lang="en-US" sz="3200" dirty="0"/>
          </a:p>
        </p:txBody>
      </p:sp>
      <p:sp>
        <p:nvSpPr>
          <p:cNvPr id="4" name="Passo dinamica @a1u.0"/>
          <p:cNvSpPr/>
          <p:nvPr/>
        </p:nvSpPr>
        <p:spPr>
          <a:xfrm>
            <a:off x="640080" y="169164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dinamica @a1u.0"/>
          <p:cNvSpPr txBox="1"/>
          <p:nvPr/>
        </p:nvSpPr>
        <p:spPr>
          <a:xfrm>
            <a:off x="841248" y="186537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o dinamica @a1u.0"/>
          <p:cNvSpPr txBox="1"/>
          <p:nvPr/>
        </p:nvSpPr>
        <p:spPr>
          <a:xfrm>
            <a:off x="1508760" y="169164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Formem duplas e sentem de costas um para o outro.</a:t>
            </a:r>
            <a:endParaRPr lang="en-US" sz="1600" dirty="0"/>
          </a:p>
        </p:txBody>
      </p:sp>
      <p:sp>
        <p:nvSpPr>
          <p:cNvPr id="7" name="Passo dinamica @a1u.1"/>
          <p:cNvSpPr/>
          <p:nvPr/>
        </p:nvSpPr>
        <p:spPr>
          <a:xfrm>
            <a:off x="640080" y="265176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dinamica @a1u.1"/>
          <p:cNvSpPr txBox="1"/>
          <p:nvPr/>
        </p:nvSpPr>
        <p:spPr>
          <a:xfrm>
            <a:off x="841248" y="282549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o dinamica @a1u.1"/>
          <p:cNvSpPr txBox="1"/>
          <p:nvPr/>
        </p:nvSpPr>
        <p:spPr>
          <a:xfrm>
            <a:off x="1508760" y="265176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Um é o comunicador; o outro, o desenhista.</a:t>
            </a:r>
            <a:endParaRPr lang="en-US" sz="1600" dirty="0"/>
          </a:p>
        </p:txBody>
      </p:sp>
      <p:sp>
        <p:nvSpPr>
          <p:cNvPr id="10" name="Passo dinamica @a1u.2"/>
          <p:cNvSpPr/>
          <p:nvPr/>
        </p:nvSpPr>
        <p:spPr>
          <a:xfrm>
            <a:off x="640080" y="361188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dinamica @a1u.2"/>
          <p:cNvSpPr txBox="1"/>
          <p:nvPr/>
        </p:nvSpPr>
        <p:spPr>
          <a:xfrm>
            <a:off x="841248" y="37856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o dinamica @a1u.2"/>
          <p:cNvSpPr txBox="1"/>
          <p:nvPr/>
        </p:nvSpPr>
        <p:spPr>
          <a:xfrm>
            <a:off x="1508760" y="361188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comunicador recebe uma figura e descreve; o desenhista desenha.</a:t>
            </a:r>
            <a:endParaRPr lang="en-US" sz="1600" dirty="0"/>
          </a:p>
        </p:txBody>
      </p:sp>
      <p:sp>
        <p:nvSpPr>
          <p:cNvPr id="13" name="Passo dinamica @a1u.3"/>
          <p:cNvSpPr/>
          <p:nvPr/>
        </p:nvSpPr>
        <p:spPr>
          <a:xfrm>
            <a:off x="640080" y="457200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4" name="Num dinamica @a1u.3"/>
          <p:cNvSpPr txBox="1"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o dinamica @a1u.3"/>
          <p:cNvSpPr txBox="1"/>
          <p:nvPr/>
        </p:nvSpPr>
        <p:spPr>
          <a:xfrm>
            <a:off x="1508760" y="457200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Ninguém mostra a figura nem o desenho até o final.</a:t>
            </a:r>
            <a:endParaRPr lang="en-US" sz="1600" dirty="0"/>
          </a:p>
        </p:txBody>
      </p:sp>
      <p:sp>
        <p:nvSpPr>
          <p:cNvPr id="16" name="Material @a2u"/>
          <p:cNvSpPr/>
          <p:nvPr/>
        </p:nvSpPr>
        <p:spPr>
          <a:xfrm>
            <a:off x="7635240" y="1691640"/>
            <a:ext cx="3916375" cy="3657600"/>
          </a:xfrm>
          <a:prstGeom prst="roundRect">
            <a:avLst>
              <a:gd name="adj" fmla="val 3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17" name="Titulo material @a2u"/>
          <p:cNvSpPr txBox="1"/>
          <p:nvPr/>
        </p:nvSpPr>
        <p:spPr>
          <a:xfrm>
            <a:off x="7909560" y="18745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VOCÊ VAI PRECISAR</a:t>
            </a:r>
            <a:endParaRPr lang="en-US" sz="1200" dirty="0"/>
          </a:p>
        </p:txBody>
      </p:sp>
      <p:pic>
        <p:nvPicPr>
          <p:cNvPr id="18" name="Icone material @a2u" descr="pen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2400300"/>
            <a:ext cx="548640" cy="548640"/>
          </a:xfrm>
          <a:prstGeom prst="rect">
            <a:avLst/>
          </a:prstGeom>
        </p:spPr>
      </p:pic>
      <p:sp>
        <p:nvSpPr>
          <p:cNvPr id="19" name="Texto material @a2u"/>
          <p:cNvSpPr txBox="1"/>
          <p:nvPr/>
        </p:nvSpPr>
        <p:spPr>
          <a:xfrm>
            <a:off x="8641080" y="23317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1 folha e 1 caneta por dupla</a:t>
            </a:r>
            <a:endParaRPr lang="en-US" sz="1450" dirty="0"/>
          </a:p>
        </p:txBody>
      </p:sp>
      <p:pic>
        <p:nvPicPr>
          <p:cNvPr id="20" name="Icone material @a2u" descr="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314700"/>
            <a:ext cx="548640" cy="548640"/>
          </a:xfrm>
          <a:prstGeom prst="rect">
            <a:avLst/>
          </a:prstGeom>
        </p:spPr>
      </p:pic>
      <p:sp>
        <p:nvSpPr>
          <p:cNvPr id="21" name="Texto material @a2u"/>
          <p:cNvSpPr txBox="1"/>
          <p:nvPr/>
        </p:nvSpPr>
        <p:spPr>
          <a:xfrm>
            <a:off x="8641080" y="32461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Figuras A e B impressas (apêndice)</a:t>
            </a:r>
            <a:endParaRPr lang="en-US" sz="1450" dirty="0"/>
          </a:p>
        </p:txBody>
      </p:sp>
      <p:pic>
        <p:nvPicPr>
          <p:cNvPr id="22" name="Icone material @a2u" descr="stopwat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4229100"/>
            <a:ext cx="548640" cy="548640"/>
          </a:xfrm>
          <a:prstGeom prst="rect">
            <a:avLst/>
          </a:prstGeom>
        </p:spPr>
      </p:pic>
      <p:sp>
        <p:nvSpPr>
          <p:cNvPr id="23" name="Texto material @a2u"/>
          <p:cNvSpPr txBox="1"/>
          <p:nvPr/>
        </p:nvSpPr>
        <p:spPr>
          <a:xfrm>
            <a:off x="8641080" y="41605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Cronômetro · cerca de 15 minutos</a:t>
            </a:r>
            <a:endParaRPr lang="en-US" sz="1450" dirty="0"/>
          </a:p>
        </p:txBody>
      </p:sp>
      <p:sp>
        <p:nvSpPr>
          <p:cNvPr id="24" name="Botao menu #go:menu">
            <a:hlinkClick r:id="rIdGo1" action="ppaction://hlinksldjump"/>
          </p:cNvPr>
          <p:cNvSpPr txBox="1"/>
          <p:nvPr/>
        </p:nvSpPr>
        <p:spPr>
          <a:xfrm>
            <a:off x="9311335" y="5943600"/>
            <a:ext cx="224028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Voltar às opções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OPÇÃO 1 · RODADA 1 · MÃO ÚNICA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Sem perguntas</a:t>
            </a:r>
            <a:endParaRPr lang="en-US" sz="3200" dirty="0"/>
          </a:p>
        </p:txBody>
      </p:sp>
      <p:sp>
        <p:nvSpPr>
          <p:cNvPr id="4" name="Relogio @a1z"/>
          <p:cNvSpPr/>
          <p:nvPr/>
        </p:nvSpPr>
        <p:spPr>
          <a:xfrm>
            <a:off x="8001000" y="1600200"/>
            <a:ext cx="3291840" cy="3291840"/>
          </a:xfrm>
          <a:prstGeom prst="ellipse">
            <a:avLst/>
          </a:prstGeom>
          <a:solidFill>
            <a:schemeClr val="bg1">
              <a:alpha val="8000"/>
            </a:schemeClr>
          </a:solidFill>
          <a:ln w="127000">
            <a:solidFill>
              <a:schemeClr val="accent2"/>
            </a:solidFill>
            <a:prstDash val="solid"/>
          </a:ln>
        </p:spPr>
      </p:sp>
      <p:sp>
        <p:nvSpPr>
          <p:cNvPr id="5" name="Tempo @a1z"/>
          <p:cNvSpPr txBox="1"/>
          <p:nvPr/>
        </p:nvSpPr>
        <p:spPr>
          <a:xfrm>
            <a:off x="8001000" y="16002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600" b="1" dirty="0">
                <a:solidFill>
                  <a:schemeClr val="bg1"/>
                </a:solidFill>
              </a:rPr>
              <a:t>3</a:t>
            </a:r>
            <a:endParaRPr lang="en-US" sz="9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chemeClr val="accent2"/>
                </a:solidFill>
              </a:rPr>
              <a:t>minutos</a:t>
            </a:r>
            <a:endParaRPr lang="en-US" sz="9600" dirty="0"/>
          </a:p>
        </p:txBody>
      </p:sp>
      <p:sp>
        <p:nvSpPr>
          <p:cNvPr id="6" name="Regra rodada @a2u.0"/>
          <p:cNvSpPr/>
          <p:nvPr/>
        </p:nvSpPr>
        <p:spPr>
          <a:xfrm>
            <a:off x="640080" y="1783080"/>
            <a:ext cx="6903720" cy="868680"/>
          </a:xfrm>
          <a:prstGeom prst="roundRect">
            <a:avLst>
              <a:gd name="adj" fmla="val 12632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pic>
        <p:nvPicPr>
          <p:cNvPr id="7" name="Icone rodada @a2u.0" descr="mega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548640" cy="548640"/>
          </a:xfrm>
          <a:prstGeom prst="rect">
            <a:avLst/>
          </a:prstGeom>
        </p:spPr>
      </p:pic>
      <p:sp>
        <p:nvSpPr>
          <p:cNvPr id="8" name="Texto rodada @a2u.0"/>
          <p:cNvSpPr txBox="1"/>
          <p:nvPr/>
        </p:nvSpPr>
        <p:spPr>
          <a:xfrm>
            <a:off x="1600200" y="17830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Comunicador: descreve a Figura A, só com palavras.</a:t>
            </a:r>
            <a:endParaRPr lang="en-US" sz="1700" dirty="0"/>
          </a:p>
        </p:txBody>
      </p:sp>
      <p:sp>
        <p:nvSpPr>
          <p:cNvPr id="9" name="Regra rodada @a2u.1"/>
          <p:cNvSpPr/>
          <p:nvPr/>
        </p:nvSpPr>
        <p:spPr>
          <a:xfrm>
            <a:off x="640080" y="2834640"/>
            <a:ext cx="6903720" cy="868680"/>
          </a:xfrm>
          <a:prstGeom prst="roundRect">
            <a:avLst>
              <a:gd name="adj" fmla="val 12632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pic>
        <p:nvPicPr>
          <p:cNvPr id="10" name="Icone rodada @a2u.1" descr="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990088"/>
            <a:ext cx="548640" cy="548640"/>
          </a:xfrm>
          <a:prstGeom prst="rect">
            <a:avLst/>
          </a:prstGeom>
        </p:spPr>
      </p:pic>
      <p:sp>
        <p:nvSpPr>
          <p:cNvPr id="11" name="Texto rodada @a2u.1"/>
          <p:cNvSpPr txBox="1"/>
          <p:nvPr/>
        </p:nvSpPr>
        <p:spPr>
          <a:xfrm>
            <a:off x="1600200" y="283464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Desenhista: só escuta e desenha.</a:t>
            </a:r>
            <a:endParaRPr lang="en-US" sz="1700" dirty="0"/>
          </a:p>
        </p:txBody>
      </p:sp>
      <p:sp>
        <p:nvSpPr>
          <p:cNvPr id="12" name="Regra rodada @a2u.2"/>
          <p:cNvSpPr/>
          <p:nvPr/>
        </p:nvSpPr>
        <p:spPr>
          <a:xfrm>
            <a:off x="640080" y="3886200"/>
            <a:ext cx="6903720" cy="868680"/>
          </a:xfrm>
          <a:prstGeom prst="roundRect">
            <a:avLst>
              <a:gd name="adj" fmla="val 12632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pic>
        <p:nvPicPr>
          <p:cNvPr id="13" name="Icone rodada @a2u.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041648"/>
            <a:ext cx="548640" cy="548640"/>
          </a:xfrm>
          <a:prstGeom prst="rect">
            <a:avLst/>
          </a:prstGeom>
        </p:spPr>
      </p:pic>
      <p:sp>
        <p:nvSpPr>
          <p:cNvPr id="14" name="Texto rodada @a2u.2"/>
          <p:cNvSpPr txBox="1"/>
          <p:nvPr/>
        </p:nvSpPr>
        <p:spPr>
          <a:xfrm>
            <a:off x="1600200" y="388620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Proibido perguntar, mostrar ou gesticular.</a:t>
            </a:r>
            <a:endParaRPr lang="en-US" sz="1700" dirty="0"/>
          </a:p>
        </p:txBody>
      </p:sp>
      <p:sp>
        <p:nvSpPr>
          <p:cNvPr id="15" name="Fecho rodada @a3u"/>
          <p:cNvSpPr txBox="1"/>
          <p:nvPr/>
        </p:nvSpPr>
        <p:spPr>
          <a:xfrm>
            <a:off x="640080" y="5074920"/>
            <a:ext cx="6903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Quando eu disser “valendo”, o tempo começa.</a:t>
            </a:r>
            <a:endParaRPr lang="en-US" sz="18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OPÇÃO 1 · RODADA 2 · MÃO DUPLA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Com perguntas e confirmação</a:t>
            </a:r>
            <a:endParaRPr lang="en-US" sz="3200" dirty="0"/>
          </a:p>
        </p:txBody>
      </p:sp>
      <p:sp>
        <p:nvSpPr>
          <p:cNvPr id="4" name="Relogio @a1z"/>
          <p:cNvSpPr/>
          <p:nvPr/>
        </p:nvSpPr>
        <p:spPr>
          <a:xfrm>
            <a:off x="8001000" y="1600200"/>
            <a:ext cx="3291840" cy="3291840"/>
          </a:xfrm>
          <a:prstGeom prst="ellipse">
            <a:avLst/>
          </a:prstGeom>
          <a:solidFill>
            <a:schemeClr val="bg1">
              <a:alpha val="8000"/>
            </a:schemeClr>
          </a:solidFill>
          <a:ln w="127000">
            <a:solidFill>
              <a:schemeClr val="accent2"/>
            </a:solidFill>
            <a:prstDash val="solid"/>
          </a:ln>
        </p:spPr>
      </p:sp>
      <p:sp>
        <p:nvSpPr>
          <p:cNvPr id="5" name="Tempo @a1z"/>
          <p:cNvSpPr txBox="1"/>
          <p:nvPr/>
        </p:nvSpPr>
        <p:spPr>
          <a:xfrm>
            <a:off x="8001000" y="16002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600" b="1" dirty="0">
                <a:solidFill>
                  <a:schemeClr val="bg1"/>
                </a:solidFill>
              </a:rPr>
              <a:t>4</a:t>
            </a:r>
            <a:endParaRPr lang="en-US" sz="9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chemeClr val="accent2"/>
                </a:solidFill>
              </a:rPr>
              <a:t>minutos</a:t>
            </a:r>
            <a:endParaRPr lang="en-US" sz="9600" dirty="0"/>
          </a:p>
        </p:txBody>
      </p:sp>
      <p:sp>
        <p:nvSpPr>
          <p:cNvPr id="6" name="Regra rodada @a2u.0"/>
          <p:cNvSpPr/>
          <p:nvPr/>
        </p:nvSpPr>
        <p:spPr>
          <a:xfrm>
            <a:off x="640080" y="1783080"/>
            <a:ext cx="6903720" cy="868680"/>
          </a:xfrm>
          <a:prstGeom prst="roundRect">
            <a:avLst>
              <a:gd name="adj" fmla="val 12632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pic>
        <p:nvPicPr>
          <p:cNvPr id="7" name="Icone rodada @a2u.0" descr="peo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548640" cy="548640"/>
          </a:xfrm>
          <a:prstGeom prst="rect">
            <a:avLst/>
          </a:prstGeom>
        </p:spPr>
      </p:pic>
      <p:sp>
        <p:nvSpPr>
          <p:cNvPr id="8" name="Texto rodada @a2u.0"/>
          <p:cNvSpPr txBox="1"/>
          <p:nvPr/>
        </p:nvSpPr>
        <p:spPr>
          <a:xfrm>
            <a:off x="1600200" y="17830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Troquem os papéis. Agora é a Figura B.</a:t>
            </a:r>
            <a:endParaRPr lang="en-US" sz="1700" dirty="0"/>
          </a:p>
        </p:txBody>
      </p:sp>
      <p:sp>
        <p:nvSpPr>
          <p:cNvPr id="9" name="Regra rodada @a2u.1"/>
          <p:cNvSpPr/>
          <p:nvPr/>
        </p:nvSpPr>
        <p:spPr>
          <a:xfrm>
            <a:off x="640080" y="2834640"/>
            <a:ext cx="6903720" cy="868680"/>
          </a:xfrm>
          <a:prstGeom prst="roundRect">
            <a:avLst>
              <a:gd name="adj" fmla="val 12632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pic>
        <p:nvPicPr>
          <p:cNvPr id="10" name="Icone rodada @a2u.1" descr="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990088"/>
            <a:ext cx="548640" cy="548640"/>
          </a:xfrm>
          <a:prstGeom prst="rect">
            <a:avLst/>
          </a:prstGeom>
        </p:spPr>
      </p:pic>
      <p:sp>
        <p:nvSpPr>
          <p:cNvPr id="11" name="Texto rodada @a2u.1"/>
          <p:cNvSpPr txBox="1"/>
          <p:nvPr/>
        </p:nvSpPr>
        <p:spPr>
          <a:xfrm>
            <a:off x="1600200" y="283464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 desenhista pode perguntar quanto quiser.</a:t>
            </a:r>
            <a:endParaRPr lang="en-US" sz="1700" dirty="0"/>
          </a:p>
        </p:txBody>
      </p:sp>
      <p:sp>
        <p:nvSpPr>
          <p:cNvPr id="12" name="Regra rodada @a2u.2"/>
          <p:cNvSpPr/>
          <p:nvPr/>
        </p:nvSpPr>
        <p:spPr>
          <a:xfrm>
            <a:off x="640080" y="3886200"/>
            <a:ext cx="6903720" cy="868680"/>
          </a:xfrm>
          <a:prstGeom prst="roundRect">
            <a:avLst>
              <a:gd name="adj" fmla="val 12632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pic>
        <p:nvPicPr>
          <p:cNvPr id="13" name="Icone rodada @a2u.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041648"/>
            <a:ext cx="548640" cy="548640"/>
          </a:xfrm>
          <a:prstGeom prst="rect">
            <a:avLst/>
          </a:prstGeom>
        </p:spPr>
      </p:pic>
      <p:sp>
        <p:nvSpPr>
          <p:cNvPr id="14" name="Texto rodada @a2u.2"/>
          <p:cNvSpPr txBox="1"/>
          <p:nvPr/>
        </p:nvSpPr>
        <p:spPr>
          <a:xfrm>
            <a:off x="1600200" y="388620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Antes de desenhar cada parte, repita o que entendeu.</a:t>
            </a:r>
            <a:endParaRPr lang="en-US" sz="1700" dirty="0"/>
          </a:p>
        </p:txBody>
      </p:sp>
      <p:sp>
        <p:nvSpPr>
          <p:cNvPr id="15" name="Fecho rodada @a3u"/>
          <p:cNvSpPr txBox="1"/>
          <p:nvPr/>
        </p:nvSpPr>
        <p:spPr>
          <a:xfrm>
            <a:off x="640080" y="5074920"/>
            <a:ext cx="6903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Fala, repete, confirma.</a:t>
            </a:r>
            <a:endParaRPr lang="en-US" sz="18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1 · DESENHO ÀS CEGAS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Revelação: comparem com o original</a:t>
            </a:r>
            <a:endParaRPr lang="en-US" sz="3200" dirty="0"/>
          </a:p>
        </p:txBody>
      </p:sp>
      <p:sp>
        <p:nvSpPr>
          <p:cNvPr id="4" name="Moldura @c1z"/>
          <p:cNvSpPr/>
          <p:nvPr/>
        </p:nvSpPr>
        <p:spPr>
          <a:xfrm>
            <a:off x="640080" y="1600200"/>
            <a:ext cx="5295748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Figura @c1z" descr="/tmp/claude-0/-home-claude/5746e17e-ab87-5418-9566-46e1b5e96b03/scratchpad/pptx2/assets/fig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034" y="1691640"/>
            <a:ext cx="4815840" cy="3611880"/>
          </a:xfrm>
          <a:prstGeom prst="rect">
            <a:avLst/>
          </a:prstGeom>
        </p:spPr>
      </p:pic>
      <p:sp>
        <p:nvSpPr>
          <p:cNvPr id="6" name="Legenda figura @c1z"/>
          <p:cNvSpPr txBox="1"/>
          <p:nvPr/>
        </p:nvSpPr>
        <p:spPr>
          <a:xfrm>
            <a:off x="822960" y="5321808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FIGURA A  ·  RODADA 1 (SEM PERGUNTAS)</a:t>
            </a:r>
            <a:endParaRPr lang="en-US" sz="1200" dirty="0"/>
          </a:p>
        </p:txBody>
      </p:sp>
      <p:sp>
        <p:nvSpPr>
          <p:cNvPr id="7" name="Moldura @c2z"/>
          <p:cNvSpPr/>
          <p:nvPr/>
        </p:nvSpPr>
        <p:spPr>
          <a:xfrm>
            <a:off x="6255868" y="1600200"/>
            <a:ext cx="5295748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8" name="Figura @c2z" descr="/tmp/claude-0/-home-claude/5746e17e-ab87-5418-9566-46e1b5e96b03/scratchpad/pptx2/assets/fig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821" y="1691640"/>
            <a:ext cx="4815840" cy="3611880"/>
          </a:xfrm>
          <a:prstGeom prst="rect">
            <a:avLst/>
          </a:prstGeom>
        </p:spPr>
      </p:pic>
      <p:sp>
        <p:nvSpPr>
          <p:cNvPr id="9" name="Legenda figura @c2z"/>
          <p:cNvSpPr txBox="1"/>
          <p:nvPr/>
        </p:nvSpPr>
        <p:spPr>
          <a:xfrm>
            <a:off x="6438748" y="5321808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FIGURA B  ·  RODADA 2 (COM PERGUNTAS)</a:t>
            </a:r>
            <a:endParaRPr lang="en-US" sz="12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1 · DESENHO ÀS CEGAS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 dinâmica mostrou</a:t>
            </a:r>
            <a:endParaRPr lang="en-US" sz="3200" dirty="0"/>
          </a:p>
        </p:txBody>
      </p:sp>
      <p:sp>
        <p:nvSpPr>
          <p:cNvPr id="4" name="Pergunta @c1u"/>
          <p:cNvSpPr/>
          <p:nvPr/>
        </p:nvSpPr>
        <p:spPr>
          <a:xfrm>
            <a:off x="640080" y="1645920"/>
            <a:ext cx="5318608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pergunta @c1u"/>
          <p:cNvSpPr txBox="1"/>
          <p:nvPr/>
        </p:nvSpPr>
        <p:spPr>
          <a:xfrm>
            <a:off x="914400" y="2029968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o pergunta @c1u"/>
          <p:cNvSpPr txBox="1"/>
          <p:nvPr/>
        </p:nvSpPr>
        <p:spPr>
          <a:xfrm>
            <a:off x="1645920" y="16459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chemeClr val="tx1"/>
                </a:solidFill>
              </a:rPr>
              <a:t>Qual rodada foi mais fácil? Por quê?</a:t>
            </a:r>
            <a:endParaRPr lang="en-US" sz="1650" dirty="0"/>
          </a:p>
        </p:txBody>
      </p:sp>
      <p:sp>
        <p:nvSpPr>
          <p:cNvPr id="7" name="Pergunta @c2u"/>
          <p:cNvSpPr/>
          <p:nvPr/>
        </p:nvSpPr>
        <p:spPr>
          <a:xfrm>
            <a:off x="6233008" y="1645920"/>
            <a:ext cx="5318608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pergunta @c2u"/>
          <p:cNvSpPr txBox="1"/>
          <p:nvPr/>
        </p:nvSpPr>
        <p:spPr>
          <a:xfrm>
            <a:off x="6507328" y="2029968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o pergunta @c2u"/>
          <p:cNvSpPr txBox="1"/>
          <p:nvPr/>
        </p:nvSpPr>
        <p:spPr>
          <a:xfrm>
            <a:off x="7238848" y="16459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chemeClr val="tx1"/>
                </a:solidFill>
              </a:rPr>
              <a:t>Como foi desenhar sem poder perguntar?</a:t>
            </a:r>
            <a:endParaRPr lang="en-US" sz="1650" dirty="0"/>
          </a:p>
        </p:txBody>
      </p:sp>
      <p:sp>
        <p:nvSpPr>
          <p:cNvPr id="10" name="Pergunta @c3u"/>
          <p:cNvSpPr/>
          <p:nvPr/>
        </p:nvSpPr>
        <p:spPr>
          <a:xfrm>
            <a:off x="640080" y="3108960"/>
            <a:ext cx="5318608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pergunta @c3u"/>
          <p:cNvSpPr txBox="1"/>
          <p:nvPr/>
        </p:nvSpPr>
        <p:spPr>
          <a:xfrm>
            <a:off x="914400" y="3493008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o pergunta @c3u"/>
          <p:cNvSpPr txBox="1"/>
          <p:nvPr/>
        </p:nvSpPr>
        <p:spPr>
          <a:xfrm>
            <a:off x="1645920" y="31089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chemeClr val="tx1"/>
                </a:solidFill>
              </a:rPr>
              <a:t>Onde a “mão única” acontece no nosso turno? Rádio, WhatsApp, passagem de turno…</a:t>
            </a:r>
            <a:endParaRPr lang="en-US" sz="1650" dirty="0"/>
          </a:p>
        </p:txBody>
      </p:sp>
      <p:sp>
        <p:nvSpPr>
          <p:cNvPr id="13" name="Pergunta @c4u"/>
          <p:cNvSpPr/>
          <p:nvPr/>
        </p:nvSpPr>
        <p:spPr>
          <a:xfrm>
            <a:off x="6233008" y="3108960"/>
            <a:ext cx="5318608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4" name="Num pergunta @c4u"/>
          <p:cNvSpPr txBox="1"/>
          <p:nvPr/>
        </p:nvSpPr>
        <p:spPr>
          <a:xfrm>
            <a:off x="6507328" y="3493008"/>
            <a:ext cx="512064" cy="512064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o pergunta @c4u"/>
          <p:cNvSpPr txBox="1"/>
          <p:nvPr/>
        </p:nvSpPr>
        <p:spPr>
          <a:xfrm>
            <a:off x="7238848" y="31089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chemeClr val="tx1"/>
                </a:solidFill>
              </a:rPr>
              <a:t>O que muda quando a gente confirma o entendimento?</a:t>
            </a:r>
            <a:endParaRPr lang="en-US" sz="1650" dirty="0"/>
          </a:p>
        </p:txBody>
      </p:sp>
      <p:sp>
        <p:nvSpPr>
          <p:cNvPr id="16" name="Conclusao @c5z"/>
          <p:cNvSpPr/>
          <p:nvPr/>
        </p:nvSpPr>
        <p:spPr>
          <a:xfrm>
            <a:off x="640080" y="4663440"/>
            <a:ext cx="10911535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pic>
        <p:nvPicPr>
          <p:cNvPr id="17" name="Icone conclusao @c5z" descr="id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46320"/>
            <a:ext cx="685800" cy="685800"/>
          </a:xfrm>
          <a:prstGeom prst="rect">
            <a:avLst/>
          </a:prstGeom>
        </p:spPr>
      </p:pic>
      <p:sp>
        <p:nvSpPr>
          <p:cNvPr id="18" name="Texto conclusao @c5z"/>
          <p:cNvSpPr txBox="1"/>
          <p:nvPr/>
        </p:nvSpPr>
        <p:spPr>
          <a:xfrm>
            <a:off x="1828800" y="4663440"/>
            <a:ext cx="9448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Comunicação de mão dupla leva um pouco mais de tempo — </a:t>
            </a:r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e erra muito menos.</a:t>
            </a:r>
            <a:endParaRPr lang="en-US" sz="2000" dirty="0"/>
          </a:p>
        </p:txBody>
      </p:sp>
      <p:sp>
        <p:nvSpPr>
          <p:cNvPr id="19" name="Botao menu #go:menu">
            <a:hlinkClick r:id="rIdGo1" action="ppaction://hlinksldjump"/>
          </p:cNvPr>
          <p:cNvSpPr txBox="1"/>
          <p:nvPr/>
        </p:nvSpPr>
        <p:spPr>
          <a:xfrm>
            <a:off x="6888175" y="5943600"/>
            <a:ext cx="196596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Outra dinâmica</a:t>
            </a:r>
            <a:endParaRPr lang="en-US" sz="1200" dirty="0"/>
          </a:p>
        </p:txBody>
      </p:sp>
      <p:sp>
        <p:nvSpPr>
          <p:cNvPr id="20" name="Botao fechamento #go:fim">
            <a:hlinkClick r:id="rIdGo2" action="ppaction://hlinksldjump"/>
          </p:cNvPr>
          <p:cNvSpPr txBox="1"/>
          <p:nvPr/>
        </p:nvSpPr>
        <p:spPr>
          <a:xfrm>
            <a:off x="9037015" y="5943600"/>
            <a:ext cx="2514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Ir para o fechamento  ›</a:t>
            </a:r>
            <a:endParaRPr lang="en-US" sz="12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2 · PAPEL RASGADO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Papel rasgado: como funciona</a:t>
            </a:r>
            <a:endParaRPr lang="en-US" sz="3200" dirty="0"/>
          </a:p>
        </p:txBody>
      </p:sp>
      <p:sp>
        <p:nvSpPr>
          <p:cNvPr id="4" name="Passo dinamica @a1u.0"/>
          <p:cNvSpPr/>
          <p:nvPr/>
        </p:nvSpPr>
        <p:spPr>
          <a:xfrm>
            <a:off x="640080" y="169164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dinamica @a1u.0"/>
          <p:cNvSpPr txBox="1"/>
          <p:nvPr/>
        </p:nvSpPr>
        <p:spPr>
          <a:xfrm>
            <a:off x="841248" y="186537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o dinamica @a1u.0"/>
          <p:cNvSpPr txBox="1"/>
          <p:nvPr/>
        </p:nvSpPr>
        <p:spPr>
          <a:xfrm>
            <a:off x="1508760" y="169164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Cada pessoa recebe uma folha A4.</a:t>
            </a:r>
            <a:endParaRPr lang="en-US" sz="1600" dirty="0"/>
          </a:p>
        </p:txBody>
      </p:sp>
      <p:sp>
        <p:nvSpPr>
          <p:cNvPr id="7" name="Passo dinamica @a1u.1"/>
          <p:cNvSpPr/>
          <p:nvPr/>
        </p:nvSpPr>
        <p:spPr>
          <a:xfrm>
            <a:off x="640080" y="265176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dinamica @a1u.1"/>
          <p:cNvSpPr txBox="1"/>
          <p:nvPr/>
        </p:nvSpPr>
        <p:spPr>
          <a:xfrm>
            <a:off x="841248" y="282549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o dinamica @a1u.1"/>
          <p:cNvSpPr txBox="1"/>
          <p:nvPr/>
        </p:nvSpPr>
        <p:spPr>
          <a:xfrm>
            <a:off x="1508760" y="265176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Todos ficam de olhos fechados até o final.</a:t>
            </a:r>
            <a:endParaRPr lang="en-US" sz="1600" dirty="0"/>
          </a:p>
        </p:txBody>
      </p:sp>
      <p:sp>
        <p:nvSpPr>
          <p:cNvPr id="10" name="Passo dinamica @a1u.2"/>
          <p:cNvSpPr/>
          <p:nvPr/>
        </p:nvSpPr>
        <p:spPr>
          <a:xfrm>
            <a:off x="640080" y="361188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dinamica @a1u.2"/>
          <p:cNvSpPr txBox="1"/>
          <p:nvPr/>
        </p:nvSpPr>
        <p:spPr>
          <a:xfrm>
            <a:off x="841248" y="37856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o dinamica @a1u.2"/>
          <p:cNvSpPr txBox="1"/>
          <p:nvPr/>
        </p:nvSpPr>
        <p:spPr>
          <a:xfrm>
            <a:off x="1508760" y="361188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Sigam as instruções. Ninguém pode perguntar.</a:t>
            </a:r>
            <a:endParaRPr lang="en-US" sz="1600" dirty="0"/>
          </a:p>
        </p:txBody>
      </p:sp>
      <p:sp>
        <p:nvSpPr>
          <p:cNvPr id="13" name="Passo dinamica @a1u.3"/>
          <p:cNvSpPr/>
          <p:nvPr/>
        </p:nvSpPr>
        <p:spPr>
          <a:xfrm>
            <a:off x="640080" y="457200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4" name="Num dinamica @a1u.3"/>
          <p:cNvSpPr txBox="1"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o dinamica @a1u.3"/>
          <p:cNvSpPr txBox="1"/>
          <p:nvPr/>
        </p:nvSpPr>
        <p:spPr>
          <a:xfrm>
            <a:off x="1508760" y="457200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final, abram os olhos, desdobrem e comparem.</a:t>
            </a:r>
            <a:endParaRPr lang="en-US" sz="1600" dirty="0"/>
          </a:p>
        </p:txBody>
      </p:sp>
      <p:sp>
        <p:nvSpPr>
          <p:cNvPr id="16" name="Material @a2u"/>
          <p:cNvSpPr/>
          <p:nvPr/>
        </p:nvSpPr>
        <p:spPr>
          <a:xfrm>
            <a:off x="7635240" y="1691640"/>
            <a:ext cx="3916375" cy="3657600"/>
          </a:xfrm>
          <a:prstGeom prst="roundRect">
            <a:avLst>
              <a:gd name="adj" fmla="val 3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17" name="Titulo material @a2u"/>
          <p:cNvSpPr txBox="1"/>
          <p:nvPr/>
        </p:nvSpPr>
        <p:spPr>
          <a:xfrm>
            <a:off x="7909560" y="18745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VOCÊ VAI PRECISAR</a:t>
            </a:r>
            <a:endParaRPr lang="en-US" sz="1200" dirty="0"/>
          </a:p>
        </p:txBody>
      </p:sp>
      <p:pic>
        <p:nvPicPr>
          <p:cNvPr id="18" name="Icone material @a2u" descr="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2400300"/>
            <a:ext cx="548640" cy="548640"/>
          </a:xfrm>
          <a:prstGeom prst="rect">
            <a:avLst/>
          </a:prstGeom>
        </p:spPr>
      </p:pic>
      <p:sp>
        <p:nvSpPr>
          <p:cNvPr id="19" name="Texto material @a2u"/>
          <p:cNvSpPr txBox="1"/>
          <p:nvPr/>
        </p:nvSpPr>
        <p:spPr>
          <a:xfrm>
            <a:off x="8641080" y="23317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1 folha A4 por pessoa</a:t>
            </a:r>
            <a:endParaRPr lang="en-US" sz="1450" dirty="0"/>
          </a:p>
        </p:txBody>
      </p:sp>
      <p:pic>
        <p:nvPicPr>
          <p:cNvPr id="20" name="Icone material @a2u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314700"/>
            <a:ext cx="548640" cy="548640"/>
          </a:xfrm>
          <a:prstGeom prst="rect">
            <a:avLst/>
          </a:prstGeom>
        </p:spPr>
      </p:pic>
      <p:sp>
        <p:nvSpPr>
          <p:cNvPr id="21" name="Texto material @a2u"/>
          <p:cNvSpPr txBox="1"/>
          <p:nvPr/>
        </p:nvSpPr>
        <p:spPr>
          <a:xfrm>
            <a:off x="8641080" y="32461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Cerca de 7 minutos</a:t>
            </a:r>
            <a:endParaRPr lang="en-US" sz="1450" dirty="0"/>
          </a:p>
        </p:txBody>
      </p:sp>
      <p:pic>
        <p:nvPicPr>
          <p:cNvPr id="22" name="Icone material @a2u" descr="mega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4229100"/>
            <a:ext cx="548640" cy="548640"/>
          </a:xfrm>
          <a:prstGeom prst="rect">
            <a:avLst/>
          </a:prstGeom>
        </p:spPr>
      </p:pic>
      <p:sp>
        <p:nvSpPr>
          <p:cNvPr id="23" name="Texto material @a2u"/>
          <p:cNvSpPr txBox="1"/>
          <p:nvPr/>
        </p:nvSpPr>
        <p:spPr>
          <a:xfrm>
            <a:off x="8641080" y="41605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Você lê as instruções em voz alta, devagar</a:t>
            </a:r>
            <a:endParaRPr lang="en-US" sz="1450" dirty="0"/>
          </a:p>
        </p:txBody>
      </p:sp>
      <p:sp>
        <p:nvSpPr>
          <p:cNvPr id="24" name="Botao menu #go:menu">
            <a:hlinkClick r:id="rIdGo1" action="ppaction://hlinksldjump"/>
          </p:cNvPr>
          <p:cNvSpPr txBox="1"/>
          <p:nvPr/>
        </p:nvSpPr>
        <p:spPr>
          <a:xfrm>
            <a:off x="9311335" y="5943600"/>
            <a:ext cx="224028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Voltar às opções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OPÇÃO 2 · PAPEL RASGADO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Olhos fechados. Sem perguntas.</a:t>
            </a:r>
            <a:endParaRPr lang="en-US" sz="3200" dirty="0"/>
          </a:p>
        </p:txBody>
      </p:sp>
      <p:sp>
        <p:nvSpPr>
          <p:cNvPr id="4" name="Instrucao @c1u"/>
          <p:cNvSpPr/>
          <p:nvPr/>
        </p:nvSpPr>
        <p:spPr>
          <a:xfrm>
            <a:off x="640080" y="1645920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5" name="Num instrucao @c1u"/>
          <p:cNvSpPr txBox="1"/>
          <p:nvPr/>
        </p:nvSpPr>
        <p:spPr>
          <a:xfrm>
            <a:off x="768096" y="171907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o instrucao @c1u"/>
          <p:cNvSpPr txBox="1"/>
          <p:nvPr/>
        </p:nvSpPr>
        <p:spPr>
          <a:xfrm>
            <a:off x="1280160" y="1645920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Dobre a folha ao meio.</a:t>
            </a:r>
            <a:endParaRPr lang="en-US" sz="1600" dirty="0"/>
          </a:p>
        </p:txBody>
      </p:sp>
      <p:sp>
        <p:nvSpPr>
          <p:cNvPr id="7" name="Instrucao @c2u"/>
          <p:cNvSpPr/>
          <p:nvPr/>
        </p:nvSpPr>
        <p:spPr>
          <a:xfrm>
            <a:off x="640080" y="2231136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Num instrucao @c2u"/>
          <p:cNvSpPr txBox="1"/>
          <p:nvPr/>
        </p:nvSpPr>
        <p:spPr>
          <a:xfrm>
            <a:off x="768096" y="2304288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o instrucao @c2u"/>
          <p:cNvSpPr txBox="1"/>
          <p:nvPr/>
        </p:nvSpPr>
        <p:spPr>
          <a:xfrm>
            <a:off x="1280160" y="2231136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Rasgue o canto de cima, do lado direito.</a:t>
            </a:r>
            <a:endParaRPr lang="en-US" sz="1600" dirty="0"/>
          </a:p>
        </p:txBody>
      </p:sp>
      <p:sp>
        <p:nvSpPr>
          <p:cNvPr id="10" name="Instrucao @c3u"/>
          <p:cNvSpPr/>
          <p:nvPr/>
        </p:nvSpPr>
        <p:spPr>
          <a:xfrm>
            <a:off x="640080" y="2816352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1" name="Num instrucao @c3u"/>
          <p:cNvSpPr txBox="1"/>
          <p:nvPr/>
        </p:nvSpPr>
        <p:spPr>
          <a:xfrm>
            <a:off x="768096" y="2889504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Texto instrucao @c3u"/>
          <p:cNvSpPr txBox="1"/>
          <p:nvPr/>
        </p:nvSpPr>
        <p:spPr>
          <a:xfrm>
            <a:off x="1280160" y="2816352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Dobre a folha ao meio de novo.</a:t>
            </a:r>
            <a:endParaRPr lang="en-US" sz="1600" dirty="0"/>
          </a:p>
        </p:txBody>
      </p:sp>
      <p:sp>
        <p:nvSpPr>
          <p:cNvPr id="13" name="Instrucao @c4u"/>
          <p:cNvSpPr/>
          <p:nvPr/>
        </p:nvSpPr>
        <p:spPr>
          <a:xfrm>
            <a:off x="640080" y="3401568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Num instrucao @c4u"/>
          <p:cNvSpPr txBox="1"/>
          <p:nvPr/>
        </p:nvSpPr>
        <p:spPr>
          <a:xfrm>
            <a:off x="768096" y="347472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Texto instrucao @c4u"/>
          <p:cNvSpPr txBox="1"/>
          <p:nvPr/>
        </p:nvSpPr>
        <p:spPr>
          <a:xfrm>
            <a:off x="1280160" y="3401568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Rasgue o canto de baixo, do lado esquerdo.</a:t>
            </a:r>
            <a:endParaRPr lang="en-US" sz="1600" dirty="0"/>
          </a:p>
        </p:txBody>
      </p:sp>
      <p:sp>
        <p:nvSpPr>
          <p:cNvPr id="16" name="Instrucao @c5u"/>
          <p:cNvSpPr/>
          <p:nvPr/>
        </p:nvSpPr>
        <p:spPr>
          <a:xfrm>
            <a:off x="640080" y="3986784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7" name="Num instrucao @c5u"/>
          <p:cNvSpPr txBox="1"/>
          <p:nvPr/>
        </p:nvSpPr>
        <p:spPr>
          <a:xfrm>
            <a:off x="768096" y="4059936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Texto instrucao @c5u"/>
          <p:cNvSpPr txBox="1"/>
          <p:nvPr/>
        </p:nvSpPr>
        <p:spPr>
          <a:xfrm>
            <a:off x="1280160" y="3986784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Dobre ao meio mais uma vez.</a:t>
            </a:r>
            <a:endParaRPr lang="en-US" sz="1600" dirty="0"/>
          </a:p>
        </p:txBody>
      </p:sp>
      <p:sp>
        <p:nvSpPr>
          <p:cNvPr id="19" name="Instrucao @c6u"/>
          <p:cNvSpPr/>
          <p:nvPr/>
        </p:nvSpPr>
        <p:spPr>
          <a:xfrm>
            <a:off x="640080" y="4572000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20" name="Num instrucao @c6u"/>
          <p:cNvSpPr txBox="1"/>
          <p:nvPr/>
        </p:nvSpPr>
        <p:spPr>
          <a:xfrm>
            <a:off x="768096" y="46451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</a:t>
            </a:r>
            <a:endParaRPr lang="en-US" sz="1200" dirty="0"/>
          </a:p>
        </p:txBody>
      </p:sp>
      <p:sp>
        <p:nvSpPr>
          <p:cNvPr id="21" name="Texto instrucao @c6u"/>
          <p:cNvSpPr txBox="1"/>
          <p:nvPr/>
        </p:nvSpPr>
        <p:spPr>
          <a:xfrm>
            <a:off x="1280160" y="4572000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Rasgue um pedaço do meio, do lado direito.</a:t>
            </a:r>
            <a:endParaRPr lang="en-US" sz="1600" dirty="0"/>
          </a:p>
        </p:txBody>
      </p:sp>
      <p:sp>
        <p:nvSpPr>
          <p:cNvPr id="22" name="Instrucao @c7u"/>
          <p:cNvSpPr/>
          <p:nvPr/>
        </p:nvSpPr>
        <p:spPr>
          <a:xfrm>
            <a:off x="640080" y="5157216"/>
            <a:ext cx="6903720" cy="493776"/>
          </a:xfrm>
          <a:prstGeom prst="roundRect">
            <a:avLst>
              <a:gd name="adj" fmla="val 18519"/>
            </a:avLst>
          </a:prstGeom>
          <a:solidFill>
            <a:schemeClr val="bg1">
              <a:alpha val="9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23" name="Num instrucao @c7u"/>
          <p:cNvSpPr txBox="1"/>
          <p:nvPr/>
        </p:nvSpPr>
        <p:spPr>
          <a:xfrm>
            <a:off x="768096" y="5230368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</a:t>
            </a:r>
            <a:endParaRPr lang="en-US" sz="1200" dirty="0"/>
          </a:p>
        </p:txBody>
      </p:sp>
      <p:sp>
        <p:nvSpPr>
          <p:cNvPr id="24" name="Texto instrucao @c7u"/>
          <p:cNvSpPr txBox="1"/>
          <p:nvPr/>
        </p:nvSpPr>
        <p:spPr>
          <a:xfrm>
            <a:off x="1280160" y="5157216"/>
            <a:ext cx="6126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Abram os olhos, desdobrem e mostrem a folha.</a:t>
            </a:r>
            <a:endParaRPr lang="en-US" sz="1600" dirty="0"/>
          </a:p>
        </p:txBody>
      </p:sp>
      <p:sp>
        <p:nvSpPr>
          <p:cNvPr id="25" name="Anel @a1z"/>
          <p:cNvSpPr/>
          <p:nvPr/>
        </p:nvSpPr>
        <p:spPr>
          <a:xfrm>
            <a:off x="8001000" y="1600200"/>
            <a:ext cx="3291840" cy="3291840"/>
          </a:xfrm>
          <a:prstGeom prst="ellipse">
            <a:avLst/>
          </a:prstGeom>
          <a:solidFill>
            <a:schemeClr val="bg1">
              <a:alpha val="8000"/>
            </a:schemeClr>
          </a:solidFill>
          <a:ln w="127000">
            <a:solidFill>
              <a:schemeClr val="accent2"/>
            </a:solidFill>
            <a:prstDash val="solid"/>
          </a:ln>
        </p:spPr>
      </p:sp>
      <p:pic>
        <p:nvPicPr>
          <p:cNvPr id="26" name="Macaco @a1z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194560"/>
            <a:ext cx="1463040" cy="1463040"/>
          </a:xfrm>
          <a:prstGeom prst="rect">
            <a:avLst/>
          </a:prstGeom>
        </p:spPr>
      </p:pic>
      <p:sp>
        <p:nvSpPr>
          <p:cNvPr id="27" name="Zero perguntas @a1z"/>
          <p:cNvSpPr txBox="1"/>
          <p:nvPr/>
        </p:nvSpPr>
        <p:spPr>
          <a:xfrm>
            <a:off x="8001000" y="3749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 perguntas</a:t>
            </a:r>
            <a:endParaRPr lang="en-US" sz="22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2 · PAPEL RASGADO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Mesma instrução, papéis diferentes</a:t>
            </a:r>
            <a:endParaRPr lang="en-US" sz="3200" dirty="0"/>
          </a:p>
        </p:txBody>
      </p:sp>
      <p:sp>
        <p:nvSpPr>
          <p:cNvPr id="4" name="Pergunta @c1u"/>
          <p:cNvSpPr/>
          <p:nvPr/>
        </p:nvSpPr>
        <p:spPr>
          <a:xfrm>
            <a:off x="640080" y="1645920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pergunta @c1u"/>
          <p:cNvSpPr txBox="1"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o pergunta @c1u"/>
          <p:cNvSpPr txBox="1"/>
          <p:nvPr/>
        </p:nvSpPr>
        <p:spPr>
          <a:xfrm>
            <a:off x="1600200" y="164592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Todos ouviram a mesma instrução. Por que os papéis ficaram diferentes?</a:t>
            </a:r>
            <a:endParaRPr lang="en-US" sz="1700" dirty="0"/>
          </a:p>
        </p:txBody>
      </p:sp>
      <p:sp>
        <p:nvSpPr>
          <p:cNvPr id="7" name="Pergunta @c2u"/>
          <p:cNvSpPr/>
          <p:nvPr/>
        </p:nvSpPr>
        <p:spPr>
          <a:xfrm>
            <a:off x="640080" y="2670048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pergunta @c2u"/>
          <p:cNvSpPr txBox="1"/>
          <p:nvPr/>
        </p:nvSpPr>
        <p:spPr>
          <a:xfrm>
            <a:off x="868680" y="2852928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o pergunta @c2u"/>
          <p:cNvSpPr txBox="1"/>
          <p:nvPr/>
        </p:nvSpPr>
        <p:spPr>
          <a:xfrm>
            <a:off x="1600200" y="2670048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 que você teria perguntado, se pudesse?</a:t>
            </a:r>
            <a:endParaRPr lang="en-US" sz="1700" dirty="0"/>
          </a:p>
        </p:txBody>
      </p:sp>
      <p:sp>
        <p:nvSpPr>
          <p:cNvPr id="10" name="Pergunta @c3u"/>
          <p:cNvSpPr/>
          <p:nvPr/>
        </p:nvSpPr>
        <p:spPr>
          <a:xfrm>
            <a:off x="640080" y="3694176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pergunta @c3u"/>
          <p:cNvSpPr txBox="1"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o pergunta @c3u"/>
          <p:cNvSpPr txBox="1"/>
          <p:nvPr/>
        </p:nvSpPr>
        <p:spPr>
          <a:xfrm>
            <a:off x="1600200" y="3694176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Onde damos instrução “de olhos fechados” no turno?</a:t>
            </a:r>
            <a:endParaRPr lang="en-US" sz="1700" dirty="0"/>
          </a:p>
        </p:txBody>
      </p:sp>
      <p:sp>
        <p:nvSpPr>
          <p:cNvPr id="13" name="Conclusao @c4z"/>
          <p:cNvSpPr/>
          <p:nvPr/>
        </p:nvSpPr>
        <p:spPr>
          <a:xfrm>
            <a:off x="640080" y="4754880"/>
            <a:ext cx="10911535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pic>
        <p:nvPicPr>
          <p:cNvPr id="14" name="Icone conclusao @c4z" descr="id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92040"/>
            <a:ext cx="640080" cy="640080"/>
          </a:xfrm>
          <a:prstGeom prst="rect">
            <a:avLst/>
          </a:prstGeom>
        </p:spPr>
      </p:pic>
      <p:sp>
        <p:nvSpPr>
          <p:cNvPr id="15" name="Texto conclusao @c4z"/>
          <p:cNvSpPr txBox="1"/>
          <p:nvPr/>
        </p:nvSpPr>
        <p:spPr>
          <a:xfrm>
            <a:off x="1783080" y="4754880"/>
            <a:ext cx="9539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Instrução clara mostra o exemplo, deixa perguntar </a:t>
            </a:r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e confirma o entendimento.</a:t>
            </a:r>
            <a:endParaRPr lang="en-US" sz="1900" dirty="0"/>
          </a:p>
        </p:txBody>
      </p:sp>
      <p:sp>
        <p:nvSpPr>
          <p:cNvPr id="16" name="Botao menu #go:menu">
            <a:hlinkClick r:id="rIdGo1" action="ppaction://hlinksldjump"/>
          </p:cNvPr>
          <p:cNvSpPr txBox="1"/>
          <p:nvPr/>
        </p:nvSpPr>
        <p:spPr>
          <a:xfrm>
            <a:off x="6888175" y="5943600"/>
            <a:ext cx="196596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Outra dinâmica</a:t>
            </a:r>
            <a:endParaRPr lang="en-US" sz="1200" dirty="0"/>
          </a:p>
        </p:txBody>
      </p:sp>
      <p:sp>
        <p:nvSpPr>
          <p:cNvPr id="17" name="Botao fechamento #go:fim">
            <a:hlinkClick r:id="rIdGo2" action="ppaction://hlinksldjump"/>
          </p:cNvPr>
          <p:cNvSpPr txBox="1"/>
          <p:nvPr/>
        </p:nvSpPr>
        <p:spPr>
          <a:xfrm>
            <a:off x="9037015" y="5943600"/>
            <a:ext cx="2514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Ir para o fechamento  ›</a:t>
            </a:r>
            <a:endParaRPr lang="en-US" sz="12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3 · TELEFONE SEM FIO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Telefone sem fio: como funciona</a:t>
            </a:r>
            <a:endParaRPr lang="en-US" sz="3200" dirty="0"/>
          </a:p>
        </p:txBody>
      </p:sp>
      <p:sp>
        <p:nvSpPr>
          <p:cNvPr id="4" name="Passo dinamica @a1u.0"/>
          <p:cNvSpPr/>
          <p:nvPr/>
        </p:nvSpPr>
        <p:spPr>
          <a:xfrm>
            <a:off x="640080" y="169164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dinamica @a1u.0"/>
          <p:cNvSpPr txBox="1"/>
          <p:nvPr/>
        </p:nvSpPr>
        <p:spPr>
          <a:xfrm>
            <a:off x="841248" y="186537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o dinamica @a1u.0"/>
          <p:cNvSpPr txBox="1"/>
          <p:nvPr/>
        </p:nvSpPr>
        <p:spPr>
          <a:xfrm>
            <a:off x="1508760" y="169164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Chame de 6 a 8 voluntários e forme uma fila.</a:t>
            </a:r>
            <a:endParaRPr lang="en-US" sz="1600" dirty="0"/>
          </a:p>
        </p:txBody>
      </p:sp>
      <p:sp>
        <p:nvSpPr>
          <p:cNvPr id="7" name="Passo dinamica @a1u.1"/>
          <p:cNvSpPr/>
          <p:nvPr/>
        </p:nvSpPr>
        <p:spPr>
          <a:xfrm>
            <a:off x="640080" y="265176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dinamica @a1u.1"/>
          <p:cNvSpPr txBox="1"/>
          <p:nvPr/>
        </p:nvSpPr>
        <p:spPr>
          <a:xfrm>
            <a:off x="841248" y="282549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o dinamica @a1u.1"/>
          <p:cNvSpPr txBox="1"/>
          <p:nvPr/>
        </p:nvSpPr>
        <p:spPr>
          <a:xfrm>
            <a:off x="1508760" y="265176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Só o primeiro lê a mensagem, sem os outros verem.</a:t>
            </a:r>
            <a:endParaRPr lang="en-US" sz="1600" dirty="0"/>
          </a:p>
        </p:txBody>
      </p:sp>
      <p:sp>
        <p:nvSpPr>
          <p:cNvPr id="10" name="Passo dinamica @a1u.2"/>
          <p:cNvSpPr/>
          <p:nvPr/>
        </p:nvSpPr>
        <p:spPr>
          <a:xfrm>
            <a:off x="640080" y="361188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dinamica @a1u.2"/>
          <p:cNvSpPr txBox="1"/>
          <p:nvPr/>
        </p:nvSpPr>
        <p:spPr>
          <a:xfrm>
            <a:off x="841248" y="378561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o dinamica @a1u.2"/>
          <p:cNvSpPr txBox="1"/>
          <p:nvPr/>
        </p:nvSpPr>
        <p:spPr>
          <a:xfrm>
            <a:off x="1508760" y="361188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Cada um repassa no ouvido do próximo, uma única vez.</a:t>
            </a:r>
            <a:endParaRPr lang="en-US" sz="1600" dirty="0"/>
          </a:p>
        </p:txBody>
      </p:sp>
      <p:sp>
        <p:nvSpPr>
          <p:cNvPr id="13" name="Passo dinamica @a1u.3"/>
          <p:cNvSpPr/>
          <p:nvPr/>
        </p:nvSpPr>
        <p:spPr>
          <a:xfrm>
            <a:off x="640080" y="4572000"/>
            <a:ext cx="6675120" cy="804672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4" name="Num dinamica @a1u.3"/>
          <p:cNvSpPr txBox="1"/>
          <p:nvPr/>
        </p:nvSpPr>
        <p:spPr>
          <a:xfrm>
            <a:off x="841248" y="474573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o dinamica @a1u.3"/>
          <p:cNvSpPr txBox="1"/>
          <p:nvPr/>
        </p:nvSpPr>
        <p:spPr>
          <a:xfrm>
            <a:off x="1508760" y="4572000"/>
            <a:ext cx="5669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 último fala a mensagem em voz alta para todos.</a:t>
            </a:r>
            <a:endParaRPr lang="en-US" sz="1600" dirty="0"/>
          </a:p>
        </p:txBody>
      </p:sp>
      <p:sp>
        <p:nvSpPr>
          <p:cNvPr id="16" name="Material @a2u"/>
          <p:cNvSpPr/>
          <p:nvPr/>
        </p:nvSpPr>
        <p:spPr>
          <a:xfrm>
            <a:off x="7635240" y="1691640"/>
            <a:ext cx="3916375" cy="3657600"/>
          </a:xfrm>
          <a:prstGeom prst="roundRect">
            <a:avLst>
              <a:gd name="adj" fmla="val 3000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40000"/>
              </a:schemeClr>
            </a:solidFill>
            <a:prstDash val="solid"/>
          </a:ln>
        </p:spPr>
      </p:sp>
      <p:sp>
        <p:nvSpPr>
          <p:cNvPr id="17" name="Titulo material @a2u"/>
          <p:cNvSpPr txBox="1"/>
          <p:nvPr/>
        </p:nvSpPr>
        <p:spPr>
          <a:xfrm>
            <a:off x="7909560" y="18745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VOCÊ VAI PRECISAR</a:t>
            </a:r>
            <a:endParaRPr lang="en-US" sz="1200" dirty="0"/>
          </a:p>
        </p:txBody>
      </p:sp>
      <p:pic>
        <p:nvPicPr>
          <p:cNvPr id="18" name="Icone material @a2u" descr="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2400300"/>
            <a:ext cx="548640" cy="548640"/>
          </a:xfrm>
          <a:prstGeom prst="rect">
            <a:avLst/>
          </a:prstGeom>
        </p:spPr>
      </p:pic>
      <p:sp>
        <p:nvSpPr>
          <p:cNvPr id="19" name="Texto material @a2u"/>
          <p:cNvSpPr txBox="1"/>
          <p:nvPr/>
        </p:nvSpPr>
        <p:spPr>
          <a:xfrm>
            <a:off x="8641080" y="23317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Cartão com a mensagem (apêndice)</a:t>
            </a:r>
            <a:endParaRPr lang="en-US" sz="1450" dirty="0"/>
          </a:p>
        </p:txBody>
      </p:sp>
      <p:pic>
        <p:nvPicPr>
          <p:cNvPr id="20" name="Icone material @a2u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314700"/>
            <a:ext cx="548640" cy="548640"/>
          </a:xfrm>
          <a:prstGeom prst="rect">
            <a:avLst/>
          </a:prstGeom>
        </p:spPr>
      </p:pic>
      <p:sp>
        <p:nvSpPr>
          <p:cNvPr id="21" name="Texto material @a2u"/>
          <p:cNvSpPr txBox="1"/>
          <p:nvPr/>
        </p:nvSpPr>
        <p:spPr>
          <a:xfrm>
            <a:off x="8641080" y="32461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Cerca de 10 minutos</a:t>
            </a:r>
            <a:endParaRPr lang="en-US" sz="1450" dirty="0"/>
          </a:p>
        </p:txBody>
      </p:sp>
      <p:pic>
        <p:nvPicPr>
          <p:cNvPr id="22" name="Icone material @a2u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4229100"/>
            <a:ext cx="548640" cy="548640"/>
          </a:xfrm>
          <a:prstGeom prst="rect">
            <a:avLst/>
          </a:prstGeom>
        </p:spPr>
      </p:pic>
      <p:sp>
        <p:nvSpPr>
          <p:cNvPr id="23" name="Texto material @a2u"/>
          <p:cNvSpPr txBox="1"/>
          <p:nvPr/>
        </p:nvSpPr>
        <p:spPr>
          <a:xfrm>
            <a:off x="8641080" y="4160520"/>
            <a:ext cx="2681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Quem não está na fila observa e anota o que muda</a:t>
            </a:r>
            <a:endParaRPr lang="en-US" sz="1450" dirty="0"/>
          </a:p>
        </p:txBody>
      </p:sp>
      <p:sp>
        <p:nvSpPr>
          <p:cNvPr id="24" name="Botao menu #go:menu">
            <a:hlinkClick r:id="rIdGo1" action="ppaction://hlinksldjump"/>
          </p:cNvPr>
          <p:cNvSpPr txBox="1"/>
          <p:nvPr/>
        </p:nvSpPr>
        <p:spPr>
          <a:xfrm>
            <a:off x="9311335" y="5943600"/>
            <a:ext cx="224028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Voltar às opções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3 · TELEFONE SEM FIO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mensagem original</a:t>
            </a:r>
            <a:endParaRPr lang="en-US" sz="3200" dirty="0"/>
          </a:p>
        </p:txBody>
      </p:sp>
      <p:sp>
        <p:nvSpPr>
          <p:cNvPr id="4" name="Mensagem @c1z"/>
          <p:cNvSpPr/>
          <p:nvPr/>
        </p:nvSpPr>
        <p:spPr>
          <a:xfrm>
            <a:off x="640080" y="1645920"/>
            <a:ext cx="6583680" cy="3017520"/>
          </a:xfrm>
          <a:prstGeom prst="roundRect">
            <a:avLst>
              <a:gd name="adj" fmla="val 3636"/>
            </a:avLst>
          </a:prstGeom>
          <a:solidFill>
            <a:schemeClr val="accent2">
              <a:alpha val="2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e mensagem @c1z" descr="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640080" cy="640080"/>
          </a:xfrm>
          <a:prstGeom prst="rect">
            <a:avLst/>
          </a:prstGeom>
        </p:spPr>
      </p:pic>
      <p:sp>
        <p:nvSpPr>
          <p:cNvPr id="6" name="Texto mensagem @c1z"/>
          <p:cNvSpPr txBox="1"/>
          <p:nvPr/>
        </p:nvSpPr>
        <p:spPr>
          <a:xfrm>
            <a:off x="914400" y="260604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“O caminhão da doca 4 sai às 15h20 com 18 pallets. Os 2 pallets de bebida vão por último e precisam de filme duplo. Avise o conferente do turno B.”</a:t>
            </a:r>
            <a:endParaRPr lang="en-US" sz="2100" dirty="0"/>
          </a:p>
        </p:txBody>
      </p:sp>
      <p:sp>
        <p:nvSpPr>
          <p:cNvPr id="7" name="Pergunta mensagem @c2f"/>
          <p:cNvSpPr txBox="1"/>
          <p:nvPr/>
        </p:nvSpPr>
        <p:spPr>
          <a:xfrm>
            <a:off x="640080" y="489204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Em que ponto da fila a mensagem começou a mudar?</a:t>
            </a:r>
            <a:endParaRPr lang="en-US" sz="1700" dirty="0"/>
          </a:p>
        </p:txBody>
      </p:sp>
      <p:sp>
        <p:nvSpPr>
          <p:cNvPr id="8" name="Conferencia @c2u"/>
          <p:cNvSpPr/>
          <p:nvPr/>
        </p:nvSpPr>
        <p:spPr>
          <a:xfrm>
            <a:off x="7498080" y="1645920"/>
            <a:ext cx="4053535" cy="4069080"/>
          </a:xfrm>
          <a:prstGeom prst="roundRect">
            <a:avLst>
              <a:gd name="adj" fmla="val 270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9" name="Titulo conferencia @c2u"/>
          <p:cNvSpPr txBox="1"/>
          <p:nvPr/>
        </p:nvSpPr>
        <p:spPr>
          <a:xfrm>
            <a:off x="7772400" y="181051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 QUE CHEGOU CERTO?</a:t>
            </a:r>
            <a:endParaRPr lang="en-US" sz="1200" dirty="0"/>
          </a:p>
        </p:txBody>
      </p:sp>
      <p:pic>
        <p:nvPicPr>
          <p:cNvPr id="10" name="Check conferencia @c2u.1" descr="check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72284"/>
            <a:ext cx="347472" cy="347472"/>
          </a:xfrm>
          <a:prstGeom prst="rect">
            <a:avLst/>
          </a:prstGeom>
        </p:spPr>
      </p:pic>
      <p:sp>
        <p:nvSpPr>
          <p:cNvPr id="11" name="Item conferencia @c2u.1"/>
          <p:cNvSpPr txBox="1"/>
          <p:nvPr/>
        </p:nvSpPr>
        <p:spPr>
          <a:xfrm>
            <a:off x="8275320" y="224028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Doca 4</a:t>
            </a:r>
            <a:endParaRPr lang="en-US" sz="1400" dirty="0"/>
          </a:p>
        </p:txBody>
      </p:sp>
      <p:pic>
        <p:nvPicPr>
          <p:cNvPr id="12" name="Check conferencia @c2u.2" descr="check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820924"/>
            <a:ext cx="347472" cy="347472"/>
          </a:xfrm>
          <a:prstGeom prst="rect">
            <a:avLst/>
          </a:prstGeom>
        </p:spPr>
      </p:pic>
      <p:sp>
        <p:nvSpPr>
          <p:cNvPr id="13" name="Item conferencia @c2u.2"/>
          <p:cNvSpPr txBox="1"/>
          <p:nvPr/>
        </p:nvSpPr>
        <p:spPr>
          <a:xfrm>
            <a:off x="8275320" y="278892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às 15h20</a:t>
            </a:r>
            <a:endParaRPr lang="en-US" sz="1400" dirty="0"/>
          </a:p>
        </p:txBody>
      </p:sp>
      <p:pic>
        <p:nvPicPr>
          <p:cNvPr id="14" name="Check conferencia @c2u.3" descr="check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369564"/>
            <a:ext cx="347472" cy="347472"/>
          </a:xfrm>
          <a:prstGeom prst="rect">
            <a:avLst/>
          </a:prstGeom>
        </p:spPr>
      </p:pic>
      <p:sp>
        <p:nvSpPr>
          <p:cNvPr id="15" name="Item conferencia @c2u.3"/>
          <p:cNvSpPr txBox="1"/>
          <p:nvPr/>
        </p:nvSpPr>
        <p:spPr>
          <a:xfrm>
            <a:off x="8275320" y="333756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18 pallets</a:t>
            </a:r>
            <a:endParaRPr lang="en-US" sz="1400" dirty="0"/>
          </a:p>
        </p:txBody>
      </p:sp>
      <p:pic>
        <p:nvPicPr>
          <p:cNvPr id="16" name="Check conferencia @c2u.4" descr="checkbo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3918204"/>
            <a:ext cx="347472" cy="347472"/>
          </a:xfrm>
          <a:prstGeom prst="rect">
            <a:avLst/>
          </a:prstGeom>
        </p:spPr>
      </p:pic>
      <p:sp>
        <p:nvSpPr>
          <p:cNvPr id="17" name="Item conferencia @c2u.4"/>
          <p:cNvSpPr txBox="1"/>
          <p:nvPr/>
        </p:nvSpPr>
        <p:spPr>
          <a:xfrm>
            <a:off x="8275320" y="388620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de bebida por último</a:t>
            </a:r>
            <a:endParaRPr lang="en-US" sz="1400" dirty="0"/>
          </a:p>
        </p:txBody>
      </p:sp>
      <p:pic>
        <p:nvPicPr>
          <p:cNvPr id="18" name="Check conferencia @c2u.5" descr="check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4466844"/>
            <a:ext cx="347472" cy="347472"/>
          </a:xfrm>
          <a:prstGeom prst="rect">
            <a:avLst/>
          </a:prstGeom>
        </p:spPr>
      </p:pic>
      <p:sp>
        <p:nvSpPr>
          <p:cNvPr id="19" name="Item conferencia @c2u.5"/>
          <p:cNvSpPr txBox="1"/>
          <p:nvPr/>
        </p:nvSpPr>
        <p:spPr>
          <a:xfrm>
            <a:off x="8275320" y="443484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Filme duplo</a:t>
            </a:r>
            <a:endParaRPr lang="en-US" sz="1400" dirty="0"/>
          </a:p>
        </p:txBody>
      </p:sp>
      <p:pic>
        <p:nvPicPr>
          <p:cNvPr id="20" name="Check conferencia @c2u.6" descr="check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5015484"/>
            <a:ext cx="347472" cy="347472"/>
          </a:xfrm>
          <a:prstGeom prst="rect">
            <a:avLst/>
          </a:prstGeom>
        </p:spPr>
      </p:pic>
      <p:sp>
        <p:nvSpPr>
          <p:cNvPr id="21" name="Item conferencia @c2u.6"/>
          <p:cNvSpPr txBox="1"/>
          <p:nvPr/>
        </p:nvSpPr>
        <p:spPr>
          <a:xfrm>
            <a:off x="8275320" y="498348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Avisar o conferente do turno B</a:t>
            </a:r>
            <a:endParaRPr lang="en-US" sz="14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3 · TELEFONE SEM FIO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Telefone sem fio: o que aprendemos</a:t>
            </a:r>
            <a:endParaRPr lang="en-US" sz="3200" dirty="0"/>
          </a:p>
        </p:txBody>
      </p:sp>
      <p:sp>
        <p:nvSpPr>
          <p:cNvPr id="4" name="Pergunta @c1u"/>
          <p:cNvSpPr/>
          <p:nvPr/>
        </p:nvSpPr>
        <p:spPr>
          <a:xfrm>
            <a:off x="640080" y="1645920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pergunta @c1u"/>
          <p:cNvSpPr txBox="1"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o pergunta @c1u"/>
          <p:cNvSpPr txBox="1"/>
          <p:nvPr/>
        </p:nvSpPr>
        <p:spPr>
          <a:xfrm>
            <a:off x="1600200" y="164592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 que mudou no caminho? O que se perdeu primeiro: números, horários ou nomes?</a:t>
            </a:r>
            <a:endParaRPr lang="en-US" sz="1700" dirty="0"/>
          </a:p>
        </p:txBody>
      </p:sp>
      <p:sp>
        <p:nvSpPr>
          <p:cNvPr id="7" name="Pergunta @c2u"/>
          <p:cNvSpPr/>
          <p:nvPr/>
        </p:nvSpPr>
        <p:spPr>
          <a:xfrm>
            <a:off x="640080" y="2670048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pergunta @c2u"/>
          <p:cNvSpPr txBox="1"/>
          <p:nvPr/>
        </p:nvSpPr>
        <p:spPr>
          <a:xfrm>
            <a:off x="868680" y="2852928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o pergunta @c2u"/>
          <p:cNvSpPr txBox="1"/>
          <p:nvPr/>
        </p:nvSpPr>
        <p:spPr>
          <a:xfrm>
            <a:off x="1600200" y="2670048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Onde isso acontece no turno? Passagem de turno, rádio, recado de boca…</a:t>
            </a:r>
            <a:endParaRPr lang="en-US" sz="1700" dirty="0"/>
          </a:p>
        </p:txBody>
      </p:sp>
      <p:sp>
        <p:nvSpPr>
          <p:cNvPr id="10" name="Pergunta @c3u"/>
          <p:cNvSpPr/>
          <p:nvPr/>
        </p:nvSpPr>
        <p:spPr>
          <a:xfrm>
            <a:off x="640080" y="3694176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pergunta @c3u"/>
          <p:cNvSpPr txBox="1"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o pergunta @c3u"/>
          <p:cNvSpPr txBox="1"/>
          <p:nvPr/>
        </p:nvSpPr>
        <p:spPr>
          <a:xfrm>
            <a:off x="1600200" y="3694176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Como evitar?</a:t>
            </a:r>
            <a:endParaRPr lang="en-US" sz="1700" dirty="0"/>
          </a:p>
        </p:txBody>
      </p:sp>
      <p:sp>
        <p:nvSpPr>
          <p:cNvPr id="13" name="Conclusao @c4z"/>
          <p:cNvSpPr/>
          <p:nvPr/>
        </p:nvSpPr>
        <p:spPr>
          <a:xfrm>
            <a:off x="640080" y="4754880"/>
            <a:ext cx="10911535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pic>
        <p:nvPicPr>
          <p:cNvPr id="14" name="Icone conclusao @c4z" descr="id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92040"/>
            <a:ext cx="640080" cy="640080"/>
          </a:xfrm>
          <a:prstGeom prst="rect">
            <a:avLst/>
          </a:prstGeom>
        </p:spPr>
      </p:pic>
      <p:sp>
        <p:nvSpPr>
          <p:cNvPr id="15" name="Texto conclusao @c4z"/>
          <p:cNvSpPr txBox="1"/>
          <p:nvPr/>
        </p:nvSpPr>
        <p:spPr>
          <a:xfrm>
            <a:off x="1783080" y="4754880"/>
            <a:ext cx="9539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Recado importante vai escrito, é confirmado </a:t>
            </a:r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e passa pelo canal certo.</a:t>
            </a:r>
            <a:endParaRPr lang="en-US" sz="1900" dirty="0"/>
          </a:p>
        </p:txBody>
      </p:sp>
      <p:sp>
        <p:nvSpPr>
          <p:cNvPr id="16" name="Botao menu #go:menu">
            <a:hlinkClick r:id="rIdGo1" action="ppaction://hlinksldjump"/>
          </p:cNvPr>
          <p:cNvSpPr txBox="1"/>
          <p:nvPr/>
        </p:nvSpPr>
        <p:spPr>
          <a:xfrm>
            <a:off x="6888175" y="5943600"/>
            <a:ext cx="196596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Outra dinâmica</a:t>
            </a:r>
            <a:endParaRPr lang="en-US" sz="1200" dirty="0"/>
          </a:p>
        </p:txBody>
      </p:sp>
      <p:sp>
        <p:nvSpPr>
          <p:cNvPr id="17" name="Botao fechamento #go:fim">
            <a:hlinkClick r:id="rIdGo2" action="ppaction://hlinksldjump"/>
          </p:cNvPr>
          <p:cNvSpPr txBox="1"/>
          <p:nvPr/>
        </p:nvSpPr>
        <p:spPr>
          <a:xfrm>
            <a:off x="9037015" y="5943600"/>
            <a:ext cx="2514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Ir para o fechamento  ›</a:t>
            </a:r>
            <a:endParaRPr lang="en-US" sz="12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4 · TREINO EM TRIOS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Treino em trios: como funciona</a:t>
            </a:r>
            <a:endParaRPr lang="en-US" sz="3200" dirty="0"/>
          </a:p>
        </p:txBody>
      </p:sp>
      <p:sp>
        <p:nvSpPr>
          <p:cNvPr id="4" name="Papel @a1u"/>
          <p:cNvSpPr/>
          <p:nvPr/>
        </p:nvSpPr>
        <p:spPr>
          <a:xfrm>
            <a:off x="640080" y="1645920"/>
            <a:ext cx="345429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Icone papel @a1u" descr="lea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822960" cy="822960"/>
          </a:xfrm>
          <a:prstGeom prst="rect">
            <a:avLst/>
          </a:prstGeom>
        </p:spPr>
      </p:pic>
      <p:sp>
        <p:nvSpPr>
          <p:cNvPr id="6" name="Nome papel @a1u"/>
          <p:cNvSpPr txBox="1"/>
          <p:nvPr/>
        </p:nvSpPr>
        <p:spPr>
          <a:xfrm>
            <a:off x="1920240" y="1920240"/>
            <a:ext cx="1991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Líder</a:t>
            </a:r>
            <a:endParaRPr lang="en-US" sz="2000" dirty="0"/>
          </a:p>
        </p:txBody>
      </p:sp>
      <p:sp>
        <p:nvSpPr>
          <p:cNvPr id="7" name="Desc papel @a1u"/>
          <p:cNvSpPr txBox="1"/>
          <p:nvPr/>
        </p:nvSpPr>
        <p:spPr>
          <a:xfrm>
            <a:off x="914400" y="2926080"/>
            <a:ext cx="2905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accent5"/>
                </a:solidFill>
              </a:rPr>
              <a:t>Dá o feedback usando a CNV e o modelo SCI.</a:t>
            </a:r>
            <a:endParaRPr lang="en-US" sz="1500" dirty="0"/>
          </a:p>
        </p:txBody>
      </p:sp>
      <p:sp>
        <p:nvSpPr>
          <p:cNvPr id="8" name="Papel @a2u"/>
          <p:cNvSpPr/>
          <p:nvPr/>
        </p:nvSpPr>
        <p:spPr>
          <a:xfrm>
            <a:off x="4368698" y="1645920"/>
            <a:ext cx="345429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9" name="Icone papel @a2u" descr="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18" y="1920240"/>
            <a:ext cx="822960" cy="822960"/>
          </a:xfrm>
          <a:prstGeom prst="rect">
            <a:avLst/>
          </a:prstGeom>
        </p:spPr>
      </p:pic>
      <p:sp>
        <p:nvSpPr>
          <p:cNvPr id="10" name="Nome papel @a2u"/>
          <p:cNvSpPr txBox="1"/>
          <p:nvPr/>
        </p:nvSpPr>
        <p:spPr>
          <a:xfrm>
            <a:off x="5648858" y="1920240"/>
            <a:ext cx="1991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Colaborador</a:t>
            </a:r>
            <a:endParaRPr lang="en-US" sz="2000" dirty="0"/>
          </a:p>
        </p:txBody>
      </p:sp>
      <p:sp>
        <p:nvSpPr>
          <p:cNvPr id="11" name="Desc papel @a2u"/>
          <p:cNvSpPr txBox="1"/>
          <p:nvPr/>
        </p:nvSpPr>
        <p:spPr>
          <a:xfrm>
            <a:off x="4643018" y="2926080"/>
            <a:ext cx="2905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accent5"/>
                </a:solidFill>
              </a:rPr>
              <a:t>Reage como na vida real, sem exagerar.</a:t>
            </a:r>
            <a:endParaRPr lang="en-US" sz="1500" dirty="0"/>
          </a:p>
        </p:txBody>
      </p:sp>
      <p:sp>
        <p:nvSpPr>
          <p:cNvPr id="12" name="Papel @a3u"/>
          <p:cNvSpPr/>
          <p:nvPr/>
        </p:nvSpPr>
        <p:spPr>
          <a:xfrm>
            <a:off x="8097317" y="1645920"/>
            <a:ext cx="345429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3" name="Icone papel @a3u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1920240"/>
            <a:ext cx="822960" cy="822960"/>
          </a:xfrm>
          <a:prstGeom prst="rect">
            <a:avLst/>
          </a:prstGeom>
        </p:spPr>
      </p:pic>
      <p:sp>
        <p:nvSpPr>
          <p:cNvPr id="14" name="Nome papel @a3u"/>
          <p:cNvSpPr txBox="1"/>
          <p:nvPr/>
        </p:nvSpPr>
        <p:spPr>
          <a:xfrm>
            <a:off x="9377477" y="1920240"/>
            <a:ext cx="1991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Observador</a:t>
            </a:r>
            <a:endParaRPr lang="en-US" sz="2000" dirty="0"/>
          </a:p>
        </p:txBody>
      </p:sp>
      <p:sp>
        <p:nvSpPr>
          <p:cNvPr id="15" name="Desc papel @a3u"/>
          <p:cNvSpPr txBox="1"/>
          <p:nvPr/>
        </p:nvSpPr>
        <p:spPr>
          <a:xfrm>
            <a:off x="8371637" y="2926080"/>
            <a:ext cx="2905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accent5"/>
                </a:solidFill>
              </a:rPr>
              <a:t>Marca o checklist e dá um retorno no final.</a:t>
            </a:r>
            <a:endParaRPr lang="en-US" sz="1500" dirty="0"/>
          </a:p>
        </p:txBody>
      </p:sp>
      <p:sp>
        <p:nvSpPr>
          <p:cNvPr id="16" name="Regras trio @a4u"/>
          <p:cNvSpPr/>
          <p:nvPr/>
        </p:nvSpPr>
        <p:spPr>
          <a:xfrm>
            <a:off x="640080" y="4206240"/>
            <a:ext cx="10911535" cy="1417320"/>
          </a:xfrm>
          <a:prstGeom prst="roundRect">
            <a:avLst>
              <a:gd name="adj" fmla="val 7742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17" name="Icone regra trio @a4u" descr="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40580"/>
            <a:ext cx="548640" cy="548640"/>
          </a:xfrm>
          <a:prstGeom prst="rect">
            <a:avLst/>
          </a:prstGeom>
        </p:spPr>
      </p:pic>
      <p:sp>
        <p:nvSpPr>
          <p:cNvPr id="18" name="Texto regra trio @a4u"/>
          <p:cNvSpPr txBox="1"/>
          <p:nvPr/>
        </p:nvSpPr>
        <p:spPr>
          <a:xfrm>
            <a:off x="1645920" y="4526280"/>
            <a:ext cx="25398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3 rodadas de 3 minutos</a:t>
            </a:r>
            <a:endParaRPr lang="en-US" sz="1400" dirty="0"/>
          </a:p>
        </p:txBody>
      </p:sp>
      <p:pic>
        <p:nvPicPr>
          <p:cNvPr id="19" name="Icone regra trio @a4u" descr="peop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698" y="4640580"/>
            <a:ext cx="548640" cy="548640"/>
          </a:xfrm>
          <a:prstGeom prst="rect">
            <a:avLst/>
          </a:prstGeom>
        </p:spPr>
      </p:pic>
      <p:sp>
        <p:nvSpPr>
          <p:cNvPr id="20" name="Texto regra trio @a4u"/>
          <p:cNvSpPr txBox="1"/>
          <p:nvPr/>
        </p:nvSpPr>
        <p:spPr>
          <a:xfrm>
            <a:off x="5100218" y="4526280"/>
            <a:ext cx="25398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 cada rodada, troquem os papéis e o caso</a:t>
            </a:r>
            <a:endParaRPr lang="en-US" sz="1400" dirty="0"/>
          </a:p>
        </p:txBody>
      </p:sp>
      <p:pic>
        <p:nvPicPr>
          <p:cNvPr id="21" name="Icone regra trio @a4u" descr="cardid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2997" y="4640580"/>
            <a:ext cx="548640" cy="548640"/>
          </a:xfrm>
          <a:prstGeom prst="rect">
            <a:avLst/>
          </a:prstGeom>
        </p:spPr>
      </p:pic>
      <p:sp>
        <p:nvSpPr>
          <p:cNvPr id="22" name="Texto regra trio @a4u"/>
          <p:cNvSpPr txBox="1"/>
          <p:nvPr/>
        </p:nvSpPr>
        <p:spPr>
          <a:xfrm>
            <a:off x="8554517" y="4526280"/>
            <a:ext cx="25398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Cartões de caso e checklist no apêndice</a:t>
            </a:r>
            <a:endParaRPr lang="en-US" sz="1400" dirty="0"/>
          </a:p>
        </p:txBody>
      </p:sp>
      <p:sp>
        <p:nvSpPr>
          <p:cNvPr id="23" name="Botao menu #go:menu">
            <a:hlinkClick r:id="rIdGo1" action="ppaction://hlinksldjump"/>
          </p:cNvPr>
          <p:cNvSpPr txBox="1"/>
          <p:nvPr/>
        </p:nvSpPr>
        <p:spPr>
          <a:xfrm>
            <a:off x="9311335" y="5943600"/>
            <a:ext cx="224028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Voltar às opções</a:t>
            </a:r>
            <a:endParaRPr lang="en-US" sz="12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4 · TREINO EM TRIOS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casos do treino</a:t>
            </a:r>
            <a:endParaRPr lang="en-US" sz="3200" dirty="0"/>
          </a:p>
        </p:txBody>
      </p:sp>
      <p:sp>
        <p:nvSpPr>
          <p:cNvPr id="4" name="Caso @a1u"/>
          <p:cNvSpPr/>
          <p:nvPr/>
        </p:nvSpPr>
        <p:spPr>
          <a:xfrm>
            <a:off x="640080" y="1645920"/>
            <a:ext cx="531860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5875">
            <a:solidFill>
              <a:schemeClr val="accent1">
                <a:alpha val="6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Rotulo caso @a1u"/>
          <p:cNvSpPr txBox="1"/>
          <p:nvPr/>
        </p:nvSpPr>
        <p:spPr>
          <a:xfrm>
            <a:off x="914400" y="187452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CASO 1 · CORRETIVO</a:t>
            </a:r>
            <a:endParaRPr lang="en-US" sz="1200" dirty="0"/>
          </a:p>
        </p:txBody>
      </p:sp>
      <p:sp>
        <p:nvSpPr>
          <p:cNvPr id="6" name="Texto caso @a1u"/>
          <p:cNvSpPr txBox="1"/>
          <p:nvPr/>
        </p:nvSpPr>
        <p:spPr>
          <a:xfrm>
            <a:off x="914400" y="224028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Na separação, um operador passou no cruzamento sem reduzir e quase atingiu um pedestre.</a:t>
            </a:r>
            <a:endParaRPr lang="en-US" sz="1700" dirty="0"/>
          </a:p>
        </p:txBody>
      </p:sp>
      <p:sp>
        <p:nvSpPr>
          <p:cNvPr id="7" name="Caso @a2u"/>
          <p:cNvSpPr/>
          <p:nvPr/>
        </p:nvSpPr>
        <p:spPr>
          <a:xfrm>
            <a:off x="6233008" y="1645920"/>
            <a:ext cx="531860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5875">
            <a:solidFill>
              <a:schemeClr val="accent1">
                <a:alpha val="6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Rotulo caso @a2u"/>
          <p:cNvSpPr txBox="1"/>
          <p:nvPr/>
        </p:nvSpPr>
        <p:spPr>
          <a:xfrm>
            <a:off x="6507328" y="187452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CASO 2 · CORRETIVO</a:t>
            </a:r>
            <a:endParaRPr lang="en-US" sz="1200" dirty="0"/>
          </a:p>
        </p:txBody>
      </p:sp>
      <p:sp>
        <p:nvSpPr>
          <p:cNvPr id="9" name="Texto caso @a2u"/>
          <p:cNvSpPr txBox="1"/>
          <p:nvPr/>
        </p:nvSpPr>
        <p:spPr>
          <a:xfrm>
            <a:off x="6507328" y="224028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Um colaborador chegou atrasado pela terceira vez na semana e perdeu o DDS.</a:t>
            </a:r>
            <a:endParaRPr lang="en-US" sz="1700" dirty="0"/>
          </a:p>
        </p:txBody>
      </p:sp>
      <p:sp>
        <p:nvSpPr>
          <p:cNvPr id="10" name="Caso @a3u"/>
          <p:cNvSpPr/>
          <p:nvPr/>
        </p:nvSpPr>
        <p:spPr>
          <a:xfrm>
            <a:off x="640080" y="3749040"/>
            <a:ext cx="531860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5875">
            <a:solidFill>
              <a:schemeClr val="accent1">
                <a:alpha val="6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Rotulo caso @a3u"/>
          <p:cNvSpPr txBox="1"/>
          <p:nvPr/>
        </p:nvSpPr>
        <p:spPr>
          <a:xfrm>
            <a:off x="914400" y="397764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CASO 3 · CORRETIVO</a:t>
            </a:r>
            <a:endParaRPr lang="en-US" sz="1200" dirty="0"/>
          </a:p>
        </p:txBody>
      </p:sp>
      <p:sp>
        <p:nvSpPr>
          <p:cNvPr id="12" name="Texto caso @a3u"/>
          <p:cNvSpPr txBox="1"/>
          <p:nvPr/>
        </p:nvSpPr>
        <p:spPr>
          <a:xfrm>
            <a:off x="914400" y="434340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Um conferente liberou a carga sem registrar uma divergência de 2 volumes.</a:t>
            </a:r>
            <a:endParaRPr lang="en-US" sz="1700" dirty="0"/>
          </a:p>
        </p:txBody>
      </p:sp>
      <p:sp>
        <p:nvSpPr>
          <p:cNvPr id="13" name="Caso @a4u"/>
          <p:cNvSpPr/>
          <p:nvPr/>
        </p:nvSpPr>
        <p:spPr>
          <a:xfrm>
            <a:off x="6233008" y="3749040"/>
            <a:ext cx="5318608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4" name="Rotulo caso @a4u"/>
          <p:cNvSpPr txBox="1"/>
          <p:nvPr/>
        </p:nvSpPr>
        <p:spPr>
          <a:xfrm>
            <a:off x="6507328" y="397764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CASO 4 · POSITIVO</a:t>
            </a:r>
            <a:endParaRPr lang="en-US" sz="1200" dirty="0"/>
          </a:p>
        </p:txBody>
      </p:sp>
      <p:sp>
        <p:nvSpPr>
          <p:cNvPr id="15" name="Texto caso @a4u"/>
          <p:cNvSpPr txBox="1"/>
          <p:nvPr/>
        </p:nvSpPr>
        <p:spPr>
          <a:xfrm>
            <a:off x="6507328" y="4343400"/>
            <a:ext cx="476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Um colaborador viu um pallet danificado, isolou a área e avisou o líder na hora.</a:t>
            </a:r>
            <a:endParaRPr lang="en-US" sz="17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4 · TREINO EM TRIOS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Checklist do observador</a:t>
            </a:r>
            <a:endParaRPr lang="en-US" sz="3200" dirty="0"/>
          </a:p>
        </p:txBody>
      </p:sp>
      <p:sp>
        <p:nvSpPr>
          <p:cNvPr id="4" name="Checklist @a1f"/>
          <p:cNvSpPr/>
          <p:nvPr/>
        </p:nvSpPr>
        <p:spPr>
          <a:xfrm>
            <a:off x="640080" y="1645920"/>
            <a:ext cx="6949440" cy="4069080"/>
          </a:xfrm>
          <a:prstGeom prst="roundRect">
            <a:avLst>
              <a:gd name="adj" fmla="val 2697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Check @a1u.1" descr="check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11096"/>
            <a:ext cx="384048" cy="384048"/>
          </a:xfrm>
          <a:prstGeom prst="rect">
            <a:avLst/>
          </a:prstGeom>
        </p:spPr>
      </p:pic>
      <p:sp>
        <p:nvSpPr>
          <p:cNvPr id="6" name="Item @a1u.1"/>
          <p:cNvSpPr txBox="1"/>
          <p:nvPr/>
        </p:nvSpPr>
        <p:spPr>
          <a:xfrm>
            <a:off x="1508760" y="1874520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Descreveu o fato, sem rotular a pessoa?</a:t>
            </a:r>
            <a:endParaRPr lang="en-US" sz="1550" dirty="0"/>
          </a:p>
        </p:txBody>
      </p:sp>
      <p:pic>
        <p:nvPicPr>
          <p:cNvPr id="7" name="Check @a1u.2" descr="check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32888"/>
            <a:ext cx="384048" cy="384048"/>
          </a:xfrm>
          <a:prstGeom prst="rect">
            <a:avLst/>
          </a:prstGeom>
        </p:spPr>
      </p:pic>
      <p:sp>
        <p:nvSpPr>
          <p:cNvPr id="8" name="Item @a1u.2"/>
          <p:cNvSpPr txBox="1"/>
          <p:nvPr/>
        </p:nvSpPr>
        <p:spPr>
          <a:xfrm>
            <a:off x="1508760" y="2496312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Explicou o impacto (equipe, segurança, cliente)?</a:t>
            </a:r>
            <a:endParaRPr lang="en-US" sz="1550" dirty="0"/>
          </a:p>
        </p:txBody>
      </p:sp>
      <p:pic>
        <p:nvPicPr>
          <p:cNvPr id="9" name="Check @a1u.3" descr="check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384048" cy="384048"/>
          </a:xfrm>
          <a:prstGeom prst="rect">
            <a:avLst/>
          </a:prstGeom>
        </p:spPr>
      </p:pic>
      <p:sp>
        <p:nvSpPr>
          <p:cNvPr id="10" name="Item @a1u.3"/>
          <p:cNvSpPr txBox="1"/>
          <p:nvPr/>
        </p:nvSpPr>
        <p:spPr>
          <a:xfrm>
            <a:off x="1508760" y="3118104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Ouviu o outro lado antes de concluir?</a:t>
            </a:r>
            <a:endParaRPr lang="en-US" sz="1550" dirty="0"/>
          </a:p>
        </p:txBody>
      </p:sp>
      <p:pic>
        <p:nvPicPr>
          <p:cNvPr id="11" name="Check @a1u.4" descr="check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76472"/>
            <a:ext cx="384048" cy="384048"/>
          </a:xfrm>
          <a:prstGeom prst="rect">
            <a:avLst/>
          </a:prstGeom>
        </p:spPr>
      </p:pic>
      <p:sp>
        <p:nvSpPr>
          <p:cNvPr id="12" name="Item @a1u.4"/>
          <p:cNvSpPr txBox="1"/>
          <p:nvPr/>
        </p:nvSpPr>
        <p:spPr>
          <a:xfrm>
            <a:off x="1508760" y="3739896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Manteve o tom de voz respeitoso?</a:t>
            </a:r>
            <a:endParaRPr lang="en-US" sz="1550" dirty="0"/>
          </a:p>
        </p:txBody>
      </p:sp>
      <p:pic>
        <p:nvPicPr>
          <p:cNvPr id="13" name="Check @a1u.5" descr="checkbo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98264"/>
            <a:ext cx="384048" cy="384048"/>
          </a:xfrm>
          <a:prstGeom prst="rect">
            <a:avLst/>
          </a:prstGeom>
        </p:spPr>
      </p:pic>
      <p:sp>
        <p:nvSpPr>
          <p:cNvPr id="14" name="Item @a1u.5"/>
          <p:cNvSpPr txBox="1"/>
          <p:nvPr/>
        </p:nvSpPr>
        <p:spPr>
          <a:xfrm>
            <a:off x="1508760" y="4361688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Fez um pedido claro, possível e com prazo?</a:t>
            </a:r>
            <a:endParaRPr lang="en-US" sz="1550" dirty="0"/>
          </a:p>
        </p:txBody>
      </p:sp>
      <p:pic>
        <p:nvPicPr>
          <p:cNvPr id="15" name="Check @a1u.6" descr="check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020056"/>
            <a:ext cx="384048" cy="384048"/>
          </a:xfrm>
          <a:prstGeom prst="rect">
            <a:avLst/>
          </a:prstGeom>
        </p:spPr>
      </p:pic>
      <p:sp>
        <p:nvSpPr>
          <p:cNvPr id="16" name="Item @a1u.6"/>
          <p:cNvSpPr txBox="1"/>
          <p:nvPr/>
        </p:nvSpPr>
        <p:spPr>
          <a:xfrm>
            <a:off x="1508760" y="4983480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Fechou com um combinado: o que muda e quando?</a:t>
            </a:r>
            <a:endParaRPr lang="en-US" sz="1550" dirty="0"/>
          </a:p>
        </p:txBody>
      </p:sp>
      <p:sp>
        <p:nvSpPr>
          <p:cNvPr id="17" name="Relogio trio @a2z"/>
          <p:cNvSpPr/>
          <p:nvPr/>
        </p:nvSpPr>
        <p:spPr>
          <a:xfrm>
            <a:off x="8092440" y="1645920"/>
            <a:ext cx="3108960" cy="3108960"/>
          </a:xfrm>
          <a:prstGeom prst="ellipse">
            <a:avLst/>
          </a:prstGeom>
          <a:solidFill>
            <a:schemeClr val="bg1"/>
          </a:solidFill>
          <a:ln w="101600">
            <a:solidFill>
              <a:schemeClr val="accent1"/>
            </a:solidFill>
            <a:prstDash val="solid"/>
          </a:ln>
        </p:spPr>
      </p:sp>
      <p:sp>
        <p:nvSpPr>
          <p:cNvPr id="18" name="Tempo trio @a2z"/>
          <p:cNvSpPr txBox="1"/>
          <p:nvPr/>
        </p:nvSpPr>
        <p:spPr>
          <a:xfrm>
            <a:off x="8092440" y="16459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800" b="1" dirty="0">
                <a:solidFill>
                  <a:schemeClr val="accent1"/>
                </a:solidFill>
              </a:rPr>
              <a:t>3</a:t>
            </a:r>
            <a:endParaRPr lang="en-US" sz="8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chemeClr val="accent5"/>
                </a:solidFill>
              </a:rPr>
              <a:t>min por rodada</a:t>
            </a:r>
            <a:endParaRPr lang="en-US" sz="8800" dirty="0"/>
          </a:p>
        </p:txBody>
      </p:sp>
      <p:sp>
        <p:nvSpPr>
          <p:cNvPr id="19" name="Nota rodadas @a2f"/>
          <p:cNvSpPr txBox="1"/>
          <p:nvPr/>
        </p:nvSpPr>
        <p:spPr>
          <a:xfrm>
            <a:off x="7818120" y="4937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 rodadas · troquem papéis e caso</a:t>
            </a:r>
            <a:endParaRPr lang="en-US" sz="14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OPÇÃO 4 · TREINO EM TRIOS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Treino em trios: o que aprendemos</a:t>
            </a:r>
            <a:endParaRPr lang="en-US" sz="3200" dirty="0"/>
          </a:p>
        </p:txBody>
      </p:sp>
      <p:sp>
        <p:nvSpPr>
          <p:cNvPr id="4" name="Pergunta @c1u"/>
          <p:cNvSpPr/>
          <p:nvPr/>
        </p:nvSpPr>
        <p:spPr>
          <a:xfrm>
            <a:off x="640080" y="1645920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5" name="Num pergunta @c1u"/>
          <p:cNvSpPr txBox="1"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o pergunta @c1u"/>
          <p:cNvSpPr txBox="1"/>
          <p:nvPr/>
        </p:nvSpPr>
        <p:spPr>
          <a:xfrm>
            <a:off x="1600200" y="164592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 que foi mais difícil: falar, ouvir ou fechar o combinado?</a:t>
            </a:r>
            <a:endParaRPr lang="en-US" sz="1700" dirty="0"/>
          </a:p>
        </p:txBody>
      </p:sp>
      <p:sp>
        <p:nvSpPr>
          <p:cNvPr id="7" name="Pergunta @c2u"/>
          <p:cNvSpPr/>
          <p:nvPr/>
        </p:nvSpPr>
        <p:spPr>
          <a:xfrm>
            <a:off x="640080" y="2670048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8" name="Num pergunta @c2u"/>
          <p:cNvSpPr txBox="1"/>
          <p:nvPr/>
        </p:nvSpPr>
        <p:spPr>
          <a:xfrm>
            <a:off x="868680" y="2852928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o pergunta @c2u"/>
          <p:cNvSpPr txBox="1"/>
          <p:nvPr/>
        </p:nvSpPr>
        <p:spPr>
          <a:xfrm>
            <a:off x="1600200" y="2670048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Que frase funcionou melhor no seu trio?</a:t>
            </a:r>
            <a:endParaRPr lang="en-US" sz="1700" dirty="0"/>
          </a:p>
        </p:txBody>
      </p:sp>
      <p:sp>
        <p:nvSpPr>
          <p:cNvPr id="10" name="Pergunta @c3u"/>
          <p:cNvSpPr/>
          <p:nvPr/>
        </p:nvSpPr>
        <p:spPr>
          <a:xfrm>
            <a:off x="640080" y="3694176"/>
            <a:ext cx="10911535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sp>
        <p:nvSpPr>
          <p:cNvPr id="11" name="Num pergunta @c3u"/>
          <p:cNvSpPr txBox="1"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o pergunta @c3u"/>
          <p:cNvSpPr txBox="1"/>
          <p:nvPr/>
        </p:nvSpPr>
        <p:spPr>
          <a:xfrm>
            <a:off x="1600200" y="3694176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Que conversa você vai ter amanhã usando esse modelo?</a:t>
            </a:r>
            <a:endParaRPr lang="en-US" sz="1700" dirty="0"/>
          </a:p>
        </p:txBody>
      </p:sp>
      <p:sp>
        <p:nvSpPr>
          <p:cNvPr id="13" name="Conclusao @c4z"/>
          <p:cNvSpPr/>
          <p:nvPr/>
        </p:nvSpPr>
        <p:spPr>
          <a:xfrm>
            <a:off x="640080" y="4754880"/>
            <a:ext cx="10911535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pic>
        <p:nvPicPr>
          <p:cNvPr id="14" name="Icone conclusao @c4z" descr="id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92040"/>
            <a:ext cx="640080" cy="640080"/>
          </a:xfrm>
          <a:prstGeom prst="rect">
            <a:avLst/>
          </a:prstGeom>
        </p:spPr>
      </p:pic>
      <p:sp>
        <p:nvSpPr>
          <p:cNvPr id="15" name="Texto conclusao @c4z"/>
          <p:cNvSpPr txBox="1"/>
          <p:nvPr/>
        </p:nvSpPr>
        <p:spPr>
          <a:xfrm>
            <a:off x="1783080" y="4754880"/>
            <a:ext cx="9539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Conversa difícil fica mais fácil com roteiro: </a:t>
            </a:r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fato, impacto, ouvir e combinar.</a:t>
            </a:r>
            <a:endParaRPr lang="en-US" sz="1900" dirty="0"/>
          </a:p>
        </p:txBody>
      </p:sp>
      <p:sp>
        <p:nvSpPr>
          <p:cNvPr id="16" name="Botao menu #go:menu">
            <a:hlinkClick r:id="rIdGo1" action="ppaction://hlinksldjump"/>
          </p:cNvPr>
          <p:cNvSpPr txBox="1"/>
          <p:nvPr/>
        </p:nvSpPr>
        <p:spPr>
          <a:xfrm>
            <a:off x="6888175" y="5943600"/>
            <a:ext cx="196596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‹  Outra dinâmica</a:t>
            </a:r>
            <a:endParaRPr lang="en-US" sz="1200" dirty="0"/>
          </a:p>
        </p:txBody>
      </p:sp>
      <p:sp>
        <p:nvSpPr>
          <p:cNvPr id="17" name="Botao fechamento #go:fim">
            <a:hlinkClick r:id="rIdGo2" action="ppaction://hlinksldjump"/>
          </p:cNvPr>
          <p:cNvSpPr txBox="1"/>
          <p:nvPr/>
        </p:nvSpPr>
        <p:spPr>
          <a:xfrm>
            <a:off x="9037015" y="5943600"/>
            <a:ext cx="2514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Ir para o fechamento  ›</a:t>
            </a:r>
            <a:endParaRPr lang="en-US" sz="12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tulo"/>
          <p:cNvSpPr txBox="1"/>
          <p:nvPr/>
        </p:nvSpPr>
        <p:spPr>
          <a:xfrm>
            <a:off x="640080" y="4114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FECHAMENTO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Meus compromissos como líder</a:t>
            </a:r>
            <a:endParaRPr lang="en-US" sz="3200" dirty="0"/>
          </a:p>
        </p:txBody>
      </p:sp>
      <p:sp>
        <p:nvSpPr>
          <p:cNvPr id="4" name="Compromisso @a1u.0"/>
          <p:cNvSpPr/>
          <p:nvPr/>
        </p:nvSpPr>
        <p:spPr>
          <a:xfrm>
            <a:off x="640080" y="164592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5" name="Check compromisso @a1u.0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28800"/>
            <a:ext cx="475488" cy="475488"/>
          </a:xfrm>
          <a:prstGeom prst="rect">
            <a:avLst/>
          </a:prstGeom>
        </p:spPr>
      </p:pic>
      <p:sp>
        <p:nvSpPr>
          <p:cNvPr id="6" name="Texto compromisso @a1u.0"/>
          <p:cNvSpPr txBox="1"/>
          <p:nvPr/>
        </p:nvSpPr>
        <p:spPr>
          <a:xfrm>
            <a:off x="1508760" y="164592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Falo com firmeza e sem agressividade (CNV).</a:t>
            </a:r>
            <a:endParaRPr lang="en-US" sz="1600" dirty="0"/>
          </a:p>
        </p:txBody>
      </p:sp>
      <p:sp>
        <p:nvSpPr>
          <p:cNvPr id="7" name="Compromisso @a1u.1"/>
          <p:cNvSpPr/>
          <p:nvPr/>
        </p:nvSpPr>
        <p:spPr>
          <a:xfrm>
            <a:off x="640080" y="265176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8" name="Check compromisso @a1u.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34640"/>
            <a:ext cx="475488" cy="475488"/>
          </a:xfrm>
          <a:prstGeom prst="rect">
            <a:avLst/>
          </a:prstGeom>
        </p:spPr>
      </p:pic>
      <p:sp>
        <p:nvSpPr>
          <p:cNvPr id="9" name="Texto compromisso @a1u.1"/>
          <p:cNvSpPr txBox="1"/>
          <p:nvPr/>
        </p:nvSpPr>
        <p:spPr>
          <a:xfrm>
            <a:off x="1508760" y="265176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Toda saída passa pelo BC e vai para o livro.</a:t>
            </a:r>
            <a:endParaRPr lang="en-US" sz="1600" dirty="0"/>
          </a:p>
        </p:txBody>
      </p:sp>
      <p:sp>
        <p:nvSpPr>
          <p:cNvPr id="10" name="Compromisso @a1u.2"/>
          <p:cNvSpPr/>
          <p:nvPr/>
        </p:nvSpPr>
        <p:spPr>
          <a:xfrm>
            <a:off x="640080" y="365760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1" name="Check compromisso @a1u.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840480"/>
            <a:ext cx="475488" cy="475488"/>
          </a:xfrm>
          <a:prstGeom prst="rect">
            <a:avLst/>
          </a:prstGeom>
        </p:spPr>
      </p:pic>
      <p:sp>
        <p:nvSpPr>
          <p:cNvPr id="12" name="Texto compromisso @a1u.2"/>
          <p:cNvSpPr txBox="1"/>
          <p:nvPr/>
        </p:nvSpPr>
        <p:spPr>
          <a:xfrm>
            <a:off x="1508760" y="365760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Entrego EPI com registro e fiscalizo todo dia.</a:t>
            </a:r>
            <a:endParaRPr lang="en-US" sz="1600" dirty="0"/>
          </a:p>
        </p:txBody>
      </p:sp>
      <p:sp>
        <p:nvSpPr>
          <p:cNvPr id="13" name="Compromisso @a1u.3"/>
          <p:cNvSpPr/>
          <p:nvPr/>
        </p:nvSpPr>
        <p:spPr>
          <a:xfrm>
            <a:off x="640080" y="466344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4" name="Check compromisso @a1u.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846320"/>
            <a:ext cx="475488" cy="475488"/>
          </a:xfrm>
          <a:prstGeom prst="rect">
            <a:avLst/>
          </a:prstGeom>
        </p:spPr>
      </p:pic>
      <p:sp>
        <p:nvSpPr>
          <p:cNvPr id="15" name="Texto compromisso @a1u.3"/>
          <p:cNvSpPr txBox="1"/>
          <p:nvPr/>
        </p:nvSpPr>
        <p:spPr>
          <a:xfrm>
            <a:off x="1508760" y="466344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Medicamento só pelo BC, sempre registrado.</a:t>
            </a:r>
            <a:endParaRPr lang="en-US" sz="1600" dirty="0"/>
          </a:p>
        </p:txBody>
      </p:sp>
      <p:sp>
        <p:nvSpPr>
          <p:cNvPr id="16" name="Compromisso @a1u.4"/>
          <p:cNvSpPr/>
          <p:nvPr/>
        </p:nvSpPr>
        <p:spPr>
          <a:xfrm>
            <a:off x="6233008" y="164592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17" name="Check compromisso @a1u.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76" y="1828800"/>
            <a:ext cx="475488" cy="475488"/>
          </a:xfrm>
          <a:prstGeom prst="rect">
            <a:avLst/>
          </a:prstGeom>
        </p:spPr>
      </p:pic>
      <p:sp>
        <p:nvSpPr>
          <p:cNvPr id="18" name="Texto compromisso @a1u.4"/>
          <p:cNvSpPr txBox="1"/>
          <p:nvPr/>
        </p:nvSpPr>
        <p:spPr>
          <a:xfrm>
            <a:off x="7101688" y="164592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Faço o DDS e registro a presença.</a:t>
            </a:r>
            <a:endParaRPr lang="en-US" sz="1600" dirty="0"/>
          </a:p>
        </p:txBody>
      </p:sp>
      <p:sp>
        <p:nvSpPr>
          <p:cNvPr id="19" name="Compromisso @a1u.5"/>
          <p:cNvSpPr/>
          <p:nvPr/>
        </p:nvSpPr>
        <p:spPr>
          <a:xfrm>
            <a:off x="6233008" y="265176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0" name="Check compromisso @a1u.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176" y="2834640"/>
            <a:ext cx="475488" cy="475488"/>
          </a:xfrm>
          <a:prstGeom prst="rect">
            <a:avLst/>
          </a:prstGeom>
        </p:spPr>
      </p:pic>
      <p:sp>
        <p:nvSpPr>
          <p:cNvPr id="21" name="Texto compromisso @a1u.5"/>
          <p:cNvSpPr txBox="1"/>
          <p:nvPr/>
        </p:nvSpPr>
        <p:spPr>
          <a:xfrm>
            <a:off x="7101688" y="265176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Confiro e cobro o blue spot.</a:t>
            </a:r>
            <a:endParaRPr lang="en-US" sz="1600" dirty="0"/>
          </a:p>
        </p:txBody>
      </p:sp>
      <p:sp>
        <p:nvSpPr>
          <p:cNvPr id="22" name="Compromisso @a1u.6"/>
          <p:cNvSpPr/>
          <p:nvPr/>
        </p:nvSpPr>
        <p:spPr>
          <a:xfrm>
            <a:off x="6233008" y="365760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3" name="Check compromisso @a1u.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4176" y="3840480"/>
            <a:ext cx="475488" cy="475488"/>
          </a:xfrm>
          <a:prstGeom prst="rect">
            <a:avLst/>
          </a:prstGeom>
        </p:spPr>
      </p:pic>
      <p:sp>
        <p:nvSpPr>
          <p:cNvPr id="24" name="Texto compromisso @a1u.6"/>
          <p:cNvSpPr txBox="1"/>
          <p:nvPr/>
        </p:nvSpPr>
        <p:spPr>
          <a:xfrm>
            <a:off x="7101688" y="365760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Dou feedback toda semana, positivo e corretivo.</a:t>
            </a:r>
            <a:endParaRPr lang="en-US" sz="1600" dirty="0"/>
          </a:p>
        </p:txBody>
      </p:sp>
      <p:sp>
        <p:nvSpPr>
          <p:cNvPr id="25" name="Compromisso @a1u.7"/>
          <p:cNvSpPr/>
          <p:nvPr/>
        </p:nvSpPr>
        <p:spPr>
          <a:xfrm>
            <a:off x="6233008" y="4663440"/>
            <a:ext cx="5318608" cy="841248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  <a:effectLst>
            <a:outerShdw sx="100000" sy="100000" kx="0" ky="0" algn="bl" rotWithShape="0" blurRad="127000" dist="25400" dir="5400000">
              <a:srgbClr val="0B1A33">
                <a:alpha val="8000"/>
              </a:srgbClr>
            </a:outerShdw>
          </a:effectLst>
        </p:spPr>
      </p:sp>
      <p:pic>
        <p:nvPicPr>
          <p:cNvPr id="26" name="Check compromisso @a1u.7" descr="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4176" y="4846320"/>
            <a:ext cx="475488" cy="475488"/>
          </a:xfrm>
          <a:prstGeom prst="rect">
            <a:avLst/>
          </a:prstGeom>
        </p:spPr>
      </p:pic>
      <p:sp>
        <p:nvSpPr>
          <p:cNvPr id="27" name="Texto compromisso @a1u.7"/>
          <p:cNvSpPr txBox="1"/>
          <p:nvPr/>
        </p:nvSpPr>
        <p:spPr>
          <a:xfrm>
            <a:off x="7101688" y="4663440"/>
            <a:ext cx="4267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Fecho o ciclo: fala, repete, confirma.</a:t>
            </a:r>
            <a:endParaRPr 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verde"/>
          <p:cNvSpPr/>
          <p:nvPr/>
        </p:nvSpPr>
        <p:spPr>
          <a:xfrm>
            <a:off x="640080" y="566928"/>
            <a:ext cx="457200" cy="640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Marca amarela"/>
          <p:cNvSpPr/>
          <p:nvPr/>
        </p:nvSpPr>
        <p:spPr>
          <a:xfrm>
            <a:off x="640080" y="676656"/>
            <a:ext cx="457200" cy="640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Rotulo @a1f"/>
          <p:cNvSpPr txBox="1"/>
          <p:nvPr/>
        </p:nvSpPr>
        <p:spPr>
          <a:xfrm>
            <a:off x="128016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COMUNICAÇÃO QUE PROTEGE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8308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Obrigado!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chemeClr val="accent2"/>
                </a:solidFill>
              </a:rPr>
              <a:t>Perguntas?</a:t>
            </a:r>
            <a:endParaRPr lang="en-US" sz="5600" dirty="0"/>
          </a:p>
        </p:txBody>
      </p:sp>
      <p:sp>
        <p:nvSpPr>
          <p:cNvPr id="6" name="Subtitulo @a2u"/>
          <p:cNvSpPr txBox="1"/>
          <p:nvPr/>
        </p:nvSpPr>
        <p:spPr>
          <a:xfrm>
            <a:off x="640080" y="3931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O procedimento certo, dito do jeito certo, confirmado e registrado.</a:t>
            </a:r>
            <a:endParaRPr lang="en-US" sz="2000" dirty="0"/>
          </a:p>
        </p:txBody>
      </p:sp>
      <p:sp>
        <p:nvSpPr>
          <p:cNvPr id="7" name="Apresentador @a3f"/>
          <p:cNvSpPr txBox="1"/>
          <p:nvPr/>
        </p:nvSpPr>
        <p:spPr>
          <a:xfrm>
            <a:off x="640080" y="5623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Hércules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Administrador de Sistemas · Bartofil</a:t>
            </a:r>
            <a:endParaRPr lang="en-US" sz="1600" dirty="0"/>
          </a:p>
        </p:txBody>
      </p:sp>
      <p:pic>
        <p:nvPicPr>
          <p:cNvPr id="8" name="Ilustracao final @a1z" descr="/tmp/claude-0/-home-claude/5746e17e-ab87-5418-9566-46e1b5e96b03/scratchpad/pptx2/assets/hero-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Figura A — rodada 1 (sem perguntas)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Imprima e entregue, virada para baixo, a cada comunicador da rodada 1. Não mostre aos desenhistas.</a:t>
            </a:r>
            <a:endParaRPr lang="en-US" sz="1300" dirty="0"/>
          </a:p>
        </p:txBody>
      </p:sp>
      <p:pic>
        <p:nvPicPr>
          <p:cNvPr id="4" name="Figura impressa" descr="/tmp/claude-0/-home-claude/5746e17e-ab87-5418-9566-46e1b5e96b03/scratchpad/pptx2/assets/fig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17320"/>
            <a:ext cx="6583680" cy="4937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Figura B — rodada 2 (com perguntas)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Imprima e entregue aos novos comunicadores da rodada 2.</a:t>
            </a:r>
            <a:endParaRPr lang="en-US" sz="1300" dirty="0"/>
          </a:p>
        </p:txBody>
      </p:sp>
      <p:pic>
        <p:nvPicPr>
          <p:cNvPr id="4" name="Figura impressa" descr="/tmp/claude-0/-home-claude/5746e17e-ab87-5418-9566-46e1b5e96b03/scratchpad/pptx2/assets/fig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17320"/>
            <a:ext cx="6583680" cy="4937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Lista de presença — DDS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Data: ____/____/______     Turno: ________     Horário: ______     Tema: ____________________________________     Conduzido por: ____________________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1153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1554480"/>
                <a:gridCol w="2011680"/>
                <a:gridCol w="2590495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Nº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Nome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Matrícula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Função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Assinatura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C99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Opção 3 · Telefone sem fio — cartão da mensagem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Imprima e recorte na linha tracejada. O cartão de cima vai só para o primeiro da fila; o de baixo fica com você, para conferir no final.</a:t>
            </a:r>
            <a:endParaRPr lang="en-US" sz="1300" dirty="0"/>
          </a:p>
        </p:txBody>
      </p:sp>
      <p:sp>
        <p:nvSpPr>
          <p:cNvPr id="4" name="Cartao mensagem"/>
          <p:cNvSpPr/>
          <p:nvPr/>
        </p:nvSpPr>
        <p:spPr>
          <a:xfrm>
            <a:off x="640080" y="1508760"/>
            <a:ext cx="10911535" cy="2240280"/>
          </a:xfrm>
          <a:prstGeom prst="roundRect">
            <a:avLst>
              <a:gd name="adj" fmla="val 4898"/>
            </a:avLst>
          </a:prstGeom>
          <a:solidFill>
            <a:schemeClr val="accent2">
              <a:alpha val="2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691640"/>
            <a:ext cx="1018001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MENSAGEM · LEIA SEM MOSTRAR A NINGUÉM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600" b="1" i="1" dirty="0">
                <a:solidFill>
                  <a:schemeClr val="tx1"/>
                </a:solidFill>
              </a:rPr>
              <a:t>“O caminhão da doca 4 sai às 15h20 com 18 pallets. Os 2 pallets de bebida vão por último e precisam de filme duplo. Avise o conferente do turno B.”</a:t>
            </a:r>
            <a:endParaRPr lang="en-US" sz="1200" dirty="0"/>
          </a:p>
        </p:txBody>
      </p:sp>
      <p:sp>
        <p:nvSpPr>
          <p:cNvPr id="6" name="Linha de corte"/>
          <p:cNvSpPr/>
          <p:nvPr/>
        </p:nvSpPr>
        <p:spPr>
          <a:xfrm>
            <a:off x="640080" y="4069080"/>
            <a:ext cx="10911535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pic>
        <p:nvPicPr>
          <p:cNvPr id="7" name="Tesoura" descr="sciss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3904488"/>
            <a:ext cx="329184" cy="329184"/>
          </a:xfrm>
          <a:prstGeom prst="rect">
            <a:avLst/>
          </a:prstGeom>
        </p:spPr>
      </p:pic>
      <p:sp>
        <p:nvSpPr>
          <p:cNvPr id="8" name="Cartao conferencia"/>
          <p:cNvSpPr/>
          <p:nvPr/>
        </p:nvSpPr>
        <p:spPr>
          <a:xfrm>
            <a:off x="640080" y="4389120"/>
            <a:ext cx="10911535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accent5">
                <a:alpha val="20000"/>
              </a:scheme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457200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CONFERÊNCIA · O QUE CHEGOU CERTO NO FINAL DA FILA?</a:t>
            </a:r>
            <a:endParaRPr lang="en-US" sz="1200" dirty="0"/>
          </a:p>
        </p:txBody>
      </p:sp>
      <p:sp>
        <p:nvSpPr>
          <p:cNvPr id="10" name="Quadrado"/>
          <p:cNvSpPr/>
          <p:nvPr/>
        </p:nvSpPr>
        <p:spPr>
          <a:xfrm>
            <a:off x="1005840" y="5148072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17320" y="5074920"/>
            <a:ext cx="28904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Doca 4</a:t>
            </a:r>
            <a:endParaRPr lang="en-US" sz="1400" dirty="0"/>
          </a:p>
        </p:txBody>
      </p:sp>
      <p:sp>
        <p:nvSpPr>
          <p:cNvPr id="12" name="Quadrado"/>
          <p:cNvSpPr/>
          <p:nvPr/>
        </p:nvSpPr>
        <p:spPr>
          <a:xfrm>
            <a:off x="4399178" y="5148072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10658" y="5074920"/>
            <a:ext cx="28904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às 15h20</a:t>
            </a:r>
            <a:endParaRPr lang="en-US" sz="1400" dirty="0"/>
          </a:p>
        </p:txBody>
      </p:sp>
      <p:sp>
        <p:nvSpPr>
          <p:cNvPr id="14" name="Quadrado"/>
          <p:cNvSpPr/>
          <p:nvPr/>
        </p:nvSpPr>
        <p:spPr>
          <a:xfrm>
            <a:off x="7792517" y="5148072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03997" y="5074920"/>
            <a:ext cx="28904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18 pallets</a:t>
            </a:r>
            <a:endParaRPr lang="en-US" sz="1400" dirty="0"/>
          </a:p>
        </p:txBody>
      </p:sp>
      <p:sp>
        <p:nvSpPr>
          <p:cNvPr id="16" name="Quadrado"/>
          <p:cNvSpPr/>
          <p:nvPr/>
        </p:nvSpPr>
        <p:spPr>
          <a:xfrm>
            <a:off x="1005840" y="5715000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17320" y="5641848"/>
            <a:ext cx="28904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de bebida por último</a:t>
            </a:r>
            <a:endParaRPr lang="en-US" sz="1400" dirty="0"/>
          </a:p>
        </p:txBody>
      </p:sp>
      <p:sp>
        <p:nvSpPr>
          <p:cNvPr id="18" name="Quadrado"/>
          <p:cNvSpPr/>
          <p:nvPr/>
        </p:nvSpPr>
        <p:spPr>
          <a:xfrm>
            <a:off x="4399178" y="5715000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10658" y="5641848"/>
            <a:ext cx="28904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Filme duplo</a:t>
            </a:r>
            <a:endParaRPr lang="en-US" sz="1400" dirty="0"/>
          </a:p>
        </p:txBody>
      </p:sp>
      <p:sp>
        <p:nvSpPr>
          <p:cNvPr id="20" name="Quadrado"/>
          <p:cNvSpPr/>
          <p:nvPr/>
        </p:nvSpPr>
        <p:spPr>
          <a:xfrm>
            <a:off x="7792517" y="5715000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03997" y="5641848"/>
            <a:ext cx="28904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Avisar o conferente do turno B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Opção 4 · Treino em trios — cartões de caso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Imprima e recorte nas linhas tracejadas. Cada trio recebe um caso por rodada.</a:t>
            </a:r>
            <a:endParaRPr lang="en-US" sz="1300" dirty="0"/>
          </a:p>
        </p:txBody>
      </p:sp>
      <p:sp>
        <p:nvSpPr>
          <p:cNvPr id="4" name="Cartao caso"/>
          <p:cNvSpPr/>
          <p:nvPr/>
        </p:nvSpPr>
        <p:spPr>
          <a:xfrm>
            <a:off x="640080" y="1463040"/>
            <a:ext cx="5272888" cy="23317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CASO 1 · CORRETIVO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0312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Na separação, um operador passou no cruzamento sem reduzir e quase atingiu um pedestre.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918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Líder: fato → impacto → ouvir → pedido → combinado</a:t>
            </a:r>
            <a:endParaRPr lang="en-US" sz="1100" dirty="0"/>
          </a:p>
        </p:txBody>
      </p:sp>
      <p:sp>
        <p:nvSpPr>
          <p:cNvPr id="8" name="Cartao caso"/>
          <p:cNvSpPr/>
          <p:nvPr/>
        </p:nvSpPr>
        <p:spPr>
          <a:xfrm>
            <a:off x="6278728" y="1463040"/>
            <a:ext cx="5272888" cy="23317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98768" y="17373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CASO 2 · CORRETIVO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10312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Um colaborador chegou atrasado pela terceira vez na semana e perdeu o DDS.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98768" y="32918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Líder: fato → impacto → ouvir → pedido → combinado</a:t>
            </a:r>
            <a:endParaRPr lang="en-US" sz="1100" dirty="0"/>
          </a:p>
        </p:txBody>
      </p:sp>
      <p:sp>
        <p:nvSpPr>
          <p:cNvPr id="12" name="Cartao caso"/>
          <p:cNvSpPr/>
          <p:nvPr/>
        </p:nvSpPr>
        <p:spPr>
          <a:xfrm>
            <a:off x="640080" y="4069080"/>
            <a:ext cx="5272888" cy="23317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960120" y="434340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CASO 3 · CORRETIVO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0916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Um conferente liberou a carga sem registrar uma divergência de 2 volumes.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89788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Líder: fato → impacto → ouvir → pedido → combinado</a:t>
            </a:r>
            <a:endParaRPr lang="en-US" sz="1100" dirty="0"/>
          </a:p>
        </p:txBody>
      </p:sp>
      <p:sp>
        <p:nvSpPr>
          <p:cNvPr id="16" name="Cartao caso"/>
          <p:cNvSpPr/>
          <p:nvPr/>
        </p:nvSpPr>
        <p:spPr>
          <a:xfrm>
            <a:off x="6278728" y="4069080"/>
            <a:ext cx="5272888" cy="23317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598768" y="434340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CASO 4 · POSITIVO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4709160"/>
            <a:ext cx="4632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Um colaborador viu um pallet danificado, isolou a área e avisou o líder na hora.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589788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Líder: fato → impacto → reconhecimento → combinado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Opção 4 · Treino em trios — checklist do observador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Duas cópias por folha: imprima e recorte na linha tracejada do meio. Um checklist por trio.</a:t>
            </a:r>
            <a:endParaRPr lang="en-US" sz="1300" dirty="0"/>
          </a:p>
        </p:txBody>
      </p:sp>
      <p:sp>
        <p:nvSpPr>
          <p:cNvPr id="4" name="Linha de corte"/>
          <p:cNvSpPr/>
          <p:nvPr/>
        </p:nvSpPr>
        <p:spPr>
          <a:xfrm>
            <a:off x="6095848" y="1463040"/>
            <a:ext cx="0" cy="507492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509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CHECKLIST DO OBSERVADOR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38528"/>
            <a:ext cx="509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Rodada:   1   2   3   (circule)          Caso nº: ______</a:t>
            </a:r>
            <a:endParaRPr lang="en-US" sz="1200" dirty="0"/>
          </a:p>
        </p:txBody>
      </p:sp>
      <p:sp>
        <p:nvSpPr>
          <p:cNvPr id="7" name="Quadrado"/>
          <p:cNvSpPr/>
          <p:nvPr/>
        </p:nvSpPr>
        <p:spPr>
          <a:xfrm>
            <a:off x="640080" y="2487168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423160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Descreveu o fato, sem rotular a pessoa?</a:t>
            </a:r>
            <a:endParaRPr lang="en-US" sz="1300" dirty="0"/>
          </a:p>
        </p:txBody>
      </p:sp>
      <p:sp>
        <p:nvSpPr>
          <p:cNvPr id="9" name="Quadrado"/>
          <p:cNvSpPr/>
          <p:nvPr/>
        </p:nvSpPr>
        <p:spPr>
          <a:xfrm>
            <a:off x="640080" y="2980944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2916936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Explicou o impacto (equipe, segurança, cliente)?</a:t>
            </a:r>
            <a:endParaRPr lang="en-US" sz="1300" dirty="0"/>
          </a:p>
        </p:txBody>
      </p:sp>
      <p:sp>
        <p:nvSpPr>
          <p:cNvPr id="11" name="Quadrado"/>
          <p:cNvSpPr/>
          <p:nvPr/>
        </p:nvSpPr>
        <p:spPr>
          <a:xfrm>
            <a:off x="640080" y="3474720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3410712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Ouviu o outro lado antes de concluir?</a:t>
            </a:r>
            <a:endParaRPr lang="en-US" sz="1300" dirty="0"/>
          </a:p>
        </p:txBody>
      </p:sp>
      <p:sp>
        <p:nvSpPr>
          <p:cNvPr id="13" name="Quadrado"/>
          <p:cNvSpPr/>
          <p:nvPr/>
        </p:nvSpPr>
        <p:spPr>
          <a:xfrm>
            <a:off x="640080" y="3968496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904488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Manteve o tom de voz respeitoso?</a:t>
            </a:r>
            <a:endParaRPr lang="en-US" sz="1300" dirty="0"/>
          </a:p>
        </p:txBody>
      </p:sp>
      <p:sp>
        <p:nvSpPr>
          <p:cNvPr id="15" name="Quadrado"/>
          <p:cNvSpPr/>
          <p:nvPr/>
        </p:nvSpPr>
        <p:spPr>
          <a:xfrm>
            <a:off x="640080" y="4462272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398264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Fez um pedido claro, possível e com prazo?</a:t>
            </a:r>
            <a:endParaRPr lang="en-US" sz="1300" dirty="0"/>
          </a:p>
        </p:txBody>
      </p:sp>
      <p:sp>
        <p:nvSpPr>
          <p:cNvPr id="17" name="Quadrado"/>
          <p:cNvSpPr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4892040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Fechou com um combinado: o que muda e quando?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509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Retorno ao líder: 1 ponto forte e 1 ponto a melhorar</a:t>
            </a:r>
            <a:endParaRPr lang="en-US" sz="1200" dirty="0"/>
          </a:p>
        </p:txBody>
      </p:sp>
      <p:sp>
        <p:nvSpPr>
          <p:cNvPr id="20" name="Linha resposta"/>
          <p:cNvSpPr/>
          <p:nvPr/>
        </p:nvSpPr>
        <p:spPr>
          <a:xfrm>
            <a:off x="640080" y="5989320"/>
            <a:ext cx="50900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Linha resposta"/>
          <p:cNvSpPr/>
          <p:nvPr/>
        </p:nvSpPr>
        <p:spPr>
          <a:xfrm>
            <a:off x="640080" y="6400800"/>
            <a:ext cx="50900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61608" y="1554480"/>
            <a:ext cx="509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CHECKLIST DO OBSERVADOR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61608" y="1938528"/>
            <a:ext cx="509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Rodada:   1   2   3   (circule)          Caso nº: ______</a:t>
            </a:r>
            <a:endParaRPr lang="en-US" sz="1200" dirty="0"/>
          </a:p>
        </p:txBody>
      </p:sp>
      <p:sp>
        <p:nvSpPr>
          <p:cNvPr id="24" name="Quadrado"/>
          <p:cNvSpPr/>
          <p:nvPr/>
        </p:nvSpPr>
        <p:spPr>
          <a:xfrm>
            <a:off x="6461608" y="2487168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73088" y="2423160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Descreveu o fato, sem rotular a pessoa?</a:t>
            </a:r>
            <a:endParaRPr lang="en-US" sz="1300" dirty="0"/>
          </a:p>
        </p:txBody>
      </p:sp>
      <p:sp>
        <p:nvSpPr>
          <p:cNvPr id="26" name="Quadrado"/>
          <p:cNvSpPr/>
          <p:nvPr/>
        </p:nvSpPr>
        <p:spPr>
          <a:xfrm>
            <a:off x="6461608" y="2980944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73088" y="2916936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Explicou o impacto (equipe, segurança, cliente)?</a:t>
            </a:r>
            <a:endParaRPr lang="en-US" sz="1300" dirty="0"/>
          </a:p>
        </p:txBody>
      </p:sp>
      <p:sp>
        <p:nvSpPr>
          <p:cNvPr id="28" name="Quadrado"/>
          <p:cNvSpPr/>
          <p:nvPr/>
        </p:nvSpPr>
        <p:spPr>
          <a:xfrm>
            <a:off x="6461608" y="3474720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73088" y="3410712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Ouviu o outro lado antes de concluir?</a:t>
            </a:r>
            <a:endParaRPr lang="en-US" sz="1300" dirty="0"/>
          </a:p>
        </p:txBody>
      </p:sp>
      <p:sp>
        <p:nvSpPr>
          <p:cNvPr id="30" name="Quadrado"/>
          <p:cNvSpPr/>
          <p:nvPr/>
        </p:nvSpPr>
        <p:spPr>
          <a:xfrm>
            <a:off x="6461608" y="3968496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73088" y="3904488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Manteve o tom de voz respeitoso?</a:t>
            </a:r>
            <a:endParaRPr lang="en-US" sz="1300" dirty="0"/>
          </a:p>
        </p:txBody>
      </p:sp>
      <p:sp>
        <p:nvSpPr>
          <p:cNvPr id="32" name="Quadrado"/>
          <p:cNvSpPr/>
          <p:nvPr/>
        </p:nvSpPr>
        <p:spPr>
          <a:xfrm>
            <a:off x="6461608" y="4462272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73088" y="4398264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Fez um pedido claro, possível e com prazo?</a:t>
            </a:r>
            <a:endParaRPr lang="en-US" sz="1300" dirty="0"/>
          </a:p>
        </p:txBody>
      </p:sp>
      <p:sp>
        <p:nvSpPr>
          <p:cNvPr id="34" name="Quadrado"/>
          <p:cNvSpPr/>
          <p:nvPr/>
        </p:nvSpPr>
        <p:spPr>
          <a:xfrm>
            <a:off x="6461608" y="4956048"/>
            <a:ext cx="274320" cy="274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73088" y="4892040"/>
            <a:ext cx="467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Fechou com um combinado: o que muda e quando?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461608" y="5486400"/>
            <a:ext cx="509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Retorno ao líder: 1 ponto forte e 1 ponto a melhorar</a:t>
            </a:r>
            <a:endParaRPr lang="en-US" sz="1200" dirty="0"/>
          </a:p>
        </p:txBody>
      </p:sp>
      <p:sp>
        <p:nvSpPr>
          <p:cNvPr id="37" name="Linha resposta"/>
          <p:cNvSpPr/>
          <p:nvPr/>
        </p:nvSpPr>
        <p:spPr>
          <a:xfrm>
            <a:off x="6461608" y="5989320"/>
            <a:ext cx="50900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Linha resposta"/>
          <p:cNvSpPr/>
          <p:nvPr/>
        </p:nvSpPr>
        <p:spPr>
          <a:xfrm>
            <a:off x="6461608" y="6400800"/>
            <a:ext cx="50900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Referências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CNV: Marshall B. Rosenberg, Comunicação Não Violenta.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NR-1 (gestão de riscos ocupacionais, incluindo psicossociais; item 1.4.1 — informar os trabalhadores sobre riscos e medidas de prevenção). Fiscalização dos fatores psicossociais desde 26/05/2026.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NR-6 (EPI), itens 6.5.1 (obrigações da organização) e 6.6.1 (obrigações do trabalhador).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CLT, art. 158, parágrafo único (recusa injustificada ao uso de EPI é ato faltoso).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Lei 8.213/1991, art. 22 (Comunicação de Acidente de Trabalho — CAT).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PMI, Pulse of the Profession: The Essential Role of Communications (2013).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Grammarly e The Harris Poll, The State of Business Communication (2022).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AHRQ, TeamSTEPPS — Check-Back (comunicação em ciclo fechado).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Center for Creative Leadership — modelo SBI (Situation–Behavior–Impact).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Raymond West, Enhancing Workplace Safety with Blue Safety Lights for Forklifts (2024).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Vídeo “Comunicação é tudo!”: Geyza Dourado (@geyza.dourado).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Bartofil Lideranca">
  <a:themeElements>
    <a:clrScheme name="Bartofil Lideranca">
      <a:dk1>
        <a:srgbClr val="0B1A33"/>
      </a:dk1>
      <a:lt1>
        <a:srgbClr val="FCFDFE"/>
      </a:lt1>
      <a:dk2>
        <a:srgbClr val="0F3B82"/>
      </a:dk2>
      <a:lt2>
        <a:srgbClr val="F3F6FA"/>
      </a:lt2>
      <a:accent1>
        <a:srgbClr val="1A55C4"/>
      </a:accent1>
      <a:accent2>
        <a:srgbClr val="FFC72C"/>
      </a:accent2>
      <a:accent3>
        <a:srgbClr val="1F9D57"/>
      </a:accent3>
      <a:accent4>
        <a:srgbClr val="0B1324"/>
      </a:accent4>
      <a:accent5>
        <a:srgbClr val="45526A"/>
      </a:accent5>
      <a:accent6>
        <a:srgbClr val="B5C1D6"/>
      </a:accent6>
      <a:hlink>
        <a:srgbClr val="1A55C4"/>
      </a:hlink>
      <a:folHlink>
        <a:srgbClr val="45526A"/>
      </a:folHlink>
    </a:clrScheme>
    <a:fontScheme name="Bartofil Lideranc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Bartofil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Comunicação que protege</dc:title>
  <dc:subject>Treinamento de liderança — CD Bartofil</dc:subject>
  <dc:creator>Hércules</dc:creator>
  <cp:lastModifiedBy>Hércules</cp:lastModifiedBy>
  <cp:revision>1</cp:revision>
  <dcterms:created xsi:type="dcterms:W3CDTF">2026-10-06T16:58:43Z</dcterms:created>
  <dcterms:modified xsi:type="dcterms:W3CDTF">2026-10-06T16:58:43Z</dcterms:modified>
</cp:coreProperties>
</file>