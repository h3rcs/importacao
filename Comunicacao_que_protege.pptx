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caed4e0-dd24-56a9-fe0a-657e0ef30ba1}">
          <p14:sldIdLst>
            <p14:sldId id="256"/>
          </p14:sldIdLst>
        </p14:section>
        <p14:section name="Parte 1 · Procedimentos" id="{668b4f6c-c4d8-143c-4ce8-102ba79977a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arte 2 · Comunicação e feedback" id="{4127bb8c-18f8-fd13-6941-d236f28a3e96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arte 3 · Desafio" id="{30e28242-29fd-dff7-b834-0b4e3f7c7214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Fechamento" id="{686423e1-2b5e-5c32-9aba-9a3cb6a02e15}">
          <p14:sldIdLst>
            <p14:sldId id="286"/>
            <p14:sldId id="287"/>
          </p14:sldIdLst>
        </p14:section>
        <p14:section name="Apêndice (oculto)" id="{e1ccb7e6-7869-6bf7-ce3f-01a783ee4086}">
          <p14:sldIdLst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[Entre, pare no centro e olhe para a sala antes de falar.]
Bom dia a todos.
Hoje a conversa é com quem segura o turno na mão: vocês, líderes e encarregados.
O tema é comunicação — mas não a comunicação de livro. É a comunicação que protege gente: na saída de um colaborador, na entrega de um EPI, no DDS, no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parte: procedimentos que protegem.
Repare que cada um deles depende de uma coisa só para funcionar: o líder comunicar bem.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Começo pela base de tudo: a CNV, comunicação não violenta.
CNV não é falar baixinho nem passar a mão na cabeça. É ser firme sem ser agressivo: falar do fato e da necessidade, e não atacar a pessoa.
Por que isso importa para o líder? Porque corrige sem humilhar, reduz conflito e retrabalho e aumenta a confiança da equipe em quem lidera.
E tem um motivo a mais, bem atual: desde 26 de maio de 2026, a fiscalização da NR-1 cobra que as empresas façam a gestão dos riscos psicossociais. O jeito como o líder fala com a equipe faz parte desse ambiente de trabalho.
O método foi criado pelo psicólogo Marshall Rosenberg e tem quatro passos. Vamos a 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[clique] Passo 1 — observação. Eu digo o que vi, sem julgar. "Hoje, às 10h, vi que…" é diferente de "você é descuidado".
[clique] Passo 2 — sentimento. Eu digo como aquilo me afeta: "fico preocupado". Isso humaniza a conversa.
[clique] Passo 3 — necessidade. O que está em jogo: "porque preciso que todo mundo volte para casa inteiro".
[clique] Passo 4 — pedido. Uma ação clara, possível e com prazo: "você pode colocar a luva agora?". Pedido não é ameaça.
Juntando os quatro, a cobrança continua firme — só que respeitosa. Vamos ver um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Olhem a primeira frase, do lado esquerdo. Quem aqui já ouviu — ou já falou — algo parecido?
[pausa]
Ela rotula a pessoa ("você nunca"), ameaça e faz o colaborador se defender. Ele vai colocar a luva enquanto você estiver olhando.
[clique] Agora a mesma cobrança com CNV: observação, sentimento, necessidade e pedido. Leiam comigo.
[clique] E atenção: CNV não tira a firmeza. Se o comportamento se repetir, a medida disciplinar acontece — só que com respeito.
Pergunta rápida para o grupo: qual das duas versões vocês acham que muda o comportamento de verdade?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tema: saída de colaboradores durante o turno — por mal-estar, acidente ou motivo pessoal.
O caminho certo tem seis etapas:
1. O colaborador avisa o líder.
2. O líder aciona o BC de plantão — em caso de saúde ou acidente, o bombeiro civil é acionado sempre.
3. O BC avalia, faz o primeiro atendimento e decide o encaminhamento.
4. A saída é registrada no livro antes de a pessoa sair.
5. Encaminhamento: casa, UPA ou hospital — e, se a pessoa não estiver bem, ela não sai sozinha.
6. RH e SESMT ficam sabendo. Se foi acidente, a CAT precisa ser aberta.
A regra de ouro está aqui embaixo: nunca libere "de boca". Sem BC e sem livro, essa saída não aconteceu oficialmente — e quem fica exposto é o colaborador, o líder e 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 que não está no livro, não aconteceu." Essa frase vale para auditoria, para fiscalização e para processo trabalhista.
O registro precisa ter: data e hora, nome e matrícula, setor e turno, o motivo, quem atendeu e o que foi feito, quem autorizou, o encaminhamento e as assinaturas do líder e do BC.
Atenção especial ao acidente de trabalho: pela Lei 8.213, artigo 22, a empresa deve comunicar o acidente à Previdência — a CAT — até o primeiro dia útil seguinte; em caso de morte, imediatamente. Por isso o RH e o SESMT precisam saber no mesmo turno.
E por que tanto cuidado? Porque o registro protege o colaborador, protege vocês e a empresa — e permite investigar a causa para não repetir.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Terceiro tema: EPI.
Os EPIs de cada função seguem a avaliação de riscos — capacete, óculos, protetor auricular, luvas, calçado, colete, conforme o caso.
A NR-6 é clara sobre as obrigações. A empresa — e quem representa a empresa no turno é o líder — deve: fornecer de graça o EPI adequado ao risco, orientar e treinar, registrar a entrega na ficha, no livro ou no sistema, exigir o uso e substituir quando danificar ou sumir.
O colaborador também tem deveres: usar o EPI, usar só para a finalidade, guardar e conservar, avisar quando danificar ou perder e cumprir as orientações.
E um alerta prático: EPI entregue sem assinatura na ficha é EPI que, no papel, nunca foi entregue.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Entregar é metade do trabalho. A outra metade é fiscalizar — e fiscalizar é rotina, não perseguição.
Três momentos para olhar: no início do turno, durante o DDS; durante a operação, com rondas nos pontos de maior risco; e na troca de atividade, porque tarefa nova pode exigir EPI diferente.
[clique] Viu alguém sem EPI? Aja na hora: pare a atividade com respeito — usando a CNV —, corrija e oriente, registre a orientação e, se houver reincidência, aplique a medida disciplinar.
[clique] Isso tem base legal: pela CLT, artigo 158, a recusa injustificada ao uso do EPI é ato faltoso do empregado.
[clique] E guardem esta frase: quem vê e não corrige, autoriza.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Quarto tema: entrega de medicamentos. Aqui o cuidado é redobrado, porque um remédio errado pode causar uma reação grave.
As regras:
— Quem entrega é o BC de plantão, ou quem o SESMT definir.
— Antes, perguntar sobre alergias e outros remédios que a pessoa está tomando.
— Registrar sempre: nome, matrícula, horário, queixa, remédio e dose.
— Queixa que se repete ou sintoma forte não se resolve com "mais um comprimido": encaminha para atendimento médico.
E o que não fazer:
— O líder não entrega remédio por conta própria, nem aquele "da bolsa", por melhor que seja a intenção.
— Nada de remédio controlado ou que exige receita.
Em caso de dúvida, sigam sempre o procedimento do SESMT e do médico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Quinto tema: DDS — Diálogo Diário de Segurança. É uma conversa curta, no início do turno, sobre um risco real da nossa operação.
Dez minutos bem usados, neste roteiro: 1 minuto de abertura e presença; 3 minutos para o tema do dia; 2 para um exemplo real do CD; 2 para perguntas da equipe; e 2 para fechar com um compromisso do dia.
E o registro: lista de presença com data, turno, horário, tema, quem conduziu e, de cada participante, nome, matrícula e assinatura. Tem um modelo pronto no apêndice desta apresentação.
Por que a lista importa? A NR-1 exige que a empresa informe os trabalhadores sobre os riscos e as medidas de prevenção. A lista de presença é a prova de que isso aconteceu. DDS sem lista, no papel, não existiu.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Sexto tema: o blue spot, nas transpaleteiras e nos jets.
É uma luz que projeta um ponto azul no piso, de três a seis metros à frente ou atrás da máquina.
[A luz "acende" na imagem automaticamente.]
Por que ela funciona? Porque no barulho do CD o pedestre nem sempre ouve a máquina — mas ele vê a luz no chão antes. E a luz mostra a direção de onde a máquina vem, o que é essencial nos equipamentos elétricos, que são silenciosos.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blue spot só funciona se todo mundo fizer a sua parte.
Operador: confere o blue spot no checklist pré-uso, nunca desliga nem desvia a luz, avisa o líder na hora se houver defeito e reduz e buzina nos cruzamentos.
Pedestre: viu a luz azul, para, olha e espera; faz contato visual com o operador; nunca atravessa na frente da máquina; e usa sempre a faixa.
Líder: cobra o checklist no início do turno, tira de uso o equipamento com defeito conforme a nossa regra interna, reforça o tema no DDS e dá o exemplo na faixa.
Resumo para a equipe: luz azul no chão é máquina chegando. Todo mundo para.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[Agradeça a quem apresentou a Parte 1.]
Agora a gente vai falar de comunicação e feedback.
Tudo o que foi apresentado até aqui (a CNV, o livro de saída, a entrega de EPI, o DDS, o blue spot) depende de uma coisa só: a mensagem chegar do jeito certo, na pessoa certa, e ser entendida.
O procedimento pode estar perfeito no papel. Se a comunicação falhar, ele falha 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 quadros aparecem sozinhos, um depois do outro.]
A palavra comunicar vem do latim communicare, que quer dizer partilhar, tornar comum. Ou seja: comunicar não é só falar. É fazer uma ideia que está na minha cabeça virar uma ideia comum, minha e sua.
Toda comunicação tem estas peças: o emissor, que é quem fala ou escreve; a mensagem, que é a ideia; o canal, que pode ser a fala, o rádio, o e-mail ou o WhatsApp; e o receptor, que é quem precisa entender.
E tem a peça que a gente mais esquece: o retorno. É quando o receptor mostra o que entendeu. Sem esse retorno, a gente só acha que se comunicou.
No meio disso tudo tem o ruído: o barulho do CD, a pressa, a sigla que o outro não conhece, aquilo que a gente supõe que ele já sabe.
[pausa] Guardem esta frase: só existe comunicação quando o outro entende e age como combinado. Quem diz se a comunicação aconteceu não é quem fala. É quem recebe.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comunicar mal custa caro.
O PMI, que é a maior referência mundial em gestão de projetos, mostrou que 56% do dinheiro em risco nos projetos está ligado à comunicação ineficaz. Mais da metade.
Uma pesquisa de 2022, feita nos Estados Unidos, estimou que as equipes perdem em média sete horas e meia por semana com comunicação ruim. É quase um dia inteiro de trabalho, toda semana.
[pausa] Aqui no CD esse custo tem nome: retrabalho, atraso, avaria e risco de acidente.
Quem aqui já viu um pedido separado errado porque alguém entendeu outra coisa? [Deixe levantarem a mão.]
[Fontes, se perguntarem: PMI, Pulse of the Profession, 2013; Grammarly e The Harris Poll, 2022.]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vamos ver um caso real, de menos de um minuto. Enquanto vocês assistem, pensem numa pergunta: o que faltou nessa comunicação?
[Clique em cima do vídeo para ele tocar. O som já está no arquivo e ele para sozinho no final.]
[Depois do vídeo:] "Cadê a porta da cliente?" E aí, o que faltou? [Ouça duas ou três respostas.]
[clique] Normalmente faltam três coisas: instrução clara, confirmação do entendimento e registro do combinado.
[clique] E reparem: quase nunca é má-fé. Alguém pede uma coisa, o outro entende outra, e ninguém confere antes de agir. O prejuízo só aparece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solução é simples, e é usada onde um erro pode custar vidas: em hospitais e na aviação. Chama-se comunicação em ciclo fechado.
Comparem com o que a gente costuma ouvir no turno: "Vê aquele pedido lá pra mim." Que pedido? Até quando?
[clique] Primeiro passo: quem pede fala de forma objetiva. "Separe o pedido 4521 até as 14h. O caminhão sai às 15h."
[clique] Segundo passo: quem recebe repete com as próprias palavras. "Pedido 4521 até as 14h. Se faltar item, te aviso na hora."
[clique] Terceiro passo: quem pediu confirma. "Isso. Combinado."
Leva cinco segundos. [pausa] Cinco segundos de confirmação evitam horas de retrabalho.
A partir de hoje, peçam para a equipe repetir o que entendeu. E façam o mesmo quando vocês receberem uma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 cartões aparecem sozinhos.]
Agora, feedback. Muita gente ouve essa palavra e já pensa em bronca. Feedback não é bronca: é ferramenta de liderança. É o que faz a pessoa saber se está no caminho certo.
São seis princípios:
1. Frequente: não esperem o problema crescer.
2. Positivo também: reconheçam o que deu certo, de preferência na frente da equipe.
3. Corretivo em particular: ninguém aprende sendo exposto na frente dos colegas.
4. Específico: fato, dia e lugar. Nada de "você sempre" ou "você nunca".
5. Ouçam o outro lado: perguntem o que aconteceu antes de concluir.
6. Fechem com um combinado: o que muda e a partir de quando.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não se perder na hora, usem um modelo simples: SCI. Situação, comportamento e impacto. E no fim, o combinado.
[clique] Um exemplo de feedback positivo: "Ontem, no fechamento do turno" (essa é a situação) "você deixou a doca 3 organizada e sinalizada" (o comportamento). "O turno seguinte começou sem atraso e sem risco de tropeço" (o impacto). E o combinado: "Quero isso como padrão. Pode mostrar para a equipe como você fez?"
[clique] Agora um corretivo: "Hoje, às 10h, na separação, vi você operando a transpaleteira sem o calçado de segurança. Se um pallet cair, o pé fica exposto, e eu preciso de você inteiro. O que aconteceu?" [pausa] Ouça a resposta. E feche: "A partir de agora, só opera de calçado. Combinado?"
Reparem: nos dois casos tem fato e efeito, e nenhum ataque à pessoa. E reparem na pergunta "o que aconteceu?": é ela que abre espaço para ouvir. Isso é a CNV na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eu quero ouvir vocês. E podem ser sinceros, isso aqui não é cobrança: por que o DDS não está acontecendo no turno de vocês?
[Ouça o grupo. Repita em voz alta cada motivo que falarem, para todos ouvirem.]
[clique] Vamos comparar com os motivos que mais aparecem: "não dá tempo", por causa da pressão da produção; falta de preparo, ninguém sabe o tema do dia; a ideia de que é só burocracia; quando o líder falta, ninguém assume; o turno começa corrido; e a lista de presença nunca está à mão.
[pausa] Qual desses pesa mais aqui no nosso CD?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 itens aparecem sozinhos.]
E qual é o preço de não fazer o DDS?
Mais acidentes e quase-acidentes, porque os riscos do dia passam sem ninguém lembrar. Equipe desinformada: muda um processo, aparece um risco novo, e a notícia não chega a todos. Sem prova de orientação: numa fiscalização, numa auditoria ou num processo, o que vale é o registro. A cultura de que "segurança é só papel", e o mau hábito vira regra. E o líder perde o melhor momento do dia para alinhar a equipe.
[clique] [pausa] O DDS que não acontece hoje pode virar o acidente que ninguém consegue explicar amanhã.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 cartões aparecem sozinhos.]
Então, como a gente destrava o DDS a partir de amanhã? Cinco propostas:
1. Horário fixo: os dez primeiros minutos do turno, sem exceção.
2. Banco de temas: um tema por dia, preparado na véspera. EPI, blue spot, empilhamento, ergonomia, o que aconteceu ontem.
3. Rodízio: cada dia um colaborador conduz junto com o líder. Quando a equipe participa, o DDS deixa de ser palestra.
4. Lista à mão: impressa, na prancheta, junto com o tema do dia.
5. Gestão presente: quem lidera participa, cobra e dá o exemplo.
[pausa] A proposta é uma só: DDS feito e registrado em todos os turnos. Posso contar com vocês? [Espere a resposta da turma.]
FECHAMENTO DA PARTE 2
Para fechar esta parte, três ideias para levar daqui:
1. Só existe comunicação quando o outro entende e age como combinado.
2. Fala, repete, confirma.
3. Feedback é frequente, específico e termina com um combinado.
[pausa] E agora chegou a hora de vocês colocarem isso em prática.
[Não adiante o que vem a seguir: é surpresa. Avance para o próximo slide.]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[Surpresa: não explique ainda o objetivo do desafio.]
Chegou a hora de colocar tudo isso em prática. Agora é um desafio em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Formem equipes de 4 ou 5 pessoas.
Cada equipe escolhe um líder e um conferente. Os outros são montadores.
Cada equipe vai montar uma caixa. Quem aprova ou reprova a caixa é o cliente: eu.
[Entregue uma caixa desmontada para cada equipe.]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[Antes de começar: chame só os líderes, longe das equipes, e passe a instrução de montagem para eles. É aqui que o erro é induzido: instrução rápida, dita uma vez só, incompleta, e sem mostrar a caixa montada. Não conte isso para a turma.]
Rodada 1. As regras: só o líder recebe a instrução. Ele explica só falando: não mostra e não toca na caixa. E a equipe não pode fazer perguntas.
Valendo!
[Se alguém perguntar algo, responda só: "Sigam a instrução do líder."]
[No fim, confira cada caixa com a caixa modelo e diga quantas foram aprovadas.]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Conseguiram montar? O que faltou? Quem ficou com dúvida e não pôde perguntar?
[Ouça duas ou três respostas.]
[clique] A instrução estava incompleta: faltavam passos e detalhes.
[clique] Só o líder sabia o que fazer: a informação ficou com uma pessoa.
[clique] Ninguém podia perguntar: quem tinha dúvida ficou com ela.
[clique] E ninguém tinha um modelo para comparar, nem o conferente.
[clique] A equipe não falhou sozinha: a informação chegou errada e não havia como confirmar.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Agora, a segunda chance.
[Mostre a caixa montada de referência e passe a instrução completa para todos, passo a passo.]
As regras: todos veem a instrução e a caixa de referência. Perguntem! Quem recebe a instrução repete o que entendeu. E o conferente confere a caixa antes de entregar.
Fala, repete, confirma. Valendo!
[No fim, confira as caixas de novo e compare com a rodada 1.]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equipe, mesma caixa. O que mudou?
[Diga quantas caixas foram aprovadas na rodada 1 e quantas na rodada 2.]
Na rodada 1: instrução incompleta, só o líder sabia, ninguém podia perguntar e não havia modelo para comparar.
[clique] Na rodada 2: instrução completa, todos viam a mesma informação, teve pergunta e confirmação, e uma caixa de referência para conferir.
[clique] Mesmas pessoas, mesmo material. Comunicação diferente, resultado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no nosso turno? Onde a gente entrega uma instrução incompleta?
[Leia cada linha e peça um exemplo real do CD.]
A instrução incompleta é o procedimento desatualizado ou passado pela metade. O "só o líder sabia" é a informação que fica com uma pessoa, na passagem de turno ou no rádio. O "proibido perguntar" é a equipe com medo de perguntar: por isso a CNV. O "sem modelo para comparar" é fiscalizar EPI, blue spot e livro sem critério claro. E a segunda chance, com a instrução certa, é o DDS, o feedback e o ciclo fechado.
Boa comunicação é informação certa, para todos, com espaço para perguntar.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oito compromissos de quem lidera. Leiam comigo:
Falo com firmeza e sem agressividade. Toda saída passa pelo BC e vai para o livro. Entrego EPI com registro e fiscalizo todo dia. Medicamento só pelo BC, sempre registrado. Faço o DDS e registro a presença. Confiro e cobro o blue spot. Dou feedback toda semana. E fecho o ciclo: fala, repete, confirma.
Se cada um de nós cumprir estes oito, o turno fica mais seguro — e a equipe sente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Comunicação que protege é isso: o procedimento certo, dito do jeito certo, confirmado e registrado.
Muito obrigado. Fico à disposição para perguntas, dúvidas e sugestões.
[Abra para perguntas.]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(slide oculto). Modelo de lista de presença do DDS para imprimir.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(slide oculto). Referências usadas na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IVISOR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PALCO_P3-image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83080"/>
            <a:ext cx="60350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Título do slide</a:t>
            </a:r>
            <a:endParaRPr lang="en-US" sz="5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Título do slide</a:t>
            </a: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64008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Comunicação que protege  ·  CD Bartofil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Título do slide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4008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Comunicação que protege  ·  CD Bartofil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_P1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Título do slide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4008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Comunicação que protege  ·  CD Bartofil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460943" y="384048"/>
            <a:ext cx="15087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bg1"/>
                </a:solidFill>
              </a:rPr>
              <a:t>1  PROCEDIMENTOS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42855" y="384048"/>
            <a:ext cx="1508760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10000"/>
            </a:schemeClr>
          </a:solidFill>
          <a:ln w="6350">
            <a:solidFill>
              <a:schemeClr val="accent5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accent5"/>
                </a:solidFill>
              </a:rPr>
              <a:t>2  COMUNICAÇÃO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_P2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Título do slide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4008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Comunicação que protege  ·  CD Bartofil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460943" y="384048"/>
            <a:ext cx="1508760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10000"/>
            </a:schemeClr>
          </a:solidFill>
          <a:ln w="6350">
            <a:solidFill>
              <a:schemeClr val="accent5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accent5"/>
                </a:solidFill>
              </a:rPr>
              <a:t>1  PROCEDIMENTOS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42855" y="384048"/>
            <a:ext cx="15087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bg1"/>
                </a:solidFill>
              </a:rPr>
              <a:t>2  COMUNICAÇÃO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_P3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Título do slide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4008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Comunicação que protege  ·  CD Bartofil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879031" y="384048"/>
            <a:ext cx="1508760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10000"/>
            </a:schemeClr>
          </a:solidFill>
          <a:ln w="6350">
            <a:solidFill>
              <a:schemeClr val="accent5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accent5"/>
                </a:solidFill>
              </a:rPr>
              <a:t>1  PROCEDIMENTOS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460943" y="384048"/>
            <a:ext cx="1508760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10000"/>
            </a:schemeClr>
          </a:solidFill>
          <a:ln w="6350">
            <a:solidFill>
              <a:schemeClr val="accent5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accent5"/>
                </a:solidFill>
              </a:rPr>
              <a:t>2  COMUNICAÇÃO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042855" y="384048"/>
            <a:ext cx="15087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bg1"/>
                </a:solidFill>
              </a:rPr>
              <a:t>3  DESAFIO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LCO_P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Título do slide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4008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Comunicação que protege  ·  CD Bartofil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879031" y="384048"/>
            <a:ext cx="1508760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accent6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accent6"/>
                </a:solidFill>
              </a:rPr>
              <a:t>1  PROCEDIMENTOS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460943" y="384048"/>
            <a:ext cx="1508760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accent6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accent6"/>
                </a:solidFill>
              </a:rPr>
              <a:t>2  COMUNICAÇÃO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042855" y="384048"/>
            <a:ext cx="15087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tx1"/>
                </a:solidFill>
              </a:rPr>
              <a:t>3  DESAFIO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ENDIC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Título do slide</a:t>
            </a: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image" Target="../media/image-7-2.png"/><Relationship Id="rId9" Type="http://schemas.openxmlformats.org/officeDocument/2006/relationships/image" Target="../media/image-7-2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image" Target="../media/image-10-5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7-1.mp4"/><Relationship Id="rId2" Type="http://schemas.microsoft.com/office/2007/relationships/media" Target="../media/media-17-1.mp4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1.png"/><Relationship Id="rId3" Type="http://schemas.openxmlformats.org/officeDocument/2006/relationships/image" Target="../media/image-29-1.png"/><Relationship Id="rId4" Type="http://schemas.openxmlformats.org/officeDocument/2006/relationships/image" Target="../media/image-29-1.png"/><Relationship Id="rId5" Type="http://schemas.openxmlformats.org/officeDocument/2006/relationships/image" Target="../media/image-29-5.png"/><Relationship Id="rId6" Type="http://schemas.openxmlformats.org/officeDocument/2006/relationships/image" Target="../media/image-29-5.png"/><Relationship Id="rId7" Type="http://schemas.openxmlformats.org/officeDocument/2006/relationships/image" Target="../media/image-29-5.png"/><Relationship Id="rId8" Type="http://schemas.openxmlformats.org/officeDocument/2006/relationships/image" Target="../media/image-29-5.pn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1.png"/><Relationship Id="rId3" Type="http://schemas.openxmlformats.org/officeDocument/2006/relationships/image" Target="../media/image-31-1.png"/><Relationship Id="rId4" Type="http://schemas.openxmlformats.org/officeDocument/2006/relationships/image" Target="../media/image-31-1.png"/><Relationship Id="rId5" Type="http://schemas.openxmlformats.org/officeDocument/2006/relationships/image" Target="../media/image-31-1.png"/><Relationship Id="rId6" Type="http://schemas.openxmlformats.org/officeDocument/2006/relationships/image" Target="../media/image-31-1.png"/><Relationship Id="rId7" Type="http://schemas.openxmlformats.org/officeDocument/2006/relationships/image" Target="../media/image-31-1.png"/><Relationship Id="rId8" Type="http://schemas.openxmlformats.org/officeDocument/2006/relationships/image" Target="../media/image-31-1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verde"/>
          <p:cNvSpPr/>
          <p:nvPr/>
        </p:nvSpPr>
        <p:spPr>
          <a:xfrm>
            <a:off x="640080" y="566928"/>
            <a:ext cx="457200" cy="640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Marca amarela"/>
          <p:cNvSpPr/>
          <p:nvPr/>
        </p:nvSpPr>
        <p:spPr>
          <a:xfrm>
            <a:off x="640080" y="676656"/>
            <a:ext cx="457200" cy="640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Rotulo @a1f"/>
          <p:cNvSpPr txBox="1"/>
          <p:nvPr/>
        </p:nvSpPr>
        <p:spPr>
          <a:xfrm>
            <a:off x="128016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TREINAMENTO DE LIDERANÇA · CD BARTOFIL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78308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Comunicação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chemeClr val="accent2"/>
                </a:solidFill>
              </a:rPr>
              <a:t>que protege</a:t>
            </a:r>
            <a:endParaRPr lang="en-US" sz="5600" dirty="0"/>
          </a:p>
        </p:txBody>
      </p:sp>
      <p:sp>
        <p:nvSpPr>
          <p:cNvPr id="6" name="Subtitulo @a2u"/>
          <p:cNvSpPr txBox="1"/>
          <p:nvPr/>
        </p:nvSpPr>
        <p:spPr>
          <a:xfrm>
            <a:off x="640080" y="39319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accent6"/>
                </a:solidFill>
              </a:rPr>
              <a:t>Procedimentos, comunicação e feedback para líderes e encarregados</a:t>
            </a:r>
            <a:endParaRPr lang="en-US" sz="2000" dirty="0"/>
          </a:p>
        </p:txBody>
      </p:sp>
      <p:sp>
        <p:nvSpPr>
          <p:cNvPr id="7" name="Apresentador @a3f"/>
          <p:cNvSpPr txBox="1"/>
          <p:nvPr/>
        </p:nvSpPr>
        <p:spPr>
          <a:xfrm>
            <a:off x="640080" y="56235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Hércules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Administrador de Sistemas · Bartofil</a:t>
            </a:r>
            <a:endParaRPr lang="en-US" sz="1600" dirty="0"/>
          </a:p>
        </p:txBody>
      </p:sp>
      <p:pic>
        <p:nvPicPr>
          <p:cNvPr id="8" name="Ilustracao capa @a1z" descr="/tmp/claude-0/-home-claude/5746e17e-ab87-5418-9566-46e1b5e96b03/scratchpad/pptx2/assets/hero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 @a1f"/>
          <p:cNvSpPr txBox="1"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PARTE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9202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Procedimentos que protegem</a:t>
            </a:r>
            <a:endParaRPr lang="en-US" sz="4400" dirty="0"/>
          </a:p>
        </p:txBody>
      </p:sp>
      <p:sp>
        <p:nvSpPr>
          <p:cNvPr id="4" name="Topico @a2u.0"/>
          <p:cNvSpPr txBox="1"/>
          <p:nvPr/>
        </p:nvSpPr>
        <p:spPr>
          <a:xfrm>
            <a:off x="640080" y="365760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CNV</a:t>
            </a:r>
            <a:endParaRPr lang="en-US" sz="1200" dirty="0"/>
          </a:p>
        </p:txBody>
      </p:sp>
      <p:sp>
        <p:nvSpPr>
          <p:cNvPr id="5" name="Topico @a2u.1"/>
          <p:cNvSpPr txBox="1"/>
          <p:nvPr/>
        </p:nvSpPr>
        <p:spPr>
          <a:xfrm>
            <a:off x="2624328" y="365760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Saída e registro</a:t>
            </a:r>
            <a:endParaRPr lang="en-US" sz="1200" dirty="0"/>
          </a:p>
        </p:txBody>
      </p:sp>
      <p:sp>
        <p:nvSpPr>
          <p:cNvPr id="6" name="Topico @a2u.2"/>
          <p:cNvSpPr txBox="1"/>
          <p:nvPr/>
        </p:nvSpPr>
        <p:spPr>
          <a:xfrm>
            <a:off x="4608576" y="365760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EPI</a:t>
            </a:r>
            <a:endParaRPr lang="en-US" sz="1200" dirty="0"/>
          </a:p>
        </p:txBody>
      </p:sp>
      <p:sp>
        <p:nvSpPr>
          <p:cNvPr id="7" name="Topico @a2u.3"/>
          <p:cNvSpPr txBox="1"/>
          <p:nvPr/>
        </p:nvSpPr>
        <p:spPr>
          <a:xfrm>
            <a:off x="640080" y="416052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Medicamentos</a:t>
            </a:r>
            <a:endParaRPr lang="en-US" sz="1200" dirty="0"/>
          </a:p>
        </p:txBody>
      </p:sp>
      <p:sp>
        <p:nvSpPr>
          <p:cNvPr id="8" name="Topico @a2u.4"/>
          <p:cNvSpPr txBox="1"/>
          <p:nvPr/>
        </p:nvSpPr>
        <p:spPr>
          <a:xfrm>
            <a:off x="2624328" y="416052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DDS e presença</a:t>
            </a:r>
            <a:endParaRPr lang="en-US" sz="1200" dirty="0"/>
          </a:p>
        </p:txBody>
      </p:sp>
      <p:sp>
        <p:nvSpPr>
          <p:cNvPr id="9" name="Topico @a2u.5"/>
          <p:cNvSpPr txBox="1"/>
          <p:nvPr/>
        </p:nvSpPr>
        <p:spPr>
          <a:xfrm>
            <a:off x="4608576" y="416052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Blue spot</a:t>
            </a:r>
            <a:endParaRPr lang="en-US" sz="1200" dirty="0"/>
          </a:p>
        </p:txBody>
      </p:sp>
      <p:pic>
        <p:nvPicPr>
          <p:cNvPr id="10" name="Ilustracao parte @a1z" descr="/tmp/claude-0/-home-claude/5746e17e-ab87-5418-9566-46e1b5e96b03/scratchpad/pptx2/assets/hero-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914400"/>
            <a:ext cx="4572000" cy="4572000"/>
          </a:xfrm>
          <a:prstGeom prst="rect">
            <a:avLst/>
          </a:prstGeom>
        </p:spPr>
      </p:pic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1 · COMUNICAÇÃO NÃO VIOLENTA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CNV: firmeza sem agressividade</a:t>
            </a:r>
            <a:endParaRPr lang="en-US" sz="3200" dirty="0"/>
          </a:p>
        </p:txBody>
      </p:sp>
      <p:sp>
        <p:nvSpPr>
          <p:cNvPr id="4" name="Definicao @a1u"/>
          <p:cNvSpPr txBox="1"/>
          <p:nvPr/>
        </p:nvSpPr>
        <p:spPr>
          <a:xfrm>
            <a:off x="64008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chemeClr val="accent5"/>
                </a:solidFill>
              </a:rPr>
              <a:t>Comunicação Não Violenta é um jeito de falar e de ouvir que foca no fato e na necessidade — não no ataque à pessoa.</a:t>
            </a:r>
            <a:endParaRPr lang="en-US" sz="1800" dirty="0"/>
          </a:p>
        </p:txBody>
      </p:sp>
      <p:pic>
        <p:nvPicPr>
          <p:cNvPr id="5" name="Check @a2u.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0"/>
            <a:ext cx="384048" cy="384048"/>
          </a:xfrm>
          <a:prstGeom prst="rect">
            <a:avLst/>
          </a:prstGeom>
        </p:spPr>
      </p:pic>
      <p:sp>
        <p:nvSpPr>
          <p:cNvPr id="6" name="Beneficio @a2u.0"/>
          <p:cNvSpPr txBox="1"/>
          <p:nvPr/>
        </p:nvSpPr>
        <p:spPr>
          <a:xfrm>
            <a:off x="1188720" y="27432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Corrige sem humilhar</a:t>
            </a:r>
            <a:endParaRPr lang="en-US" sz="1600" dirty="0"/>
          </a:p>
        </p:txBody>
      </p:sp>
      <p:pic>
        <p:nvPicPr>
          <p:cNvPr id="7" name="Check @a2u.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10128"/>
            <a:ext cx="384048" cy="384048"/>
          </a:xfrm>
          <a:prstGeom prst="rect">
            <a:avLst/>
          </a:prstGeom>
        </p:spPr>
      </p:pic>
      <p:sp>
        <p:nvSpPr>
          <p:cNvPr id="8" name="Beneficio @a2u.1"/>
          <p:cNvSpPr txBox="1"/>
          <p:nvPr/>
        </p:nvSpPr>
        <p:spPr>
          <a:xfrm>
            <a:off x="1188720" y="33101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Reduz conflitos e retrabalho</a:t>
            </a:r>
            <a:endParaRPr lang="en-US" sz="1600" dirty="0"/>
          </a:p>
        </p:txBody>
      </p:sp>
      <p:pic>
        <p:nvPicPr>
          <p:cNvPr id="9" name="Check @a2u.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77056"/>
            <a:ext cx="384048" cy="384048"/>
          </a:xfrm>
          <a:prstGeom prst="rect">
            <a:avLst/>
          </a:prstGeom>
        </p:spPr>
      </p:pic>
      <p:sp>
        <p:nvSpPr>
          <p:cNvPr id="10" name="Beneficio @a2u.2"/>
          <p:cNvSpPr txBox="1"/>
          <p:nvPr/>
        </p:nvSpPr>
        <p:spPr>
          <a:xfrm>
            <a:off x="1188720" y="387705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Aumenta a confiança na liderança</a:t>
            </a:r>
            <a:endParaRPr lang="en-US" sz="1600" dirty="0"/>
          </a:p>
        </p:txBody>
      </p:sp>
      <p:sp>
        <p:nvSpPr>
          <p:cNvPr id="11" name="Por que agora @a3u"/>
          <p:cNvSpPr/>
          <p:nvPr/>
        </p:nvSpPr>
        <p:spPr>
          <a:xfrm>
            <a:off x="640080" y="4572000"/>
            <a:ext cx="6400800" cy="1188720"/>
          </a:xfrm>
          <a:prstGeom prst="roundRect">
            <a:avLst>
              <a:gd name="adj" fmla="val 9231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o por que agora @a3u"/>
          <p:cNvSpPr txBox="1"/>
          <p:nvPr/>
        </p:nvSpPr>
        <p:spPr>
          <a:xfrm>
            <a:off x="868680" y="4681728"/>
            <a:ext cx="5943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Por que agora?  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Desde 26/05/2026, a fiscalização da NR-1 cobra a gestão dos riscos psicossociais. O jeito como o líder fala com a equipe faz parte desse ambiente.</a:t>
            </a:r>
            <a:endParaRPr lang="en-US" sz="1350" dirty="0"/>
          </a:p>
        </p:txBody>
      </p:sp>
      <p:pic>
        <p:nvPicPr>
          <p:cNvPr id="13" name="Ilustracao CNV @a1z" descr="/tmp/claude-0/-home-claude/5746e17e-ab87-5418-9566-46e1b5e96b03/scratchpad/pptx2/assets/hero-cn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00200"/>
            <a:ext cx="3840480" cy="38404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40080" y="5943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CNV: método de Marshall Rosenberg · NR-1: gestão de riscos ocupacionais, incluindo os psicossociais</a:t>
            </a:r>
            <a:endParaRPr lang="en-US" sz="10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1 · CNV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4 passos da CNV</a:t>
            </a:r>
            <a:endParaRPr lang="en-US" sz="3200" dirty="0"/>
          </a:p>
        </p:txBody>
      </p:sp>
      <p:sp>
        <p:nvSpPr>
          <p:cNvPr id="4" name="Passo 1 @c1u"/>
          <p:cNvSpPr/>
          <p:nvPr/>
        </p:nvSpPr>
        <p:spPr>
          <a:xfrm>
            <a:off x="640080" y="1691640"/>
            <a:ext cx="2522144" cy="3794760"/>
          </a:xfrm>
          <a:prstGeom prst="roundRect">
            <a:avLst>
              <a:gd name="adj" fmla="val 4351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5" name="Icone passo @c1u" descr="ey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84248"/>
            <a:ext cx="868680" cy="868680"/>
          </a:xfrm>
          <a:prstGeom prst="rect">
            <a:avLst/>
          </a:prstGeom>
        </p:spPr>
      </p:pic>
      <p:sp>
        <p:nvSpPr>
          <p:cNvPr id="6" name="Num passo @c1u"/>
          <p:cNvSpPr txBox="1"/>
          <p:nvPr/>
        </p:nvSpPr>
        <p:spPr>
          <a:xfrm>
            <a:off x="914400" y="2990088"/>
            <a:ext cx="197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PASSO 1</a:t>
            </a:r>
            <a:endParaRPr lang="en-US" sz="1100" dirty="0"/>
          </a:p>
        </p:txBody>
      </p:sp>
      <p:sp>
        <p:nvSpPr>
          <p:cNvPr id="7" name="Nome passo @c1u"/>
          <p:cNvSpPr txBox="1"/>
          <p:nvPr/>
        </p:nvSpPr>
        <p:spPr>
          <a:xfrm>
            <a:off x="914400" y="3264408"/>
            <a:ext cx="197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Observação</a:t>
            </a:r>
            <a:endParaRPr lang="en-US" sz="2100" dirty="0"/>
          </a:p>
        </p:txBody>
      </p:sp>
      <p:sp>
        <p:nvSpPr>
          <p:cNvPr id="8" name="Desc passo @c1u"/>
          <p:cNvSpPr txBox="1"/>
          <p:nvPr/>
        </p:nvSpPr>
        <p:spPr>
          <a:xfrm>
            <a:off x="914400" y="3703320"/>
            <a:ext cx="1973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O que eu vi, sem julgar nem rotular.</a:t>
            </a:r>
            <a:endParaRPr lang="en-US" sz="1400" dirty="0"/>
          </a:p>
        </p:txBody>
      </p:sp>
      <p:sp>
        <p:nvSpPr>
          <p:cNvPr id="9" name="Exemplo passo @c1u"/>
          <p:cNvSpPr txBox="1"/>
          <p:nvPr/>
        </p:nvSpPr>
        <p:spPr>
          <a:xfrm>
            <a:off x="822960" y="4617720"/>
            <a:ext cx="2156384" cy="658368"/>
          </a:xfrm>
          <a:prstGeom prst="roundRect">
            <a:avLst>
              <a:gd name="adj" fmla="val 11111"/>
            </a:avLst>
          </a:prstGeom>
          <a:solidFill>
            <a:schemeClr val="accent1">
              <a:alpha val="10000"/>
            </a:schemeClr>
          </a:solidFill>
          <a:ln w="6350">
            <a:solidFill>
              <a:schemeClr val="accent1">
                <a:alpha val="2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“Hoje, às 10h, vi que…”</a:t>
            </a:r>
            <a:endParaRPr lang="en-US" sz="1400" dirty="0"/>
          </a:p>
        </p:txBody>
      </p:sp>
      <p:sp>
        <p:nvSpPr>
          <p:cNvPr id="10" name="Passo 2 @c2u"/>
          <p:cNvSpPr/>
          <p:nvPr/>
        </p:nvSpPr>
        <p:spPr>
          <a:xfrm>
            <a:off x="3436544" y="1691640"/>
            <a:ext cx="2522144" cy="3794760"/>
          </a:xfrm>
          <a:prstGeom prst="roundRect">
            <a:avLst>
              <a:gd name="adj" fmla="val 4351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1" name="Icone passo @c2u" descr="he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864" y="1984248"/>
            <a:ext cx="868680" cy="868680"/>
          </a:xfrm>
          <a:prstGeom prst="rect">
            <a:avLst/>
          </a:prstGeom>
        </p:spPr>
      </p:pic>
      <p:sp>
        <p:nvSpPr>
          <p:cNvPr id="12" name="Num passo @c2u"/>
          <p:cNvSpPr txBox="1"/>
          <p:nvPr/>
        </p:nvSpPr>
        <p:spPr>
          <a:xfrm>
            <a:off x="3710864" y="2990088"/>
            <a:ext cx="197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PASSO 2</a:t>
            </a:r>
            <a:endParaRPr lang="en-US" sz="1100" dirty="0"/>
          </a:p>
        </p:txBody>
      </p:sp>
      <p:sp>
        <p:nvSpPr>
          <p:cNvPr id="13" name="Nome passo @c2u"/>
          <p:cNvSpPr txBox="1"/>
          <p:nvPr/>
        </p:nvSpPr>
        <p:spPr>
          <a:xfrm>
            <a:off x="3710864" y="3264408"/>
            <a:ext cx="197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Sentimento</a:t>
            </a:r>
            <a:endParaRPr lang="en-US" sz="2100" dirty="0"/>
          </a:p>
        </p:txBody>
      </p:sp>
      <p:sp>
        <p:nvSpPr>
          <p:cNvPr id="14" name="Desc passo @c2u"/>
          <p:cNvSpPr txBox="1"/>
          <p:nvPr/>
        </p:nvSpPr>
        <p:spPr>
          <a:xfrm>
            <a:off x="3710864" y="3703320"/>
            <a:ext cx="1973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Como eu me sinto com isso.</a:t>
            </a:r>
            <a:endParaRPr lang="en-US" sz="1400" dirty="0"/>
          </a:p>
        </p:txBody>
      </p:sp>
      <p:sp>
        <p:nvSpPr>
          <p:cNvPr id="15" name="Exemplo passo @c2u"/>
          <p:cNvSpPr txBox="1"/>
          <p:nvPr/>
        </p:nvSpPr>
        <p:spPr>
          <a:xfrm>
            <a:off x="3619424" y="4617720"/>
            <a:ext cx="2156384" cy="658368"/>
          </a:xfrm>
          <a:prstGeom prst="roundRect">
            <a:avLst>
              <a:gd name="adj" fmla="val 11111"/>
            </a:avLst>
          </a:prstGeom>
          <a:solidFill>
            <a:schemeClr val="accent1">
              <a:alpha val="10000"/>
            </a:schemeClr>
          </a:solidFill>
          <a:ln w="6350">
            <a:solidFill>
              <a:schemeClr val="accent1">
                <a:alpha val="2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“Fico preocupado…”</a:t>
            </a:r>
            <a:endParaRPr lang="en-US" sz="1400" dirty="0"/>
          </a:p>
        </p:txBody>
      </p:sp>
      <p:sp>
        <p:nvSpPr>
          <p:cNvPr id="16" name="Passo 3 @c3u"/>
          <p:cNvSpPr/>
          <p:nvPr/>
        </p:nvSpPr>
        <p:spPr>
          <a:xfrm>
            <a:off x="6233008" y="1691640"/>
            <a:ext cx="2522144" cy="3794760"/>
          </a:xfrm>
          <a:prstGeom prst="roundRect">
            <a:avLst>
              <a:gd name="adj" fmla="val 4351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7" name="Icone passo @c3u" descr="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1984248"/>
            <a:ext cx="868680" cy="868680"/>
          </a:xfrm>
          <a:prstGeom prst="rect">
            <a:avLst/>
          </a:prstGeom>
        </p:spPr>
      </p:pic>
      <p:sp>
        <p:nvSpPr>
          <p:cNvPr id="18" name="Num passo @c3u"/>
          <p:cNvSpPr txBox="1"/>
          <p:nvPr/>
        </p:nvSpPr>
        <p:spPr>
          <a:xfrm>
            <a:off x="6507328" y="2990088"/>
            <a:ext cx="197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PASSO 3</a:t>
            </a:r>
            <a:endParaRPr lang="en-US" sz="1100" dirty="0"/>
          </a:p>
        </p:txBody>
      </p:sp>
      <p:sp>
        <p:nvSpPr>
          <p:cNvPr id="19" name="Nome passo @c3u"/>
          <p:cNvSpPr txBox="1"/>
          <p:nvPr/>
        </p:nvSpPr>
        <p:spPr>
          <a:xfrm>
            <a:off x="6507328" y="3264408"/>
            <a:ext cx="197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Necessidade</a:t>
            </a:r>
            <a:endParaRPr lang="en-US" sz="2100" dirty="0"/>
          </a:p>
        </p:txBody>
      </p:sp>
      <p:sp>
        <p:nvSpPr>
          <p:cNvPr id="20" name="Desc passo @c3u"/>
          <p:cNvSpPr txBox="1"/>
          <p:nvPr/>
        </p:nvSpPr>
        <p:spPr>
          <a:xfrm>
            <a:off x="6507328" y="3703320"/>
            <a:ext cx="1973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O que está em jogo para mim e para a equipe.</a:t>
            </a:r>
            <a:endParaRPr lang="en-US" sz="1400" dirty="0"/>
          </a:p>
        </p:txBody>
      </p:sp>
      <p:sp>
        <p:nvSpPr>
          <p:cNvPr id="21" name="Exemplo passo @c3u"/>
          <p:cNvSpPr txBox="1"/>
          <p:nvPr/>
        </p:nvSpPr>
        <p:spPr>
          <a:xfrm>
            <a:off x="6415888" y="4617720"/>
            <a:ext cx="2156384" cy="658368"/>
          </a:xfrm>
          <a:prstGeom prst="roundRect">
            <a:avLst>
              <a:gd name="adj" fmla="val 11111"/>
            </a:avLst>
          </a:prstGeom>
          <a:solidFill>
            <a:schemeClr val="accent1">
              <a:alpha val="10000"/>
            </a:schemeClr>
          </a:solidFill>
          <a:ln w="6350">
            <a:solidFill>
              <a:schemeClr val="accent1">
                <a:alpha val="2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“…porque preciso que…”</a:t>
            </a:r>
            <a:endParaRPr lang="en-US" sz="1400" dirty="0"/>
          </a:p>
        </p:txBody>
      </p:sp>
      <p:sp>
        <p:nvSpPr>
          <p:cNvPr id="22" name="Passo 4 @c4u"/>
          <p:cNvSpPr/>
          <p:nvPr/>
        </p:nvSpPr>
        <p:spPr>
          <a:xfrm>
            <a:off x="9029471" y="1691640"/>
            <a:ext cx="2522144" cy="3794760"/>
          </a:xfrm>
          <a:prstGeom prst="roundRect">
            <a:avLst>
              <a:gd name="adj" fmla="val 4351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23" name="Icone passo @c4u" descr="handshak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791" y="1984248"/>
            <a:ext cx="868680" cy="868680"/>
          </a:xfrm>
          <a:prstGeom prst="rect">
            <a:avLst/>
          </a:prstGeom>
        </p:spPr>
      </p:pic>
      <p:sp>
        <p:nvSpPr>
          <p:cNvPr id="24" name="Num passo @c4u"/>
          <p:cNvSpPr txBox="1"/>
          <p:nvPr/>
        </p:nvSpPr>
        <p:spPr>
          <a:xfrm>
            <a:off x="9303791" y="2990088"/>
            <a:ext cx="197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PASSO 4</a:t>
            </a:r>
            <a:endParaRPr lang="en-US" sz="1100" dirty="0"/>
          </a:p>
        </p:txBody>
      </p:sp>
      <p:sp>
        <p:nvSpPr>
          <p:cNvPr id="25" name="Nome passo @c4u"/>
          <p:cNvSpPr txBox="1"/>
          <p:nvPr/>
        </p:nvSpPr>
        <p:spPr>
          <a:xfrm>
            <a:off x="9303791" y="3264408"/>
            <a:ext cx="197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Pedido</a:t>
            </a:r>
            <a:endParaRPr lang="en-US" sz="2100" dirty="0"/>
          </a:p>
        </p:txBody>
      </p:sp>
      <p:sp>
        <p:nvSpPr>
          <p:cNvPr id="26" name="Desc passo @c4u"/>
          <p:cNvSpPr txBox="1"/>
          <p:nvPr/>
        </p:nvSpPr>
        <p:spPr>
          <a:xfrm>
            <a:off x="9303791" y="3703320"/>
            <a:ext cx="1973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Uma ação clara, possível e com prazo.</a:t>
            </a:r>
            <a:endParaRPr lang="en-US" sz="1400" dirty="0"/>
          </a:p>
        </p:txBody>
      </p:sp>
      <p:sp>
        <p:nvSpPr>
          <p:cNvPr id="27" name="Exemplo passo @c4u"/>
          <p:cNvSpPr txBox="1"/>
          <p:nvPr/>
        </p:nvSpPr>
        <p:spPr>
          <a:xfrm>
            <a:off x="9212351" y="4617720"/>
            <a:ext cx="2156384" cy="658368"/>
          </a:xfrm>
          <a:prstGeom prst="roundRect">
            <a:avLst>
              <a:gd name="adj" fmla="val 11111"/>
            </a:avLst>
          </a:prstGeom>
          <a:solidFill>
            <a:schemeClr val="accent1">
              <a:alpha val="10000"/>
            </a:schemeClr>
          </a:solidFill>
          <a:ln w="6350">
            <a:solidFill>
              <a:schemeClr val="accent1">
                <a:alpha val="2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“Você pode…?”</a:t>
            </a:r>
            <a:endParaRPr lang="en-US" sz="1400" dirty="0"/>
          </a:p>
        </p:txBody>
      </p:sp>
      <p:sp>
        <p:nvSpPr>
          <p:cNvPr id="28" name="Sintese @c4u.2"/>
          <p:cNvSpPr txBox="1"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Observação + sentimento + necessidade + pedido = cobrança firme e respeitosa.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1 · CNV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mesma cobrança, dois jeitos</a:t>
            </a:r>
            <a:endParaRPr lang="en-US" sz="3200" dirty="0"/>
          </a:p>
        </p:txBody>
      </p:sp>
      <p:sp>
        <p:nvSpPr>
          <p:cNvPr id="4" name="Evite @a1u"/>
          <p:cNvSpPr/>
          <p:nvPr/>
        </p:nvSpPr>
        <p:spPr>
          <a:xfrm>
            <a:off x="640080" y="1691640"/>
            <a:ext cx="4480560" cy="3611880"/>
          </a:xfrm>
          <a:prstGeom prst="roundRect">
            <a:avLst>
              <a:gd name="adj" fmla="val 3038"/>
            </a:avLst>
          </a:prstGeom>
          <a:solidFill>
            <a:schemeClr val="accent5">
              <a:alpha val="8000"/>
            </a:schemeClr>
          </a:solidFill>
          <a:ln w="9525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5" name="Icone evite @a1u" descr="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38528"/>
            <a:ext cx="384048" cy="384048"/>
          </a:xfrm>
          <a:prstGeom prst="rect">
            <a:avLst/>
          </a:prstGeom>
        </p:spPr>
      </p:pic>
      <p:sp>
        <p:nvSpPr>
          <p:cNvPr id="6" name="Rotulo evite @a1u"/>
          <p:cNvSpPr txBox="1"/>
          <p:nvPr/>
        </p:nvSpPr>
        <p:spPr>
          <a:xfrm>
            <a:off x="1417320" y="1938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EVITE</a:t>
            </a:r>
            <a:endParaRPr lang="en-US" sz="1300" dirty="0"/>
          </a:p>
        </p:txBody>
      </p:sp>
      <p:sp>
        <p:nvSpPr>
          <p:cNvPr id="7" name="Frase evite @a1u"/>
          <p:cNvSpPr txBox="1"/>
          <p:nvPr/>
        </p:nvSpPr>
        <p:spPr>
          <a:xfrm>
            <a:off x="914400" y="256032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i="1" dirty="0">
                <a:solidFill>
                  <a:schemeClr val="tx1"/>
                </a:solidFill>
              </a:rPr>
              <a:t>“Você nunca usa a luva! Quer se machucar? Da próxima vez vai ter advertência.”</a:t>
            </a:r>
            <a:endParaRPr lang="en-US" sz="2100" dirty="0"/>
          </a:p>
        </p:txBody>
      </p:sp>
      <p:sp>
        <p:nvSpPr>
          <p:cNvPr id="8" name="Efeitos evite @a1u"/>
          <p:cNvSpPr txBox="1"/>
          <p:nvPr/>
        </p:nvSpPr>
        <p:spPr>
          <a:xfrm>
            <a:off x="914400" y="4663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Rotula a pessoa  ·  Ameaça  ·  Gera defesa</a:t>
            </a:r>
            <a:endParaRPr lang="en-US" sz="1300" dirty="0"/>
          </a:p>
        </p:txBody>
      </p:sp>
      <p:sp>
        <p:nvSpPr>
          <p:cNvPr id="9" name="Com CNV @c1u"/>
          <p:cNvSpPr/>
          <p:nvPr/>
        </p:nvSpPr>
        <p:spPr>
          <a:xfrm>
            <a:off x="5394960" y="1691640"/>
            <a:ext cx="6156655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0" name="Icone CNV @c1u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38528"/>
            <a:ext cx="384048" cy="384048"/>
          </a:xfrm>
          <a:prstGeom prst="rect">
            <a:avLst/>
          </a:prstGeom>
        </p:spPr>
      </p:pic>
      <p:sp>
        <p:nvSpPr>
          <p:cNvPr id="11" name="Rotulo CNV @c1u"/>
          <p:cNvSpPr txBox="1"/>
          <p:nvPr/>
        </p:nvSpPr>
        <p:spPr>
          <a:xfrm>
            <a:off x="6172200" y="1938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COM CNV</a:t>
            </a:r>
            <a:endParaRPr lang="en-US" sz="1300" dirty="0"/>
          </a:p>
        </p:txBody>
      </p:sp>
      <p:sp>
        <p:nvSpPr>
          <p:cNvPr id="12" name="Etiqueta @c1u.1"/>
          <p:cNvSpPr txBox="1"/>
          <p:nvPr/>
        </p:nvSpPr>
        <p:spPr>
          <a:xfrm>
            <a:off x="5669280" y="2569464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6350">
            <a:solidFill>
              <a:schemeClr val="accent3">
                <a:alpha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OBSERVAÇÃO</a:t>
            </a:r>
            <a:endParaRPr lang="en-US" sz="1000" dirty="0"/>
          </a:p>
        </p:txBody>
      </p:sp>
      <p:sp>
        <p:nvSpPr>
          <p:cNvPr id="13" name="Linha @c1u.1"/>
          <p:cNvSpPr txBox="1"/>
          <p:nvPr/>
        </p:nvSpPr>
        <p:spPr>
          <a:xfrm>
            <a:off x="7223760" y="2514600"/>
            <a:ext cx="4053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Hoje, na doca 3, vi você descarregando sem a luva.</a:t>
            </a:r>
            <a:endParaRPr lang="en-US" sz="1500" dirty="0"/>
          </a:p>
        </p:txBody>
      </p:sp>
      <p:sp>
        <p:nvSpPr>
          <p:cNvPr id="14" name="Etiqueta @c1u.2"/>
          <p:cNvSpPr txBox="1"/>
          <p:nvPr/>
        </p:nvSpPr>
        <p:spPr>
          <a:xfrm>
            <a:off x="5669280" y="3255264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6350">
            <a:solidFill>
              <a:schemeClr val="accent3">
                <a:alpha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SENTIMENTO</a:t>
            </a:r>
            <a:endParaRPr lang="en-US" sz="1000" dirty="0"/>
          </a:p>
        </p:txBody>
      </p:sp>
      <p:sp>
        <p:nvSpPr>
          <p:cNvPr id="15" name="Linha @c1u.2"/>
          <p:cNvSpPr txBox="1"/>
          <p:nvPr/>
        </p:nvSpPr>
        <p:spPr>
          <a:xfrm>
            <a:off x="7223760" y="3200400"/>
            <a:ext cx="4053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Fico preocupado,</a:t>
            </a:r>
            <a:endParaRPr lang="en-US" sz="1500" dirty="0"/>
          </a:p>
        </p:txBody>
      </p:sp>
      <p:sp>
        <p:nvSpPr>
          <p:cNvPr id="16" name="Etiqueta @c1u.3"/>
          <p:cNvSpPr txBox="1"/>
          <p:nvPr/>
        </p:nvSpPr>
        <p:spPr>
          <a:xfrm>
            <a:off x="5669280" y="3941064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6350">
            <a:solidFill>
              <a:schemeClr val="accent3">
                <a:alpha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NECESSIDADE</a:t>
            </a:r>
            <a:endParaRPr lang="en-US" sz="1000" dirty="0"/>
          </a:p>
        </p:txBody>
      </p:sp>
      <p:sp>
        <p:nvSpPr>
          <p:cNvPr id="17" name="Linha @c1u.3"/>
          <p:cNvSpPr txBox="1"/>
          <p:nvPr/>
        </p:nvSpPr>
        <p:spPr>
          <a:xfrm>
            <a:off x="7223760" y="3886200"/>
            <a:ext cx="4053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porque preciso que todo mundo termine o turno inteiro.</a:t>
            </a:r>
            <a:endParaRPr lang="en-US" sz="1500" dirty="0"/>
          </a:p>
        </p:txBody>
      </p:sp>
      <p:sp>
        <p:nvSpPr>
          <p:cNvPr id="18" name="Etiqueta @c1u.4"/>
          <p:cNvSpPr txBox="1"/>
          <p:nvPr/>
        </p:nvSpPr>
        <p:spPr>
          <a:xfrm>
            <a:off x="5669280" y="4626864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6350">
            <a:solidFill>
              <a:schemeClr val="accent3">
                <a:alpha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PEDIDO</a:t>
            </a:r>
            <a:endParaRPr lang="en-US" sz="1000" dirty="0"/>
          </a:p>
        </p:txBody>
      </p:sp>
      <p:sp>
        <p:nvSpPr>
          <p:cNvPr id="19" name="Linha @c1u.4"/>
          <p:cNvSpPr txBox="1"/>
          <p:nvPr/>
        </p:nvSpPr>
        <p:spPr>
          <a:xfrm>
            <a:off x="7223760" y="4572000"/>
            <a:ext cx="4053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Você pode colocar agora e me avisar se a luva estiver ruim?</a:t>
            </a:r>
            <a:endParaRPr lang="en-US" sz="1500" dirty="0"/>
          </a:p>
        </p:txBody>
      </p:sp>
      <p:sp>
        <p:nvSpPr>
          <p:cNvPr id="20" name="Firmeza @c2f"/>
          <p:cNvSpPr txBox="1"/>
          <p:nvPr/>
        </p:nvSpPr>
        <p:spPr>
          <a:xfrm>
            <a:off x="640080" y="557784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Firmeza continua: se repetir, a medida disciplinar acontece — com respeito.</a:t>
            </a:r>
            <a:endParaRPr lang="en-US" sz="16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1 · SAÍDA DE COLABORADORES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Saída durante o turno: o caminho certo</a:t>
            </a:r>
            <a:endParaRPr lang="en-US" sz="3200" dirty="0"/>
          </a:p>
        </p:txBody>
      </p:sp>
      <p:sp>
        <p:nvSpPr>
          <p:cNvPr id="4" name="Circulo etapa @a1u"/>
          <p:cNvSpPr/>
          <p:nvPr/>
        </p:nvSpPr>
        <p:spPr>
          <a:xfrm>
            <a:off x="640080" y="1783080"/>
            <a:ext cx="1188720" cy="11887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10000"/>
              </a:srgbClr>
            </a:outerShdw>
          </a:effectLst>
        </p:spPr>
      </p:sp>
      <p:pic>
        <p:nvPicPr>
          <p:cNvPr id="5" name="Icone etapa @a1u" descr="ra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02536"/>
            <a:ext cx="749808" cy="749808"/>
          </a:xfrm>
          <a:prstGeom prst="rect">
            <a:avLst/>
          </a:prstGeom>
        </p:spPr>
      </p:pic>
      <p:sp>
        <p:nvSpPr>
          <p:cNvPr id="6" name="Numero etapa @a1u"/>
          <p:cNvSpPr txBox="1"/>
          <p:nvPr/>
        </p:nvSpPr>
        <p:spPr>
          <a:xfrm>
            <a:off x="594360" y="173736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itulo etapa @a1u"/>
          <p:cNvSpPr txBox="1"/>
          <p:nvPr/>
        </p:nvSpPr>
        <p:spPr>
          <a:xfrm>
            <a:off x="338328" y="31363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Colaborador avisa o líder</a:t>
            </a:r>
            <a:endParaRPr lang="en-US" sz="1400" dirty="0"/>
          </a:p>
        </p:txBody>
      </p:sp>
      <p:sp>
        <p:nvSpPr>
          <p:cNvPr id="8" name="Sub etapa @a1u"/>
          <p:cNvSpPr txBox="1"/>
          <p:nvPr/>
        </p:nvSpPr>
        <p:spPr>
          <a:xfrm>
            <a:off x="338328" y="3739896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Mal-estar, acidente ou motivo pessoal</a:t>
            </a:r>
            <a:endParaRPr lang="en-US" sz="1200" dirty="0"/>
          </a:p>
        </p:txBody>
      </p:sp>
      <p:sp>
        <p:nvSpPr>
          <p:cNvPr id="9" name="Seta etapa @a1w.1"/>
          <p:cNvSpPr/>
          <p:nvPr/>
        </p:nvSpPr>
        <p:spPr>
          <a:xfrm>
            <a:off x="1901952" y="2377440"/>
            <a:ext cx="609539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Circulo etapa @a2u"/>
          <p:cNvSpPr/>
          <p:nvPr/>
        </p:nvSpPr>
        <p:spPr>
          <a:xfrm>
            <a:off x="2584643" y="1783080"/>
            <a:ext cx="1188720" cy="11887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10000"/>
              </a:srgbClr>
            </a:outerShdw>
          </a:effectLst>
        </p:spPr>
      </p:sp>
      <p:pic>
        <p:nvPicPr>
          <p:cNvPr id="11" name="Icone etapa @a2u" descr="mega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99" y="2002536"/>
            <a:ext cx="749808" cy="749808"/>
          </a:xfrm>
          <a:prstGeom prst="rect">
            <a:avLst/>
          </a:prstGeom>
        </p:spPr>
      </p:pic>
      <p:sp>
        <p:nvSpPr>
          <p:cNvPr id="12" name="Numero etapa @a2u"/>
          <p:cNvSpPr txBox="1"/>
          <p:nvPr/>
        </p:nvSpPr>
        <p:spPr>
          <a:xfrm>
            <a:off x="2538923" y="173736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itulo etapa @a2u"/>
          <p:cNvSpPr txBox="1"/>
          <p:nvPr/>
        </p:nvSpPr>
        <p:spPr>
          <a:xfrm>
            <a:off x="2282891" y="31363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Líder aciona o BC de plantão</a:t>
            </a:r>
            <a:endParaRPr lang="en-US" sz="1400" dirty="0"/>
          </a:p>
        </p:txBody>
      </p:sp>
      <p:sp>
        <p:nvSpPr>
          <p:cNvPr id="14" name="Sub etapa @a2u"/>
          <p:cNvSpPr txBox="1"/>
          <p:nvPr/>
        </p:nvSpPr>
        <p:spPr>
          <a:xfrm>
            <a:off x="2282891" y="3739896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Saúde ou acidente: BC sempre</a:t>
            </a:r>
            <a:endParaRPr lang="en-US" sz="1200" dirty="0"/>
          </a:p>
        </p:txBody>
      </p:sp>
      <p:sp>
        <p:nvSpPr>
          <p:cNvPr id="15" name="Seta etapa @a2w.1"/>
          <p:cNvSpPr/>
          <p:nvPr/>
        </p:nvSpPr>
        <p:spPr>
          <a:xfrm>
            <a:off x="3846515" y="2377440"/>
            <a:ext cx="609539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Circulo etapa @a3u"/>
          <p:cNvSpPr/>
          <p:nvPr/>
        </p:nvSpPr>
        <p:spPr>
          <a:xfrm>
            <a:off x="4529206" y="1783080"/>
            <a:ext cx="1188720" cy="11887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10000"/>
              </a:srgbClr>
            </a:outerShdw>
          </a:effectLst>
        </p:spPr>
      </p:sp>
      <p:pic>
        <p:nvPicPr>
          <p:cNvPr id="17" name="Icone etapa @a3u" descr="medi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662" y="2002536"/>
            <a:ext cx="749808" cy="749808"/>
          </a:xfrm>
          <a:prstGeom prst="rect">
            <a:avLst/>
          </a:prstGeom>
        </p:spPr>
      </p:pic>
      <p:sp>
        <p:nvSpPr>
          <p:cNvPr id="18" name="Numero etapa @a3u"/>
          <p:cNvSpPr txBox="1"/>
          <p:nvPr/>
        </p:nvSpPr>
        <p:spPr>
          <a:xfrm>
            <a:off x="4483486" y="173736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itulo etapa @a3u"/>
          <p:cNvSpPr txBox="1"/>
          <p:nvPr/>
        </p:nvSpPr>
        <p:spPr>
          <a:xfrm>
            <a:off x="4227454" y="31363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BC avalia e atende</a:t>
            </a:r>
            <a:endParaRPr lang="en-US" sz="1400" dirty="0"/>
          </a:p>
        </p:txBody>
      </p:sp>
      <p:sp>
        <p:nvSpPr>
          <p:cNvPr id="20" name="Sub etapa @a3u"/>
          <p:cNvSpPr txBox="1"/>
          <p:nvPr/>
        </p:nvSpPr>
        <p:spPr>
          <a:xfrm>
            <a:off x="4227454" y="3739896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Primeiro atendimento e decisão</a:t>
            </a:r>
            <a:endParaRPr lang="en-US" sz="1200" dirty="0"/>
          </a:p>
        </p:txBody>
      </p:sp>
      <p:sp>
        <p:nvSpPr>
          <p:cNvPr id="21" name="Seta etapa @a3w.1"/>
          <p:cNvSpPr/>
          <p:nvPr/>
        </p:nvSpPr>
        <p:spPr>
          <a:xfrm>
            <a:off x="5791078" y="2377440"/>
            <a:ext cx="609539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Circulo etapa @a4u"/>
          <p:cNvSpPr/>
          <p:nvPr/>
        </p:nvSpPr>
        <p:spPr>
          <a:xfrm>
            <a:off x="6473769" y="1783080"/>
            <a:ext cx="1188720" cy="11887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10000"/>
              </a:srgbClr>
            </a:outerShdw>
          </a:effectLst>
        </p:spPr>
      </p:sp>
      <p:pic>
        <p:nvPicPr>
          <p:cNvPr id="23" name="Icone etapa @a4u" descr="ledg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225" y="2002536"/>
            <a:ext cx="749808" cy="749808"/>
          </a:xfrm>
          <a:prstGeom prst="rect">
            <a:avLst/>
          </a:prstGeom>
        </p:spPr>
      </p:pic>
      <p:sp>
        <p:nvSpPr>
          <p:cNvPr id="24" name="Numero etapa @a4u"/>
          <p:cNvSpPr txBox="1"/>
          <p:nvPr/>
        </p:nvSpPr>
        <p:spPr>
          <a:xfrm>
            <a:off x="6428049" y="173736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itulo etapa @a4u"/>
          <p:cNvSpPr txBox="1"/>
          <p:nvPr/>
        </p:nvSpPr>
        <p:spPr>
          <a:xfrm>
            <a:off x="6172017" y="31363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Registro no livro</a:t>
            </a:r>
            <a:endParaRPr lang="en-US" sz="1400" dirty="0"/>
          </a:p>
        </p:txBody>
      </p:sp>
      <p:sp>
        <p:nvSpPr>
          <p:cNvPr id="26" name="Sub etapa @a4u"/>
          <p:cNvSpPr txBox="1"/>
          <p:nvPr/>
        </p:nvSpPr>
        <p:spPr>
          <a:xfrm>
            <a:off x="6172017" y="3739896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Antes de a pessoa sair</a:t>
            </a:r>
            <a:endParaRPr lang="en-US" sz="1200" dirty="0"/>
          </a:p>
        </p:txBody>
      </p:sp>
      <p:sp>
        <p:nvSpPr>
          <p:cNvPr id="27" name="Seta etapa @a4w.1"/>
          <p:cNvSpPr/>
          <p:nvPr/>
        </p:nvSpPr>
        <p:spPr>
          <a:xfrm>
            <a:off x="7735641" y="2377440"/>
            <a:ext cx="609539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Circulo etapa @a5u"/>
          <p:cNvSpPr/>
          <p:nvPr/>
        </p:nvSpPr>
        <p:spPr>
          <a:xfrm>
            <a:off x="8418332" y="1783080"/>
            <a:ext cx="1188720" cy="11887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10000"/>
              </a:srgbClr>
            </a:outerShdw>
          </a:effectLst>
        </p:spPr>
      </p:sp>
      <p:pic>
        <p:nvPicPr>
          <p:cNvPr id="29" name="Icone etapa @a5u" descr="do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788" y="2002536"/>
            <a:ext cx="749808" cy="749808"/>
          </a:xfrm>
          <a:prstGeom prst="rect">
            <a:avLst/>
          </a:prstGeom>
        </p:spPr>
      </p:pic>
      <p:sp>
        <p:nvSpPr>
          <p:cNvPr id="30" name="Numero etapa @a5u"/>
          <p:cNvSpPr txBox="1"/>
          <p:nvPr/>
        </p:nvSpPr>
        <p:spPr>
          <a:xfrm>
            <a:off x="8372612" y="173736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itulo etapa @a5u"/>
          <p:cNvSpPr txBox="1"/>
          <p:nvPr/>
        </p:nvSpPr>
        <p:spPr>
          <a:xfrm>
            <a:off x="8116580" y="31363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Encaminhamento ou liberação</a:t>
            </a:r>
            <a:endParaRPr lang="en-US" sz="1400" dirty="0"/>
          </a:p>
        </p:txBody>
      </p:sp>
      <p:sp>
        <p:nvSpPr>
          <p:cNvPr id="32" name="Sub etapa @a5u"/>
          <p:cNvSpPr txBox="1"/>
          <p:nvPr/>
        </p:nvSpPr>
        <p:spPr>
          <a:xfrm>
            <a:off x="8116580" y="3739896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Casa, UPA ou hospital</a:t>
            </a:r>
            <a:endParaRPr lang="en-US" sz="1200" dirty="0"/>
          </a:p>
        </p:txBody>
      </p:sp>
      <p:sp>
        <p:nvSpPr>
          <p:cNvPr id="33" name="Seta etapa @a5w.1"/>
          <p:cNvSpPr/>
          <p:nvPr/>
        </p:nvSpPr>
        <p:spPr>
          <a:xfrm>
            <a:off x="9680204" y="2377440"/>
            <a:ext cx="609539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Circulo etapa @a6u"/>
          <p:cNvSpPr/>
          <p:nvPr/>
        </p:nvSpPr>
        <p:spPr>
          <a:xfrm>
            <a:off x="10362895" y="1783080"/>
            <a:ext cx="1188720" cy="11887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10000"/>
              </a:srgbClr>
            </a:outerShdw>
          </a:effectLst>
        </p:spPr>
      </p:sp>
      <p:pic>
        <p:nvPicPr>
          <p:cNvPr id="35" name="Icone etapa @a6u" descr="clipboar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351" y="2002536"/>
            <a:ext cx="749808" cy="749808"/>
          </a:xfrm>
          <a:prstGeom prst="rect">
            <a:avLst/>
          </a:prstGeom>
        </p:spPr>
      </p:pic>
      <p:sp>
        <p:nvSpPr>
          <p:cNvPr id="36" name="Numero etapa @a6u"/>
          <p:cNvSpPr txBox="1"/>
          <p:nvPr/>
        </p:nvSpPr>
        <p:spPr>
          <a:xfrm>
            <a:off x="10317175" y="173736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itulo etapa @a6u"/>
          <p:cNvSpPr txBox="1"/>
          <p:nvPr/>
        </p:nvSpPr>
        <p:spPr>
          <a:xfrm>
            <a:off x="10061143" y="31363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RH e SESMT informados</a:t>
            </a:r>
            <a:endParaRPr lang="en-US" sz="1400" dirty="0"/>
          </a:p>
        </p:txBody>
      </p:sp>
      <p:sp>
        <p:nvSpPr>
          <p:cNvPr id="38" name="Sub etapa @a6u"/>
          <p:cNvSpPr txBox="1"/>
          <p:nvPr/>
        </p:nvSpPr>
        <p:spPr>
          <a:xfrm>
            <a:off x="10061143" y="3739896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Acidente: abrir a CAT</a:t>
            </a:r>
            <a:endParaRPr lang="en-US" sz="1200" dirty="0"/>
          </a:p>
        </p:txBody>
      </p:sp>
      <p:sp>
        <p:nvSpPr>
          <p:cNvPr id="39" name="Regra de ouro @a7u"/>
          <p:cNvSpPr/>
          <p:nvPr/>
        </p:nvSpPr>
        <p:spPr>
          <a:xfrm>
            <a:off x="640080" y="4937760"/>
            <a:ext cx="10911535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40" name="Icone regra @a7u" descr="warn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074920"/>
            <a:ext cx="502920" cy="502920"/>
          </a:xfrm>
          <a:prstGeom prst="rect">
            <a:avLst/>
          </a:prstGeom>
        </p:spPr>
      </p:pic>
      <p:sp>
        <p:nvSpPr>
          <p:cNvPr id="41" name="Texto regra @a7u"/>
          <p:cNvSpPr txBox="1"/>
          <p:nvPr/>
        </p:nvSpPr>
        <p:spPr>
          <a:xfrm>
            <a:off x="1600200" y="4937760"/>
            <a:ext cx="9722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Nunca libere “de boca”: </a:t>
            </a:r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sem BC e sem livro, a saída não aconteceu oficialmente.</a:t>
            </a:r>
            <a:endParaRPr lang="en-US" sz="17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1 · SAÍDA DE COLABORADORES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não está no livro, não aconteceu</a:t>
            </a:r>
            <a:endParaRPr lang="en-US" sz="3200" dirty="0"/>
          </a:p>
        </p:txBody>
      </p:sp>
      <p:sp>
        <p:nvSpPr>
          <p:cNvPr id="4" name="Checklist livro @a1f"/>
          <p:cNvSpPr/>
          <p:nvPr/>
        </p:nvSpPr>
        <p:spPr>
          <a:xfrm>
            <a:off x="640080" y="1691640"/>
            <a:ext cx="658368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5" name="Icone livro @a1f" descr="led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548640" cy="548640"/>
          </a:xfrm>
          <a:prstGeom prst="rect">
            <a:avLst/>
          </a:prstGeom>
        </p:spPr>
      </p:pic>
      <p:sp>
        <p:nvSpPr>
          <p:cNvPr id="6" name="Titulo checklist @a1f"/>
          <p:cNvSpPr txBox="1"/>
          <p:nvPr/>
        </p:nvSpPr>
        <p:spPr>
          <a:xfrm>
            <a:off x="1600200" y="1874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 REGISTRO PRECISA TER</a:t>
            </a:r>
            <a:endParaRPr lang="en-US" sz="1300" dirty="0"/>
          </a:p>
        </p:txBody>
      </p:sp>
      <p:pic>
        <p:nvPicPr>
          <p:cNvPr id="7" name="Check @a1u.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24912"/>
            <a:ext cx="310896" cy="310896"/>
          </a:xfrm>
          <a:prstGeom prst="rect">
            <a:avLst/>
          </a:prstGeom>
        </p:spPr>
      </p:pic>
      <p:sp>
        <p:nvSpPr>
          <p:cNvPr id="8" name="Item @a1u.1"/>
          <p:cNvSpPr txBox="1"/>
          <p:nvPr/>
        </p:nvSpPr>
        <p:spPr>
          <a:xfrm>
            <a:off x="1371600" y="26974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Data e hora</a:t>
            </a:r>
            <a:endParaRPr lang="en-US" sz="1400" dirty="0"/>
          </a:p>
        </p:txBody>
      </p:sp>
      <p:pic>
        <p:nvPicPr>
          <p:cNvPr id="9" name="Check @a1u.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10712"/>
            <a:ext cx="310896" cy="310896"/>
          </a:xfrm>
          <a:prstGeom prst="rect">
            <a:avLst/>
          </a:prstGeom>
        </p:spPr>
      </p:pic>
      <p:sp>
        <p:nvSpPr>
          <p:cNvPr id="10" name="Item @a1u.2"/>
          <p:cNvSpPr txBox="1"/>
          <p:nvPr/>
        </p:nvSpPr>
        <p:spPr>
          <a:xfrm>
            <a:off x="1371600" y="3383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Nome e matrícula</a:t>
            </a:r>
            <a:endParaRPr lang="en-US" sz="1400" dirty="0"/>
          </a:p>
        </p:txBody>
      </p:sp>
      <p:pic>
        <p:nvPicPr>
          <p:cNvPr id="11" name="Check @a1u.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96512"/>
            <a:ext cx="310896" cy="310896"/>
          </a:xfrm>
          <a:prstGeom prst="rect">
            <a:avLst/>
          </a:prstGeom>
        </p:spPr>
      </p:pic>
      <p:sp>
        <p:nvSpPr>
          <p:cNvPr id="12" name="Item @a1u.3"/>
          <p:cNvSpPr txBox="1"/>
          <p:nvPr/>
        </p:nvSpPr>
        <p:spPr>
          <a:xfrm>
            <a:off x="1371600" y="4069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Setor e turno</a:t>
            </a:r>
            <a:endParaRPr lang="en-US" sz="1400" dirty="0"/>
          </a:p>
        </p:txBody>
      </p:sp>
      <p:pic>
        <p:nvPicPr>
          <p:cNvPr id="13" name="Check @a1u.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782312"/>
            <a:ext cx="310896" cy="310896"/>
          </a:xfrm>
          <a:prstGeom prst="rect">
            <a:avLst/>
          </a:prstGeom>
        </p:spPr>
      </p:pic>
      <p:sp>
        <p:nvSpPr>
          <p:cNvPr id="14" name="Item @a1u.4"/>
          <p:cNvSpPr txBox="1"/>
          <p:nvPr/>
        </p:nvSpPr>
        <p:spPr>
          <a:xfrm>
            <a:off x="1371600" y="4754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Motivo da saída</a:t>
            </a:r>
            <a:endParaRPr lang="en-US" sz="1400" dirty="0"/>
          </a:p>
        </p:txBody>
      </p:sp>
      <p:pic>
        <p:nvPicPr>
          <p:cNvPr id="15" name="Check @a1u.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2724912"/>
            <a:ext cx="310896" cy="310896"/>
          </a:xfrm>
          <a:prstGeom prst="rect">
            <a:avLst/>
          </a:prstGeom>
        </p:spPr>
      </p:pic>
      <p:sp>
        <p:nvSpPr>
          <p:cNvPr id="16" name="Item @a1u.5"/>
          <p:cNvSpPr txBox="1"/>
          <p:nvPr/>
        </p:nvSpPr>
        <p:spPr>
          <a:xfrm>
            <a:off x="4526280" y="26974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Quem atendeu (BC) e o que fez</a:t>
            </a:r>
            <a:endParaRPr lang="en-US" sz="1400" dirty="0"/>
          </a:p>
        </p:txBody>
      </p:sp>
      <p:pic>
        <p:nvPicPr>
          <p:cNvPr id="17" name="Check @a1u.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410712"/>
            <a:ext cx="310896" cy="310896"/>
          </a:xfrm>
          <a:prstGeom prst="rect">
            <a:avLst/>
          </a:prstGeom>
        </p:spPr>
      </p:pic>
      <p:sp>
        <p:nvSpPr>
          <p:cNvPr id="18" name="Item @a1u.6"/>
          <p:cNvSpPr txBox="1"/>
          <p:nvPr/>
        </p:nvSpPr>
        <p:spPr>
          <a:xfrm>
            <a:off x="4526280" y="3383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Quem autorizou a saída</a:t>
            </a:r>
            <a:endParaRPr lang="en-US" sz="1400" dirty="0"/>
          </a:p>
        </p:txBody>
      </p:sp>
      <p:pic>
        <p:nvPicPr>
          <p:cNvPr id="19" name="Check @a1u.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4096512"/>
            <a:ext cx="310896" cy="310896"/>
          </a:xfrm>
          <a:prstGeom prst="rect">
            <a:avLst/>
          </a:prstGeom>
        </p:spPr>
      </p:pic>
      <p:sp>
        <p:nvSpPr>
          <p:cNvPr id="20" name="Item @a1u.7"/>
          <p:cNvSpPr txBox="1"/>
          <p:nvPr/>
        </p:nvSpPr>
        <p:spPr>
          <a:xfrm>
            <a:off x="4526280" y="4069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Encaminhamento (casa, UPA, hospital)</a:t>
            </a:r>
            <a:endParaRPr lang="en-US" sz="1400" dirty="0"/>
          </a:p>
        </p:txBody>
      </p:sp>
      <p:pic>
        <p:nvPicPr>
          <p:cNvPr id="21" name="Check @a1u.8" descr="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0" y="4782312"/>
            <a:ext cx="310896" cy="310896"/>
          </a:xfrm>
          <a:prstGeom prst="rect">
            <a:avLst/>
          </a:prstGeom>
        </p:spPr>
      </p:pic>
      <p:sp>
        <p:nvSpPr>
          <p:cNvPr id="22" name="Item @a1u.8"/>
          <p:cNvSpPr txBox="1"/>
          <p:nvPr/>
        </p:nvSpPr>
        <p:spPr>
          <a:xfrm>
            <a:off x="4526280" y="4754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Assinaturas do líder e do BC</a:t>
            </a:r>
            <a:endParaRPr lang="en-US" sz="1400" dirty="0"/>
          </a:p>
        </p:txBody>
      </p:sp>
      <p:sp>
        <p:nvSpPr>
          <p:cNvPr id="23" name="Acidente @a2z"/>
          <p:cNvSpPr/>
          <p:nvPr/>
        </p:nvSpPr>
        <p:spPr>
          <a:xfrm>
            <a:off x="7498080" y="1691640"/>
            <a:ext cx="4053535" cy="2514600"/>
          </a:xfrm>
          <a:prstGeom prst="roundRect">
            <a:avLst>
              <a:gd name="adj" fmla="val 4364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4" name="Rotulo acidente @a2z"/>
          <p:cNvSpPr txBox="1"/>
          <p:nvPr/>
        </p:nvSpPr>
        <p:spPr>
          <a:xfrm>
            <a:off x="7772400" y="1920240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ACIDENTE DE TRABALHO</a:t>
            </a:r>
            <a:endParaRPr lang="en-US" sz="1200" dirty="0"/>
          </a:p>
        </p:txBody>
      </p:sp>
      <p:sp>
        <p:nvSpPr>
          <p:cNvPr id="25" name="Texto acidente @a2z"/>
          <p:cNvSpPr txBox="1"/>
          <p:nvPr/>
        </p:nvSpPr>
        <p:spPr>
          <a:xfrm>
            <a:off x="7772400" y="2286000"/>
            <a:ext cx="3504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A empresa deve emitir a CAT até o 1º dia útil seguinte — em caso de morte, imediatamente.</a:t>
            </a:r>
            <a:endParaRPr lang="en-US" sz="1600" dirty="0"/>
          </a:p>
        </p:txBody>
      </p:sp>
      <p:sp>
        <p:nvSpPr>
          <p:cNvPr id="26" name="Fonte acidente @a2z"/>
          <p:cNvSpPr txBox="1"/>
          <p:nvPr/>
        </p:nvSpPr>
        <p:spPr>
          <a:xfrm>
            <a:off x="7772400" y="3703320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Lei 8.213/91, art. 22</a:t>
            </a:r>
            <a:endParaRPr lang="en-US" sz="1100" dirty="0"/>
          </a:p>
        </p:txBody>
      </p:sp>
      <p:sp>
        <p:nvSpPr>
          <p:cNvPr id="27" name="Por que registrar @a3u"/>
          <p:cNvSpPr/>
          <p:nvPr/>
        </p:nvSpPr>
        <p:spPr>
          <a:xfrm>
            <a:off x="7498080" y="4389120"/>
            <a:ext cx="4053535" cy="1325880"/>
          </a:xfrm>
          <a:prstGeom prst="roundRect">
            <a:avLst>
              <a:gd name="adj" fmla="val 8276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28" name="Texto por que @a3u"/>
          <p:cNvSpPr txBox="1"/>
          <p:nvPr/>
        </p:nvSpPr>
        <p:spPr>
          <a:xfrm>
            <a:off x="7772400" y="4480560"/>
            <a:ext cx="3504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Por que registrar?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Protege o colaborador, o líder e a empresa — e permite investigar para não repetir.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1 · EPI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EPI: entregar certo é obrigação</a:t>
            </a:r>
            <a:endParaRPr lang="en-US" sz="3200" dirty="0"/>
          </a:p>
        </p:txBody>
      </p:sp>
      <p:sp>
        <p:nvSpPr>
          <p:cNvPr id="4" name="Faixa EPI @a1f"/>
          <p:cNvSpPr/>
          <p:nvPr/>
        </p:nvSpPr>
        <p:spPr>
          <a:xfrm>
            <a:off x="640080" y="1536192"/>
            <a:ext cx="10911535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5" name="EPI Capacete @a1z.1" descr="hard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327" y="1627632"/>
            <a:ext cx="768096" cy="768096"/>
          </a:xfrm>
          <a:prstGeom prst="rect">
            <a:avLst/>
          </a:prstGeom>
        </p:spPr>
      </p:pic>
      <p:sp>
        <p:nvSpPr>
          <p:cNvPr id="6" name="Nome EPI @a1z.1"/>
          <p:cNvSpPr txBox="1"/>
          <p:nvPr/>
        </p:nvSpPr>
        <p:spPr>
          <a:xfrm>
            <a:off x="685800" y="2450592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Capacete</a:t>
            </a:r>
            <a:endParaRPr lang="en-US" sz="1200" dirty="0"/>
          </a:p>
        </p:txBody>
      </p:sp>
      <p:pic>
        <p:nvPicPr>
          <p:cNvPr id="7" name="EPI Óculos @a1z.2" descr="gogg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916" y="1627632"/>
            <a:ext cx="768096" cy="768096"/>
          </a:xfrm>
          <a:prstGeom prst="rect">
            <a:avLst/>
          </a:prstGeom>
        </p:spPr>
      </p:pic>
      <p:sp>
        <p:nvSpPr>
          <p:cNvPr id="8" name="Nome EPI @a1z.2"/>
          <p:cNvSpPr txBox="1"/>
          <p:nvPr/>
        </p:nvSpPr>
        <p:spPr>
          <a:xfrm>
            <a:off x="2504389" y="2450592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Óculos</a:t>
            </a:r>
            <a:endParaRPr lang="en-US" sz="1200" dirty="0"/>
          </a:p>
        </p:txBody>
      </p:sp>
      <p:pic>
        <p:nvPicPr>
          <p:cNvPr id="9" name="EPI Protetor auricular @a1z.3" descr="head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505" y="1627632"/>
            <a:ext cx="768096" cy="768096"/>
          </a:xfrm>
          <a:prstGeom prst="rect">
            <a:avLst/>
          </a:prstGeom>
        </p:spPr>
      </p:pic>
      <p:sp>
        <p:nvSpPr>
          <p:cNvPr id="10" name="Nome EPI @a1z.3"/>
          <p:cNvSpPr txBox="1"/>
          <p:nvPr/>
        </p:nvSpPr>
        <p:spPr>
          <a:xfrm>
            <a:off x="4322978" y="2450592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Protetor auricular</a:t>
            </a:r>
            <a:endParaRPr lang="en-US" sz="1200" dirty="0"/>
          </a:p>
        </p:txBody>
      </p:sp>
      <p:pic>
        <p:nvPicPr>
          <p:cNvPr id="11" name="EPI Luvas @a1z.4" descr="glov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094" y="1627632"/>
            <a:ext cx="768096" cy="768096"/>
          </a:xfrm>
          <a:prstGeom prst="rect">
            <a:avLst/>
          </a:prstGeom>
        </p:spPr>
      </p:pic>
      <p:sp>
        <p:nvSpPr>
          <p:cNvPr id="12" name="Nome EPI @a1z.4"/>
          <p:cNvSpPr txBox="1"/>
          <p:nvPr/>
        </p:nvSpPr>
        <p:spPr>
          <a:xfrm>
            <a:off x="6141568" y="2450592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Luvas</a:t>
            </a:r>
            <a:endParaRPr lang="en-US" sz="1200" dirty="0"/>
          </a:p>
        </p:txBody>
      </p:sp>
      <p:pic>
        <p:nvPicPr>
          <p:cNvPr id="13" name="EPI Calçado de segurança @a1z.5" descr="bo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683" y="1627632"/>
            <a:ext cx="768096" cy="768096"/>
          </a:xfrm>
          <a:prstGeom prst="rect">
            <a:avLst/>
          </a:prstGeom>
        </p:spPr>
      </p:pic>
      <p:sp>
        <p:nvSpPr>
          <p:cNvPr id="14" name="Nome EPI @a1z.5"/>
          <p:cNvSpPr txBox="1"/>
          <p:nvPr/>
        </p:nvSpPr>
        <p:spPr>
          <a:xfrm>
            <a:off x="7960157" y="2450592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Calçado de segurança</a:t>
            </a:r>
            <a:endParaRPr lang="en-US" sz="1200" dirty="0"/>
          </a:p>
        </p:txBody>
      </p:sp>
      <p:pic>
        <p:nvPicPr>
          <p:cNvPr id="15" name="EPI Colete refletivo @a1z.6" descr="ves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8273" y="1627632"/>
            <a:ext cx="768096" cy="768096"/>
          </a:xfrm>
          <a:prstGeom prst="rect">
            <a:avLst/>
          </a:prstGeom>
        </p:spPr>
      </p:pic>
      <p:sp>
        <p:nvSpPr>
          <p:cNvPr id="16" name="Nome EPI @a1z.6"/>
          <p:cNvSpPr txBox="1"/>
          <p:nvPr/>
        </p:nvSpPr>
        <p:spPr>
          <a:xfrm>
            <a:off x="9778746" y="2450592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Colete refletivo</a:t>
            </a:r>
            <a:endParaRPr lang="en-US" sz="1200" dirty="0"/>
          </a:p>
        </p:txBody>
      </p:sp>
      <p:sp>
        <p:nvSpPr>
          <p:cNvPr id="17" name="Nota EPI @a1f"/>
          <p:cNvSpPr txBox="1"/>
          <p:nvPr/>
        </p:nvSpPr>
        <p:spPr>
          <a:xfrm>
            <a:off x="640080" y="296265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Os EPIs de cada função seguem a avaliação de riscos (PGR).</a:t>
            </a:r>
            <a:endParaRPr lang="en-US" sz="1100" dirty="0"/>
          </a:p>
        </p:txBody>
      </p:sp>
      <p:sp>
        <p:nvSpPr>
          <p:cNvPr id="18" name="Coluna EPI @a2u"/>
          <p:cNvSpPr/>
          <p:nvPr/>
        </p:nvSpPr>
        <p:spPr>
          <a:xfrm>
            <a:off x="640080" y="3310128"/>
            <a:ext cx="5318608" cy="2487168"/>
          </a:xfrm>
          <a:prstGeom prst="roundRect">
            <a:avLst>
              <a:gd name="adj" fmla="val 4412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19" name="Titulo coluna @a2u"/>
          <p:cNvSpPr txBox="1"/>
          <p:nvPr/>
        </p:nvSpPr>
        <p:spPr>
          <a:xfrm>
            <a:off x="914400" y="34930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 EMPRESA DEVE  ·  NR-6, 6.5.1</a:t>
            </a:r>
            <a:endParaRPr lang="en-US" sz="1200" dirty="0"/>
          </a:p>
        </p:txBody>
      </p:sp>
      <p:sp>
        <p:nvSpPr>
          <p:cNvPr id="20" name="Lista coluna @a2u"/>
          <p:cNvSpPr txBox="1"/>
          <p:nvPr/>
        </p:nvSpPr>
        <p:spPr>
          <a:xfrm>
            <a:off x="914400" y="3858768"/>
            <a:ext cx="476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Fornecer de graça, adequado ao risco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Orientar e treinar o uso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Registrar a entrega (ficha, livro ou sistema)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Exigir o uso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Substituir se danificar ou extraviar</a:t>
            </a:r>
            <a:endParaRPr lang="en-US" sz="1400" dirty="0"/>
          </a:p>
        </p:txBody>
      </p:sp>
      <p:sp>
        <p:nvSpPr>
          <p:cNvPr id="21" name="Coluna EPI @a3u"/>
          <p:cNvSpPr/>
          <p:nvPr/>
        </p:nvSpPr>
        <p:spPr>
          <a:xfrm>
            <a:off x="6233008" y="3310128"/>
            <a:ext cx="5318608" cy="2487168"/>
          </a:xfrm>
          <a:prstGeom prst="roundRect">
            <a:avLst>
              <a:gd name="adj" fmla="val 4412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22" name="Titulo coluna @a3u"/>
          <p:cNvSpPr txBox="1"/>
          <p:nvPr/>
        </p:nvSpPr>
        <p:spPr>
          <a:xfrm>
            <a:off x="6507328" y="34930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O COLABORADOR DEVE  ·  NR-6, 6.6.1</a:t>
            </a:r>
            <a:endParaRPr lang="en-US" sz="1200" dirty="0"/>
          </a:p>
        </p:txBody>
      </p:sp>
      <p:sp>
        <p:nvSpPr>
          <p:cNvPr id="23" name="Lista coluna @a3u"/>
          <p:cNvSpPr txBox="1"/>
          <p:nvPr/>
        </p:nvSpPr>
        <p:spPr>
          <a:xfrm>
            <a:off x="6507328" y="3858768"/>
            <a:ext cx="476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o EPI fornecido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só para a finalidade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Guardar e conservar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Avisar se danificar ou perder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Cumprir as orientações de uso</a:t>
            </a:r>
            <a:endParaRPr lang="en-US" sz="1400" dirty="0"/>
          </a:p>
        </p:txBody>
      </p:sp>
      <p:sp>
        <p:nvSpPr>
          <p:cNvPr id="24" name="Alerta ficha @a4f"/>
          <p:cNvSpPr txBox="1"/>
          <p:nvPr/>
        </p:nvSpPr>
        <p:spPr>
          <a:xfrm>
            <a:off x="640080" y="5897880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EPI entregue sem assinatura na ficha é EPI que, no papel, nunca foi entregue.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1 · EPI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Fiscalizar é rotina, não perseguição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QUANDO OLHAR</a:t>
            </a:r>
            <a:endParaRPr lang="en-US" sz="1200" dirty="0"/>
          </a:p>
        </p:txBody>
      </p:sp>
      <p:sp>
        <p:nvSpPr>
          <p:cNvPr id="5" name="Momento @a1u.0"/>
          <p:cNvSpPr/>
          <p:nvPr/>
        </p:nvSpPr>
        <p:spPr>
          <a:xfrm>
            <a:off x="640080" y="196596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6" name="Icone momento @a1u.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84832"/>
            <a:ext cx="548640" cy="548640"/>
          </a:xfrm>
          <a:prstGeom prst="rect">
            <a:avLst/>
          </a:prstGeom>
        </p:spPr>
      </p:pic>
      <p:sp>
        <p:nvSpPr>
          <p:cNvPr id="7" name="Texto momento @a1u.0"/>
          <p:cNvSpPr txBox="1"/>
          <p:nvPr/>
        </p:nvSpPr>
        <p:spPr>
          <a:xfrm>
            <a:off x="1508760" y="20391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início do turno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Confira o EPI de todos durante o DDS.</a:t>
            </a:r>
            <a:endParaRPr lang="en-US" sz="1500" dirty="0"/>
          </a:p>
        </p:txBody>
      </p:sp>
      <p:sp>
        <p:nvSpPr>
          <p:cNvPr id="8" name="Momento @a1u.1"/>
          <p:cNvSpPr/>
          <p:nvPr/>
        </p:nvSpPr>
        <p:spPr>
          <a:xfrm>
            <a:off x="640080" y="288036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9" name="Icone momento @a1u.1" descr="wal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99232"/>
            <a:ext cx="548640" cy="548640"/>
          </a:xfrm>
          <a:prstGeom prst="rect">
            <a:avLst/>
          </a:prstGeom>
        </p:spPr>
      </p:pic>
      <p:sp>
        <p:nvSpPr>
          <p:cNvPr id="10" name="Texto momento @a1u.1"/>
          <p:cNvSpPr txBox="1"/>
          <p:nvPr/>
        </p:nvSpPr>
        <p:spPr>
          <a:xfrm>
            <a:off x="1508760" y="29535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Durante a operação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Faça rondas nos pontos de maior risco.</a:t>
            </a:r>
            <a:endParaRPr lang="en-US" sz="1500" dirty="0"/>
          </a:p>
        </p:txBody>
      </p:sp>
      <p:sp>
        <p:nvSpPr>
          <p:cNvPr id="11" name="Momento @a1u.2"/>
          <p:cNvSpPr/>
          <p:nvPr/>
        </p:nvSpPr>
        <p:spPr>
          <a:xfrm>
            <a:off x="640080" y="379476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2" name="Icone momento @a1u.2" descr="work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13632"/>
            <a:ext cx="548640" cy="548640"/>
          </a:xfrm>
          <a:prstGeom prst="rect">
            <a:avLst/>
          </a:prstGeom>
        </p:spPr>
      </p:pic>
      <p:sp>
        <p:nvSpPr>
          <p:cNvPr id="13" name="Texto momento @a1u.2"/>
          <p:cNvSpPr txBox="1"/>
          <p:nvPr/>
        </p:nvSpPr>
        <p:spPr>
          <a:xfrm>
            <a:off x="1508760" y="38679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 troca de atividade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Tarefa nova pode exigir EPI diferente.</a:t>
            </a:r>
            <a:endParaRPr lang="en-US" sz="1500" dirty="0"/>
          </a:p>
        </p:txBody>
      </p:sp>
      <p:sp>
        <p:nvSpPr>
          <p:cNvPr id="14" name="Frase autoriza @c3f"/>
          <p:cNvSpPr txBox="1"/>
          <p:nvPr/>
        </p:nvSpPr>
        <p:spPr>
          <a:xfrm>
            <a:off x="640080" y="4983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Quem vê e não corrige, autoriza.</a:t>
            </a:r>
            <a:endParaRPr lang="en-US" sz="2400" dirty="0"/>
          </a:p>
        </p:txBody>
      </p:sp>
      <p:sp>
        <p:nvSpPr>
          <p:cNvPr id="15" name="Aja na hora @c1u"/>
          <p:cNvSpPr/>
          <p:nvPr/>
        </p:nvSpPr>
        <p:spPr>
          <a:xfrm>
            <a:off x="6126480" y="1600200"/>
            <a:ext cx="5425135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16" name="Titulo aja @c1u"/>
          <p:cNvSpPr txBox="1"/>
          <p:nvPr/>
        </p:nvSpPr>
        <p:spPr>
          <a:xfrm>
            <a:off x="6400800" y="178308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VIU SEM EPI? AJA NA HORA</a:t>
            </a:r>
            <a:endParaRPr lang="en-US" sz="1200" dirty="0"/>
          </a:p>
        </p:txBody>
      </p:sp>
      <p:sp>
        <p:nvSpPr>
          <p:cNvPr id="17" name="Num aja @c1u.1"/>
          <p:cNvSpPr txBox="1"/>
          <p:nvPr/>
        </p:nvSpPr>
        <p:spPr>
          <a:xfrm>
            <a:off x="6400800" y="2212848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Passo aja @c1u.1"/>
          <p:cNvSpPr txBox="1"/>
          <p:nvPr/>
        </p:nvSpPr>
        <p:spPr>
          <a:xfrm>
            <a:off x="6903720" y="2212848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Pare a atividade, com respeito (CNV)</a:t>
            </a:r>
            <a:endParaRPr lang="en-US" sz="1500" dirty="0"/>
          </a:p>
        </p:txBody>
      </p:sp>
      <p:sp>
        <p:nvSpPr>
          <p:cNvPr id="19" name="Num aja @c1u.2"/>
          <p:cNvSpPr txBox="1"/>
          <p:nvPr/>
        </p:nvSpPr>
        <p:spPr>
          <a:xfrm>
            <a:off x="6400800" y="2761488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Passo aja @c1u.2"/>
          <p:cNvSpPr txBox="1"/>
          <p:nvPr/>
        </p:nvSpPr>
        <p:spPr>
          <a:xfrm>
            <a:off x="6903720" y="2761488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Corrija e oriente na hora</a:t>
            </a:r>
            <a:endParaRPr lang="en-US" sz="1500" dirty="0"/>
          </a:p>
        </p:txBody>
      </p:sp>
      <p:sp>
        <p:nvSpPr>
          <p:cNvPr id="21" name="Num aja @c1u.3"/>
          <p:cNvSpPr txBox="1"/>
          <p:nvPr/>
        </p:nvSpPr>
        <p:spPr>
          <a:xfrm>
            <a:off x="6400800" y="3310128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Passo aja @c1u.3"/>
          <p:cNvSpPr txBox="1"/>
          <p:nvPr/>
        </p:nvSpPr>
        <p:spPr>
          <a:xfrm>
            <a:off x="6903720" y="3310128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Registre a orientação</a:t>
            </a:r>
            <a:endParaRPr lang="en-US" sz="1500" dirty="0"/>
          </a:p>
        </p:txBody>
      </p:sp>
      <p:sp>
        <p:nvSpPr>
          <p:cNvPr id="23" name="Num aja @c1u.4"/>
          <p:cNvSpPr txBox="1"/>
          <p:nvPr/>
        </p:nvSpPr>
        <p:spPr>
          <a:xfrm>
            <a:off x="6400800" y="3858768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Passo aja @c1u.4"/>
          <p:cNvSpPr txBox="1"/>
          <p:nvPr/>
        </p:nvSpPr>
        <p:spPr>
          <a:xfrm>
            <a:off x="6903720" y="3858768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Reincidência: medida disciplinar</a:t>
            </a:r>
            <a:endParaRPr lang="en-US" sz="1500" dirty="0"/>
          </a:p>
        </p:txBody>
      </p:sp>
      <p:sp>
        <p:nvSpPr>
          <p:cNvPr id="25" name="CLT @c2z"/>
          <p:cNvSpPr/>
          <p:nvPr/>
        </p:nvSpPr>
        <p:spPr>
          <a:xfrm>
            <a:off x="6126480" y="4617720"/>
            <a:ext cx="5425135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6" name="Texto CLT @c2z"/>
          <p:cNvSpPr txBox="1"/>
          <p:nvPr/>
        </p:nvSpPr>
        <p:spPr>
          <a:xfrm>
            <a:off x="6400800" y="4681728"/>
            <a:ext cx="48764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Recusar o uso de EPI sem justificativa é ato faltoso.</a:t>
            </a:r>
            <a:endParaRPr lang="en-US" sz="15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CLT, art. 158, parágrafo único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1 · ENTREGA DE MEDICAMENTOS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Medicamento: só pelo BC, sempre com registro</a:t>
            </a:r>
            <a:endParaRPr lang="en-US" sz="3200" dirty="0"/>
          </a:p>
        </p:txBody>
      </p:sp>
      <p:sp>
        <p:nvSpPr>
          <p:cNvPr id="4" name="Regra @a2u.0"/>
          <p:cNvSpPr/>
          <p:nvPr/>
        </p:nvSpPr>
        <p:spPr>
          <a:xfrm>
            <a:off x="640080" y="1691640"/>
            <a:ext cx="676656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</p:spPr>
      </p:sp>
      <p:pic>
        <p:nvPicPr>
          <p:cNvPr id="5" name="Icone regra @a2u.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92224"/>
            <a:ext cx="347472" cy="347472"/>
          </a:xfrm>
          <a:prstGeom prst="rect">
            <a:avLst/>
          </a:prstGeom>
        </p:spPr>
      </p:pic>
      <p:sp>
        <p:nvSpPr>
          <p:cNvPr id="6" name="Texto regra @a2u.0"/>
          <p:cNvSpPr txBox="1"/>
          <p:nvPr/>
        </p:nvSpPr>
        <p:spPr>
          <a:xfrm>
            <a:off x="1280160" y="169164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Quem entrega é o BC de plantão (ou quem o SESMT definir).</a:t>
            </a:r>
            <a:endParaRPr lang="en-US" sz="1450" dirty="0"/>
          </a:p>
        </p:txBody>
      </p:sp>
      <p:sp>
        <p:nvSpPr>
          <p:cNvPr id="7" name="Regra @a2u.1"/>
          <p:cNvSpPr/>
          <p:nvPr/>
        </p:nvSpPr>
        <p:spPr>
          <a:xfrm>
            <a:off x="640080" y="2350008"/>
            <a:ext cx="676656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</p:spPr>
      </p:sp>
      <p:pic>
        <p:nvPicPr>
          <p:cNvPr id="8" name="Icone regra @a2u.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50592"/>
            <a:ext cx="347472" cy="347472"/>
          </a:xfrm>
          <a:prstGeom prst="rect">
            <a:avLst/>
          </a:prstGeom>
        </p:spPr>
      </p:pic>
      <p:sp>
        <p:nvSpPr>
          <p:cNvPr id="9" name="Texto regra @a2u.1"/>
          <p:cNvSpPr txBox="1"/>
          <p:nvPr/>
        </p:nvSpPr>
        <p:spPr>
          <a:xfrm>
            <a:off x="1280160" y="235000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Antes, pergunte sobre alergias e outros remédios em uso.</a:t>
            </a:r>
            <a:endParaRPr lang="en-US" sz="1450" dirty="0"/>
          </a:p>
        </p:txBody>
      </p:sp>
      <p:sp>
        <p:nvSpPr>
          <p:cNvPr id="10" name="Regra @a2u.2"/>
          <p:cNvSpPr/>
          <p:nvPr/>
        </p:nvSpPr>
        <p:spPr>
          <a:xfrm>
            <a:off x="640080" y="3008376"/>
            <a:ext cx="676656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</p:spPr>
      </p:sp>
      <p:pic>
        <p:nvPicPr>
          <p:cNvPr id="11" name="Icone regra @a2u.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08960"/>
            <a:ext cx="347472" cy="347472"/>
          </a:xfrm>
          <a:prstGeom prst="rect">
            <a:avLst/>
          </a:prstGeom>
        </p:spPr>
      </p:pic>
      <p:sp>
        <p:nvSpPr>
          <p:cNvPr id="12" name="Texto regra @a2u.2"/>
          <p:cNvSpPr txBox="1"/>
          <p:nvPr/>
        </p:nvSpPr>
        <p:spPr>
          <a:xfrm>
            <a:off x="1280160" y="300837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Registre: nome, matrícula, horário, queixa, remédio e dose.</a:t>
            </a:r>
            <a:endParaRPr lang="en-US" sz="1450" dirty="0"/>
          </a:p>
        </p:txBody>
      </p:sp>
      <p:sp>
        <p:nvSpPr>
          <p:cNvPr id="13" name="Regra @a2u.3"/>
          <p:cNvSpPr/>
          <p:nvPr/>
        </p:nvSpPr>
        <p:spPr>
          <a:xfrm>
            <a:off x="640080" y="3666744"/>
            <a:ext cx="676656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</p:spPr>
      </p:sp>
      <p:pic>
        <p:nvPicPr>
          <p:cNvPr id="14" name="Icone regra @a2u.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67328"/>
            <a:ext cx="347472" cy="347472"/>
          </a:xfrm>
          <a:prstGeom prst="rect">
            <a:avLst/>
          </a:prstGeom>
        </p:spPr>
      </p:pic>
      <p:sp>
        <p:nvSpPr>
          <p:cNvPr id="15" name="Texto regra @a2u.3"/>
          <p:cNvSpPr txBox="1"/>
          <p:nvPr/>
        </p:nvSpPr>
        <p:spPr>
          <a:xfrm>
            <a:off x="1280160" y="3666744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Queixa repetida ou sintoma forte: encaminhar ao atendimento médico.</a:t>
            </a:r>
            <a:endParaRPr lang="en-US" sz="1450" dirty="0"/>
          </a:p>
        </p:txBody>
      </p:sp>
      <p:sp>
        <p:nvSpPr>
          <p:cNvPr id="16" name="Regra @a2u.4"/>
          <p:cNvSpPr/>
          <p:nvPr/>
        </p:nvSpPr>
        <p:spPr>
          <a:xfrm>
            <a:off x="640080" y="4325112"/>
            <a:ext cx="6766560" cy="548640"/>
          </a:xfrm>
          <a:prstGeom prst="roundRect">
            <a:avLst>
              <a:gd name="adj" fmla="val 20000"/>
            </a:avLst>
          </a:prstGeom>
          <a:solidFill>
            <a:schemeClr val="accent5">
              <a:alpha val="8000"/>
            </a:schemeClr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</p:spPr>
      </p:sp>
      <p:pic>
        <p:nvPicPr>
          <p:cNvPr id="17" name="Icone regra @a2u.4" descr="x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425696"/>
            <a:ext cx="347472" cy="347472"/>
          </a:xfrm>
          <a:prstGeom prst="rect">
            <a:avLst/>
          </a:prstGeom>
        </p:spPr>
      </p:pic>
      <p:sp>
        <p:nvSpPr>
          <p:cNvPr id="18" name="Texto regra @a2u.4"/>
          <p:cNvSpPr txBox="1"/>
          <p:nvPr/>
        </p:nvSpPr>
        <p:spPr>
          <a:xfrm>
            <a:off x="1280160" y="4325112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Líder não entrega remédio por conta própria — nem “o da bolsa”.</a:t>
            </a:r>
            <a:endParaRPr lang="en-US" sz="1450" dirty="0"/>
          </a:p>
        </p:txBody>
      </p:sp>
      <p:sp>
        <p:nvSpPr>
          <p:cNvPr id="19" name="Regra @a2u.5"/>
          <p:cNvSpPr/>
          <p:nvPr/>
        </p:nvSpPr>
        <p:spPr>
          <a:xfrm>
            <a:off x="640080" y="4983480"/>
            <a:ext cx="6766560" cy="548640"/>
          </a:xfrm>
          <a:prstGeom prst="roundRect">
            <a:avLst>
              <a:gd name="adj" fmla="val 20000"/>
            </a:avLst>
          </a:prstGeom>
          <a:solidFill>
            <a:schemeClr val="accent5">
              <a:alpha val="8000"/>
            </a:schemeClr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</p:spPr>
      </p:sp>
      <p:pic>
        <p:nvPicPr>
          <p:cNvPr id="20" name="Icone regra @a2u.5" descr="x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084064"/>
            <a:ext cx="347472" cy="347472"/>
          </a:xfrm>
          <a:prstGeom prst="rect">
            <a:avLst/>
          </a:prstGeom>
        </p:spPr>
      </p:pic>
      <p:sp>
        <p:nvSpPr>
          <p:cNvPr id="21" name="Texto regra @a2u.5"/>
          <p:cNvSpPr txBox="1"/>
          <p:nvPr/>
        </p:nvSpPr>
        <p:spPr>
          <a:xfrm>
            <a:off x="1280160" y="498348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Nada de remédio controlado ou que exige receita.</a:t>
            </a:r>
            <a:endParaRPr lang="en-US" sz="1450" dirty="0"/>
          </a:p>
        </p:txBody>
      </p:sp>
      <p:pic>
        <p:nvPicPr>
          <p:cNvPr id="22" name="Ilustracao medicamento @a1z" descr="/tmp/claude-0/-home-claude/5746e17e-ab87-5418-9566-46e1b5e96b03/scratchpad/pptx2/assets/hero-m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1645920"/>
            <a:ext cx="3657600" cy="3657600"/>
          </a:xfrm>
          <a:prstGeom prst="rect">
            <a:avLst/>
          </a:prstGeom>
        </p:spPr>
      </p:pic>
      <p:sp>
        <p:nvSpPr>
          <p:cNvPr id="23" name="Nota SESMT @a3f"/>
          <p:cNvSpPr txBox="1"/>
          <p:nvPr/>
        </p:nvSpPr>
        <p:spPr>
          <a:xfrm>
            <a:off x="640080" y="57607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chemeClr val="accent5"/>
                </a:solidFill>
              </a:rPr>
              <a:t>Siga sempre o procedimento do SESMT e do médico do trabalho da Bartofil.</a:t>
            </a:r>
            <a:endParaRPr lang="en-US" sz="125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1 · DDS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DDS: 10 minutos que protegem o turno</a:t>
            </a:r>
            <a:endParaRPr lang="en-US" sz="3200" dirty="0"/>
          </a:p>
        </p:txBody>
      </p:sp>
      <p:sp>
        <p:nvSpPr>
          <p:cNvPr id="4" name="Definicao DDS @a1u"/>
          <p:cNvSpPr txBox="1"/>
          <p:nvPr/>
        </p:nvSpPr>
        <p:spPr>
          <a:xfrm>
            <a:off x="640080" y="157276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5"/>
                </a:solidFill>
              </a:rPr>
              <a:t>Diálogo Diário de Segurança: conversa curta, no início do turno, sobre um risco real da operação.</a:t>
            </a:r>
            <a:endParaRPr lang="en-US" sz="1600" dirty="0"/>
          </a:p>
        </p:txBody>
      </p:sp>
      <p:sp>
        <p:nvSpPr>
          <p:cNvPr id="5" name="Etapa DDS @a2u.0"/>
          <p:cNvSpPr txBox="1"/>
          <p:nvPr/>
        </p:nvSpPr>
        <p:spPr>
          <a:xfrm>
            <a:off x="640080" y="2377440"/>
            <a:ext cx="1243584" cy="1097280"/>
          </a:xfrm>
          <a:prstGeom prst="roundRect">
            <a:avLst>
              <a:gd name="adj" fmla="val 8333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30000"/>
              </a:schemeClr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MIN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Abertura e presença</a:t>
            </a:r>
            <a:endParaRPr lang="en-US" sz="1200" dirty="0"/>
          </a:p>
        </p:txBody>
      </p:sp>
      <p:sp>
        <p:nvSpPr>
          <p:cNvPr id="6" name="Etapa DDS @a2u.1"/>
          <p:cNvSpPr txBox="1"/>
          <p:nvPr/>
        </p:nvSpPr>
        <p:spPr>
          <a:xfrm>
            <a:off x="1975104" y="2377440"/>
            <a:ext cx="1243584" cy="1097280"/>
          </a:xfrm>
          <a:prstGeom prst="roundRect">
            <a:avLst>
              <a:gd name="adj" fmla="val 8333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30000"/>
              </a:schemeClr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3 MIN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Tema do dia</a:t>
            </a:r>
            <a:endParaRPr lang="en-US" sz="1200" dirty="0"/>
          </a:p>
        </p:txBody>
      </p:sp>
      <p:sp>
        <p:nvSpPr>
          <p:cNvPr id="7" name="Etapa DDS @a2u.2"/>
          <p:cNvSpPr txBox="1"/>
          <p:nvPr/>
        </p:nvSpPr>
        <p:spPr>
          <a:xfrm>
            <a:off x="3310128" y="2377440"/>
            <a:ext cx="1243584" cy="1097280"/>
          </a:xfrm>
          <a:prstGeom prst="roundRect">
            <a:avLst>
              <a:gd name="adj" fmla="val 8333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30000"/>
              </a:schemeClr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2 MIN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Exemplo real do CD</a:t>
            </a:r>
            <a:endParaRPr lang="en-US" sz="1200" dirty="0"/>
          </a:p>
        </p:txBody>
      </p:sp>
      <p:sp>
        <p:nvSpPr>
          <p:cNvPr id="8" name="Etapa DDS @a2u.3"/>
          <p:cNvSpPr txBox="1"/>
          <p:nvPr/>
        </p:nvSpPr>
        <p:spPr>
          <a:xfrm>
            <a:off x="4645152" y="2377440"/>
            <a:ext cx="1243584" cy="1097280"/>
          </a:xfrm>
          <a:prstGeom prst="roundRect">
            <a:avLst>
              <a:gd name="adj" fmla="val 8333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30000"/>
              </a:schemeClr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2 MIN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Perguntas da equipe</a:t>
            </a:r>
            <a:endParaRPr lang="en-US" sz="1200" dirty="0"/>
          </a:p>
        </p:txBody>
      </p:sp>
      <p:sp>
        <p:nvSpPr>
          <p:cNvPr id="9" name="Etapa DDS @a2u.4"/>
          <p:cNvSpPr txBox="1"/>
          <p:nvPr/>
        </p:nvSpPr>
        <p:spPr>
          <a:xfrm>
            <a:off x="5980176" y="2377440"/>
            <a:ext cx="1243584" cy="1097280"/>
          </a:xfrm>
          <a:prstGeom prst="roundRect">
            <a:avLst>
              <a:gd name="adj" fmla="val 8333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30000"/>
              </a:schemeClr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2 MIN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Compromisso do dia</a:t>
            </a:r>
            <a:endParaRPr lang="en-US" sz="1200" dirty="0"/>
          </a:p>
        </p:txBody>
      </p:sp>
      <p:sp>
        <p:nvSpPr>
          <p:cNvPr id="10" name="NR-1 @a4u"/>
          <p:cNvSpPr/>
          <p:nvPr/>
        </p:nvSpPr>
        <p:spPr>
          <a:xfrm>
            <a:off x="640080" y="3749040"/>
            <a:ext cx="658368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" name="Texto NR-1 @a4u"/>
          <p:cNvSpPr txBox="1"/>
          <p:nvPr/>
        </p:nvSpPr>
        <p:spPr>
          <a:xfrm>
            <a:off x="914400" y="382219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</a:rPr>
              <a:t>A NR-1 exige informar os trabalhadores sobre os riscos e as medidas de prevenção.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2"/>
                </a:solidFill>
              </a:rPr>
              <a:t>A lista de presença é a prova de que isso aconteceu.</a:t>
            </a:r>
            <a:endParaRPr lang="en-US" sz="1500" dirty="0"/>
          </a:p>
        </p:txBody>
      </p:sp>
      <p:sp>
        <p:nvSpPr>
          <p:cNvPr id="12" name="Fonte NR-1 @a4u"/>
          <p:cNvSpPr txBox="1"/>
          <p:nvPr/>
        </p:nvSpPr>
        <p:spPr>
          <a:xfrm>
            <a:off x="914400" y="482803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NR-1, item 1.4.1</a:t>
            </a:r>
            <a:endParaRPr lang="en-US" sz="1050" dirty="0"/>
          </a:p>
        </p:txBody>
      </p:sp>
      <p:sp>
        <p:nvSpPr>
          <p:cNvPr id="13" name="Lista presenca @a3z"/>
          <p:cNvSpPr/>
          <p:nvPr/>
        </p:nvSpPr>
        <p:spPr>
          <a:xfrm>
            <a:off x="7543800" y="1572768"/>
            <a:ext cx="4007815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4" name="Icone lista @a3z" descr="e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737360"/>
            <a:ext cx="457200" cy="457200"/>
          </a:xfrm>
          <a:prstGeom prst="rect">
            <a:avLst/>
          </a:prstGeom>
        </p:spPr>
      </p:pic>
      <p:sp>
        <p:nvSpPr>
          <p:cNvPr id="15" name="Titulo lista @a3z"/>
          <p:cNvSpPr txBox="1"/>
          <p:nvPr/>
        </p:nvSpPr>
        <p:spPr>
          <a:xfrm>
            <a:off x="8321040" y="1737360"/>
            <a:ext cx="3001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LISTA DE PRESENÇA</a:t>
            </a:r>
            <a:endParaRPr lang="en-US" sz="1200" dirty="0"/>
          </a:p>
        </p:txBody>
      </p:sp>
      <p:sp>
        <p:nvSpPr>
          <p:cNvPr id="16" name="Campos lista @a3z"/>
          <p:cNvSpPr txBox="1"/>
          <p:nvPr/>
        </p:nvSpPr>
        <p:spPr>
          <a:xfrm>
            <a:off x="7772400" y="2286000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Data · Turno · Horário · Tema · Quem conduziu</a:t>
            </a:r>
            <a:endParaRPr lang="en-US" sz="1100" dirty="0"/>
          </a:p>
        </p:txBody>
      </p:sp>
      <p:graphicFrame>
        <p:nvGraphicFramePr>
          <p:cNvPr id="17" name="Tabela lista @a3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670048"/>
          <a:ext cx="3550615" cy="914400"/>
        </p:xfrm>
        <a:graphic>
          <a:graphicData uri="http://schemas.openxmlformats.org/drawingml/2006/table">
            <a:tbl>
              <a:tblPr/>
              <a:tblGrid>
                <a:gridCol w="1491258"/>
                <a:gridCol w="852148"/>
                <a:gridCol w="1207209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Nome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Matrícula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Assinatura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Nota apendice @a3z"/>
          <p:cNvSpPr txBox="1"/>
          <p:nvPr/>
        </p:nvSpPr>
        <p:spPr>
          <a:xfrm>
            <a:off x="7543800" y="5303520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Modelo para imprimir no apêndice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Graphic spid="17" grpId="0">
        <p:bldAsOne/>
      </p:bldGraphic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1 · BLUE SPOT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Blue spot: o aviso que chega antes da máquina</a:t>
            </a:r>
            <a:endParaRPr lang="en-US" sz="3200" dirty="0"/>
          </a:p>
        </p:txBody>
      </p:sp>
      <p:pic>
        <p:nvPicPr>
          <p:cNvPr id="4" name="Cena CD @a1f" descr="/tmp/claude-0/-home-claude/5746e17e-ab87-5418-9566-46e1b5e96b03/scratchpad/pptx2/assets/scene-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6766560" cy="3806190"/>
          </a:xfrm>
          <a:prstGeom prst="rect">
            <a:avLst/>
          </a:prstGeom>
        </p:spPr>
      </p:pic>
      <p:pic>
        <p:nvPicPr>
          <p:cNvPr id="5" name="Luz azul @a2f" descr="/tmp/claude-0/-home-claude/5746e17e-ab87-5418-9566-46e1b5e96b03/scratchpad/pptx2/assets/scen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6766560" cy="3806190"/>
          </a:xfrm>
          <a:prstGeom prst="rect">
            <a:avLst/>
          </a:prstGeom>
        </p:spPr>
      </p:pic>
      <p:sp>
        <p:nvSpPr>
          <p:cNvPr id="6" name="Etiqueta luz @a2u.2"/>
          <p:cNvSpPr txBox="1"/>
          <p:nvPr/>
        </p:nvSpPr>
        <p:spPr>
          <a:xfrm>
            <a:off x="4700016" y="4389349"/>
            <a:ext cx="155448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Luz azul no piso</a:t>
            </a:r>
            <a:endParaRPr lang="en-US" sz="1200" dirty="0"/>
          </a:p>
        </p:txBody>
      </p:sp>
      <p:sp>
        <p:nvSpPr>
          <p:cNvPr id="7" name="Etiqueta distancia @a2u.3"/>
          <p:cNvSpPr txBox="1"/>
          <p:nvPr/>
        </p:nvSpPr>
        <p:spPr>
          <a:xfrm>
            <a:off x="1181405" y="1801139"/>
            <a:ext cx="219456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 a 6 m à frente ou atrás</a:t>
            </a:r>
            <a:endParaRPr lang="en-US" sz="1200" dirty="0"/>
          </a:p>
        </p:txBody>
      </p:sp>
      <p:pic>
        <p:nvPicPr>
          <p:cNvPr id="8" name="Icone fato @a3u.0" descr="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45920"/>
            <a:ext cx="548640" cy="548640"/>
          </a:xfrm>
          <a:prstGeom prst="rect">
            <a:avLst/>
          </a:prstGeom>
        </p:spPr>
      </p:pic>
      <p:sp>
        <p:nvSpPr>
          <p:cNvPr id="9" name="Fato @a3u.0"/>
          <p:cNvSpPr txBox="1"/>
          <p:nvPr/>
        </p:nvSpPr>
        <p:spPr>
          <a:xfrm>
            <a:off x="8458200" y="1600200"/>
            <a:ext cx="3093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Projeta uma luz azul no piso, de 3 a 6 m à frente ou atrás da máquina.</a:t>
            </a:r>
            <a:endParaRPr lang="en-US" sz="1500" dirty="0"/>
          </a:p>
        </p:txBody>
      </p:sp>
      <p:pic>
        <p:nvPicPr>
          <p:cNvPr id="10" name="Icone fato @a3u.1" descr="e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926080"/>
            <a:ext cx="548640" cy="548640"/>
          </a:xfrm>
          <a:prstGeom prst="rect">
            <a:avLst/>
          </a:prstGeom>
        </p:spPr>
      </p:pic>
      <p:sp>
        <p:nvSpPr>
          <p:cNvPr id="11" name="Fato @a3u.1"/>
          <p:cNvSpPr txBox="1"/>
          <p:nvPr/>
        </p:nvSpPr>
        <p:spPr>
          <a:xfrm>
            <a:off x="8458200" y="2880360"/>
            <a:ext cx="3093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Funciona no barulho: o pedestre vê antes de ouvir.</a:t>
            </a:r>
            <a:endParaRPr lang="en-US" sz="1500" dirty="0"/>
          </a:p>
        </p:txBody>
      </p:sp>
      <p:pic>
        <p:nvPicPr>
          <p:cNvPr id="12" name="Icone fato @a3u.2" descr="targ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4206240"/>
            <a:ext cx="548640" cy="548640"/>
          </a:xfrm>
          <a:prstGeom prst="rect">
            <a:avLst/>
          </a:prstGeom>
        </p:spPr>
      </p:pic>
      <p:sp>
        <p:nvSpPr>
          <p:cNvPr id="13" name="Fato @a3u.2"/>
          <p:cNvSpPr txBox="1"/>
          <p:nvPr/>
        </p:nvSpPr>
        <p:spPr>
          <a:xfrm>
            <a:off x="8458200" y="4160520"/>
            <a:ext cx="3093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Mostra a direção da máquina — essencial nas elétricas, que são silenciosas.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640080" y="55321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Fonte: Raymond West, “Enhancing Workplace Safety with Blue Safety Lights for Forklifts” (2024) · Ilustração: blue spot em equipamento de movimentação</a:t>
            </a:r>
            <a:endParaRPr lang="en-US" sz="10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1 · BLUE SPOT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Regras para quem opera, quem anda e quem lidera</a:t>
            </a:r>
            <a:endParaRPr lang="en-US" sz="3200" dirty="0"/>
          </a:p>
        </p:txBody>
      </p:sp>
      <p:sp>
        <p:nvSpPr>
          <p:cNvPr id="4" name="Operador @a1u"/>
          <p:cNvSpPr/>
          <p:nvPr/>
        </p:nvSpPr>
        <p:spPr>
          <a:xfrm>
            <a:off x="640080" y="1645920"/>
            <a:ext cx="3454298" cy="4023360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5" name="Icone Operador @a1u" descr="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01952"/>
            <a:ext cx="731520" cy="731520"/>
          </a:xfrm>
          <a:prstGeom prst="rect">
            <a:avLst/>
          </a:prstGeom>
        </p:spPr>
      </p:pic>
      <p:sp>
        <p:nvSpPr>
          <p:cNvPr id="6" name="Titulo Operador @a1u"/>
          <p:cNvSpPr txBox="1"/>
          <p:nvPr/>
        </p:nvSpPr>
        <p:spPr>
          <a:xfrm>
            <a:off x="1783080" y="1901952"/>
            <a:ext cx="2082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Operador</a:t>
            </a:r>
            <a:endParaRPr lang="en-US" sz="2200" dirty="0"/>
          </a:p>
        </p:txBody>
      </p:sp>
      <p:sp>
        <p:nvSpPr>
          <p:cNvPr id="7" name="Regras Operador @a1u"/>
          <p:cNvSpPr txBox="1"/>
          <p:nvPr/>
        </p:nvSpPr>
        <p:spPr>
          <a:xfrm>
            <a:off x="914400" y="2880360"/>
            <a:ext cx="29056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Confere o blue spot no checklist pré-uso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Nunca desliga nem desvia a luz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Defeito? Avisa o líder na hora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Reduz e buzina nos cruzamentos</a:t>
            </a:r>
            <a:endParaRPr lang="en-US" sz="1450" dirty="0"/>
          </a:p>
        </p:txBody>
      </p:sp>
      <p:sp>
        <p:nvSpPr>
          <p:cNvPr id="8" name="Pedestre @a2u"/>
          <p:cNvSpPr/>
          <p:nvPr/>
        </p:nvSpPr>
        <p:spPr>
          <a:xfrm>
            <a:off x="4368698" y="1645920"/>
            <a:ext cx="3454298" cy="4023360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9" name="Icone Pedestre @a2u" descr="wal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018" y="1901952"/>
            <a:ext cx="731520" cy="731520"/>
          </a:xfrm>
          <a:prstGeom prst="rect">
            <a:avLst/>
          </a:prstGeom>
        </p:spPr>
      </p:pic>
      <p:sp>
        <p:nvSpPr>
          <p:cNvPr id="10" name="Titulo Pedestre @a2u"/>
          <p:cNvSpPr txBox="1"/>
          <p:nvPr/>
        </p:nvSpPr>
        <p:spPr>
          <a:xfrm>
            <a:off x="5511698" y="1901952"/>
            <a:ext cx="2082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Pedestre</a:t>
            </a:r>
            <a:endParaRPr lang="en-US" sz="2200" dirty="0"/>
          </a:p>
        </p:txBody>
      </p:sp>
      <p:sp>
        <p:nvSpPr>
          <p:cNvPr id="11" name="Regras Pedestre @a2u"/>
          <p:cNvSpPr txBox="1"/>
          <p:nvPr/>
        </p:nvSpPr>
        <p:spPr>
          <a:xfrm>
            <a:off x="4643018" y="2880360"/>
            <a:ext cx="29056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Viu a luz azul? Pare, olhe e espere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Faça contato visual com o operador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Nunca atravesse na frente da máquina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Use sempre a faixa de pedestre</a:t>
            </a:r>
            <a:endParaRPr lang="en-US" sz="1450" dirty="0"/>
          </a:p>
        </p:txBody>
      </p:sp>
      <p:sp>
        <p:nvSpPr>
          <p:cNvPr id="12" name="Líder @a3u"/>
          <p:cNvSpPr/>
          <p:nvPr/>
        </p:nvSpPr>
        <p:spPr>
          <a:xfrm>
            <a:off x="8097317" y="1645920"/>
            <a:ext cx="3454298" cy="4023360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3" name="Icone Líder @a3u" descr="lea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637" y="1901952"/>
            <a:ext cx="731520" cy="731520"/>
          </a:xfrm>
          <a:prstGeom prst="rect">
            <a:avLst/>
          </a:prstGeom>
        </p:spPr>
      </p:pic>
      <p:sp>
        <p:nvSpPr>
          <p:cNvPr id="14" name="Titulo Líder @a3u"/>
          <p:cNvSpPr txBox="1"/>
          <p:nvPr/>
        </p:nvSpPr>
        <p:spPr>
          <a:xfrm>
            <a:off x="9240317" y="1901952"/>
            <a:ext cx="2082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Líder</a:t>
            </a:r>
            <a:endParaRPr lang="en-US" sz="2200" dirty="0"/>
          </a:p>
        </p:txBody>
      </p:sp>
      <p:sp>
        <p:nvSpPr>
          <p:cNvPr id="15" name="Regras Líder @a3u"/>
          <p:cNvSpPr txBox="1"/>
          <p:nvPr/>
        </p:nvSpPr>
        <p:spPr>
          <a:xfrm>
            <a:off x="8371637" y="2880360"/>
            <a:ext cx="29056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Cobra o checklist no início do turno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Defeito: tira de uso, conforme a regra interna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Reforça o tema no DDS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Dá o exemplo na faixa</a:t>
            </a:r>
            <a:endParaRPr lang="en-US" sz="1450" dirty="0"/>
          </a:p>
        </p:txBody>
      </p:sp>
      <p:sp>
        <p:nvSpPr>
          <p:cNvPr id="16" name="Resumo blue @a4f"/>
          <p:cNvSpPr txBox="1"/>
          <p:nvPr/>
        </p:nvSpPr>
        <p:spPr>
          <a:xfrm>
            <a:off x="640080" y="580644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Luz azul no chão = máquina chegando.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Todo mundo para.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 @a1f"/>
          <p:cNvSpPr txBox="1"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PARTE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9202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Comunicação e feedback</a:t>
            </a:r>
            <a:endParaRPr lang="en-US" sz="4400" dirty="0"/>
          </a:p>
        </p:txBody>
      </p:sp>
      <p:sp>
        <p:nvSpPr>
          <p:cNvPr id="4" name="Topico @a2u.0"/>
          <p:cNvSpPr txBox="1"/>
          <p:nvPr/>
        </p:nvSpPr>
        <p:spPr>
          <a:xfrm>
            <a:off x="640080" y="365760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Por que comunicar bem</a:t>
            </a:r>
            <a:endParaRPr lang="en-US" sz="1200" dirty="0"/>
          </a:p>
        </p:txBody>
      </p:sp>
      <p:sp>
        <p:nvSpPr>
          <p:cNvPr id="5" name="Topico @a2u.1"/>
          <p:cNvSpPr txBox="1"/>
          <p:nvPr/>
        </p:nvSpPr>
        <p:spPr>
          <a:xfrm>
            <a:off x="2624328" y="365760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Feche o ciclo</a:t>
            </a:r>
            <a:endParaRPr lang="en-US" sz="1200" dirty="0"/>
          </a:p>
        </p:txBody>
      </p:sp>
      <p:sp>
        <p:nvSpPr>
          <p:cNvPr id="6" name="Topico @a2u.2"/>
          <p:cNvSpPr txBox="1"/>
          <p:nvPr/>
        </p:nvSpPr>
        <p:spPr>
          <a:xfrm>
            <a:off x="4608576" y="365760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Feedback</a:t>
            </a:r>
            <a:endParaRPr lang="en-US" sz="1200" dirty="0"/>
          </a:p>
        </p:txBody>
      </p:sp>
      <p:sp>
        <p:nvSpPr>
          <p:cNvPr id="7" name="Topico @a2u.3"/>
          <p:cNvSpPr txBox="1"/>
          <p:nvPr/>
        </p:nvSpPr>
        <p:spPr>
          <a:xfrm>
            <a:off x="640080" y="416052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DDS: o que trava</a:t>
            </a:r>
            <a:endParaRPr lang="en-US" sz="1200" dirty="0"/>
          </a:p>
        </p:txBody>
      </p:sp>
      <p:pic>
        <p:nvPicPr>
          <p:cNvPr id="8" name="Ilustracao parte @a1z" descr="/tmp/claude-0/-home-claude/5746e17e-ab87-5418-9566-46e1b5e96b03/scratchpad/pptx2/assets/hero-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914400"/>
            <a:ext cx="4572000" cy="4572000"/>
          </a:xfrm>
          <a:prstGeom prst="rect">
            <a:avLst/>
          </a:prstGeom>
        </p:spPr>
      </p:pic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2 · COMUNICAÇÃO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Comunicar é tornar comum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Do latim </a:t>
            </a:r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communicare</a:t>
            </a:r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: partilhar, tornar comum.</a:t>
            </a:r>
            <a:endParaRPr lang="en-US" sz="1500" dirty="0"/>
          </a:p>
        </p:txBody>
      </p:sp>
      <p:sp>
        <p:nvSpPr>
          <p:cNvPr id="5" name="No Emissor @a1u"/>
          <p:cNvSpPr/>
          <p:nvPr/>
        </p:nvSpPr>
        <p:spPr>
          <a:xfrm>
            <a:off x="640080" y="1965960"/>
            <a:ext cx="22860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6" name="Icone Emissor @a1u" descr="m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12848"/>
            <a:ext cx="548640" cy="548640"/>
          </a:xfrm>
          <a:prstGeom prst="rect">
            <a:avLst/>
          </a:prstGeom>
        </p:spPr>
      </p:pic>
      <p:sp>
        <p:nvSpPr>
          <p:cNvPr id="7" name="Texto Emissor @a1u"/>
          <p:cNvSpPr txBox="1"/>
          <p:nvPr/>
        </p:nvSpPr>
        <p:spPr>
          <a:xfrm>
            <a:off x="1463040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Emissor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quem fala ou escreve</a:t>
            </a:r>
            <a:endParaRPr lang="en-US" sz="1800" dirty="0"/>
          </a:p>
        </p:txBody>
      </p:sp>
      <p:sp>
        <p:nvSpPr>
          <p:cNvPr id="8" name="Seta @a1w.1"/>
          <p:cNvSpPr/>
          <p:nvPr/>
        </p:nvSpPr>
        <p:spPr>
          <a:xfrm>
            <a:off x="2999232" y="2491740"/>
            <a:ext cx="44287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No Mensagem @a2u"/>
          <p:cNvSpPr/>
          <p:nvPr/>
        </p:nvSpPr>
        <p:spPr>
          <a:xfrm>
            <a:off x="3515258" y="1965960"/>
            <a:ext cx="22860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0" name="Icone Mensagem @a2u" descr="ch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850" y="2212848"/>
            <a:ext cx="548640" cy="548640"/>
          </a:xfrm>
          <a:prstGeom prst="rect">
            <a:avLst/>
          </a:prstGeom>
        </p:spPr>
      </p:pic>
      <p:sp>
        <p:nvSpPr>
          <p:cNvPr id="11" name="Texto Mensagem @a2u"/>
          <p:cNvSpPr txBox="1"/>
          <p:nvPr/>
        </p:nvSpPr>
        <p:spPr>
          <a:xfrm>
            <a:off x="4338218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Mensagem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 ideia, em palavras</a:t>
            </a:r>
            <a:endParaRPr lang="en-US" sz="1800" dirty="0"/>
          </a:p>
        </p:txBody>
      </p:sp>
      <p:sp>
        <p:nvSpPr>
          <p:cNvPr id="12" name="Seta @a2w.1"/>
          <p:cNvSpPr/>
          <p:nvPr/>
        </p:nvSpPr>
        <p:spPr>
          <a:xfrm>
            <a:off x="5874410" y="2491740"/>
            <a:ext cx="44287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No Canal @a3u"/>
          <p:cNvSpPr/>
          <p:nvPr/>
        </p:nvSpPr>
        <p:spPr>
          <a:xfrm>
            <a:off x="6390437" y="1965960"/>
            <a:ext cx="22860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4" name="Icone Canal @a3u" descr="mega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029" y="2212848"/>
            <a:ext cx="548640" cy="548640"/>
          </a:xfrm>
          <a:prstGeom prst="rect">
            <a:avLst/>
          </a:prstGeom>
        </p:spPr>
      </p:pic>
      <p:sp>
        <p:nvSpPr>
          <p:cNvPr id="15" name="Texto Canal @a3u"/>
          <p:cNvSpPr txBox="1"/>
          <p:nvPr/>
        </p:nvSpPr>
        <p:spPr>
          <a:xfrm>
            <a:off x="7213397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Canal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fala, e-mail, WhatsApp</a:t>
            </a:r>
            <a:endParaRPr lang="en-US" sz="1800" dirty="0"/>
          </a:p>
        </p:txBody>
      </p:sp>
      <p:sp>
        <p:nvSpPr>
          <p:cNvPr id="16" name="Seta @a3w.1"/>
          <p:cNvSpPr/>
          <p:nvPr/>
        </p:nvSpPr>
        <p:spPr>
          <a:xfrm>
            <a:off x="8749589" y="2491740"/>
            <a:ext cx="44287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No Receptor @a4u"/>
          <p:cNvSpPr/>
          <p:nvPr/>
        </p:nvSpPr>
        <p:spPr>
          <a:xfrm>
            <a:off x="9265615" y="1965960"/>
            <a:ext cx="22860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8" name="Icone Receptor @a4u" descr="e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0207" y="2212848"/>
            <a:ext cx="548640" cy="548640"/>
          </a:xfrm>
          <a:prstGeom prst="rect">
            <a:avLst/>
          </a:prstGeom>
        </p:spPr>
      </p:pic>
      <p:sp>
        <p:nvSpPr>
          <p:cNvPr id="19" name="Texto Receptor @a4u"/>
          <p:cNvSpPr txBox="1"/>
          <p:nvPr/>
        </p:nvSpPr>
        <p:spPr>
          <a:xfrm>
            <a:off x="10088575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Receptor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quem precisa entender</a:t>
            </a:r>
            <a:endParaRPr lang="en-US" sz="1800" dirty="0"/>
          </a:p>
        </p:txBody>
      </p:sp>
      <p:sp>
        <p:nvSpPr>
          <p:cNvPr id="20" name="Feedback 1 @a5w"/>
          <p:cNvSpPr/>
          <p:nvPr/>
        </p:nvSpPr>
        <p:spPr>
          <a:xfrm>
            <a:off x="10408615" y="3017520"/>
            <a:ext cx="0" cy="45720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1" name="Feedback 2 @a5w.1"/>
          <p:cNvSpPr/>
          <p:nvPr/>
        </p:nvSpPr>
        <p:spPr>
          <a:xfrm flipH="1">
            <a:off x="1783080" y="3474720"/>
            <a:ext cx="862553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2" name="Feedback 3 @a5f.2"/>
          <p:cNvSpPr/>
          <p:nvPr/>
        </p:nvSpPr>
        <p:spPr>
          <a:xfrm>
            <a:off x="1783080" y="3017520"/>
            <a:ext cx="0" cy="45720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3" name="Rotulo feedback @a5f.2"/>
          <p:cNvSpPr txBox="1"/>
          <p:nvPr/>
        </p:nvSpPr>
        <p:spPr>
          <a:xfrm>
            <a:off x="2926080" y="3566160"/>
            <a:ext cx="6339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Feedback: o receptor mostra o que entendeu</a:t>
            </a:r>
            <a:endParaRPr lang="en-US" sz="1300" dirty="0"/>
          </a:p>
        </p:txBody>
      </p:sp>
      <p:sp>
        <p:nvSpPr>
          <p:cNvPr id="24" name="Ruido @a6f"/>
          <p:cNvSpPr/>
          <p:nvPr/>
        </p:nvSpPr>
        <p:spPr>
          <a:xfrm>
            <a:off x="640080" y="4069080"/>
            <a:ext cx="10911535" cy="502920"/>
          </a:xfrm>
          <a:prstGeom prst="roundRect">
            <a:avLst>
              <a:gd name="adj" fmla="val 21818"/>
            </a:avLst>
          </a:prstGeom>
          <a:noFill/>
          <a:ln w="12700">
            <a:solidFill>
              <a:schemeClr val="accent5">
                <a:alpha val="65000"/>
              </a:schemeClr>
            </a:solidFill>
            <a:prstDash val="dash"/>
          </a:ln>
        </p:spPr>
      </p:sp>
      <p:sp>
        <p:nvSpPr>
          <p:cNvPr id="25" name="Texto ruido @a6f"/>
          <p:cNvSpPr txBox="1"/>
          <p:nvPr/>
        </p:nvSpPr>
        <p:spPr>
          <a:xfrm>
            <a:off x="640080" y="40690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RUÍDO</a:t>
            </a:r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   barulho do CD · pressa · siglas · suposições — atrapalham todas as etapas</a:t>
            </a:r>
            <a:endParaRPr lang="en-US" sz="1300" dirty="0"/>
          </a:p>
        </p:txBody>
      </p:sp>
      <p:sp>
        <p:nvSpPr>
          <p:cNvPr id="26" name="Frase central @a7u"/>
          <p:cNvSpPr/>
          <p:nvPr/>
        </p:nvSpPr>
        <p:spPr>
          <a:xfrm>
            <a:off x="640080" y="4892040"/>
            <a:ext cx="10911535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7" name="Texto frase central @a7u"/>
          <p:cNvSpPr txBox="1"/>
          <p:nvPr/>
        </p:nvSpPr>
        <p:spPr>
          <a:xfrm>
            <a:off x="960120" y="489204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Só existe comunicação quando o outro entende — </a:t>
            </a:r>
            <a:pPr algn="l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e age como combinado.</a:t>
            </a:r>
            <a:endParaRPr lang="en-US" sz="19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2 · COMUNICAÇÃO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preço de comunicar mal</a:t>
            </a:r>
            <a:endParaRPr lang="en-US" sz="3200" dirty="0"/>
          </a:p>
        </p:txBody>
      </p:sp>
      <p:sp>
        <p:nvSpPr>
          <p:cNvPr id="4" name="Dado 1 @a1z"/>
          <p:cNvSpPr/>
          <p:nvPr/>
        </p:nvSpPr>
        <p:spPr>
          <a:xfrm>
            <a:off x="640080" y="1645920"/>
            <a:ext cx="5295748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5" name="Numero @a1z"/>
          <p:cNvSpPr txBox="1"/>
          <p:nvPr/>
        </p:nvSpPr>
        <p:spPr>
          <a:xfrm>
            <a:off x="1005840" y="1874520"/>
            <a:ext cx="45642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56%</a:t>
            </a:r>
            <a:endParaRPr lang="en-US" sz="8000" dirty="0"/>
          </a:p>
        </p:txBody>
      </p:sp>
      <p:sp>
        <p:nvSpPr>
          <p:cNvPr id="6" name="Legenda @a1z"/>
          <p:cNvSpPr txBox="1"/>
          <p:nvPr/>
        </p:nvSpPr>
        <p:spPr>
          <a:xfrm>
            <a:off x="1005840" y="3200400"/>
            <a:ext cx="4564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dos recursos em risco nos projetos estão ligados à comunicação ineficaz</a:t>
            </a:r>
            <a:endParaRPr lang="en-US" sz="1500" dirty="0"/>
          </a:p>
        </p:txBody>
      </p:sp>
      <p:sp>
        <p:nvSpPr>
          <p:cNvPr id="7" name="Fonte @a1z"/>
          <p:cNvSpPr txBox="1"/>
          <p:nvPr/>
        </p:nvSpPr>
        <p:spPr>
          <a:xfrm>
            <a:off x="1005840" y="4114800"/>
            <a:ext cx="4564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PMI · Pulse of the Profession, 2013</a:t>
            </a:r>
            <a:endParaRPr lang="en-US" sz="1100" dirty="0"/>
          </a:p>
        </p:txBody>
      </p:sp>
      <p:sp>
        <p:nvSpPr>
          <p:cNvPr id="8" name="Dado 2 @a2z"/>
          <p:cNvSpPr/>
          <p:nvPr/>
        </p:nvSpPr>
        <p:spPr>
          <a:xfrm>
            <a:off x="6255868" y="1645920"/>
            <a:ext cx="5295748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9" name="Numero @a2z"/>
          <p:cNvSpPr txBox="1"/>
          <p:nvPr/>
        </p:nvSpPr>
        <p:spPr>
          <a:xfrm>
            <a:off x="6621628" y="1874520"/>
            <a:ext cx="45642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7,47 h</a:t>
            </a:r>
            <a:endParaRPr lang="en-US" sz="8000" dirty="0"/>
          </a:p>
        </p:txBody>
      </p:sp>
      <p:sp>
        <p:nvSpPr>
          <p:cNvPr id="10" name="Legenda @a2z"/>
          <p:cNvSpPr txBox="1"/>
          <p:nvPr/>
        </p:nvSpPr>
        <p:spPr>
          <a:xfrm>
            <a:off x="6621628" y="3200400"/>
            <a:ext cx="4564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por semana é o que as equipes perdem com comunicação ruim — quase um dia de trabalho</a:t>
            </a:r>
            <a:endParaRPr lang="en-US" sz="1500" dirty="0"/>
          </a:p>
        </p:txBody>
      </p:sp>
      <p:sp>
        <p:nvSpPr>
          <p:cNvPr id="11" name="Fonte @a2z"/>
          <p:cNvSpPr txBox="1"/>
          <p:nvPr/>
        </p:nvSpPr>
        <p:spPr>
          <a:xfrm>
            <a:off x="6621628" y="4114800"/>
            <a:ext cx="4564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Grammarly e The Harris Poll · EUA, 2022</a:t>
            </a:r>
            <a:endParaRPr lang="en-US" sz="1100" dirty="0"/>
          </a:p>
        </p:txBody>
      </p:sp>
      <p:sp>
        <p:nvSpPr>
          <p:cNvPr id="12" name="Na operacao @a3u"/>
          <p:cNvSpPr/>
          <p:nvPr/>
        </p:nvSpPr>
        <p:spPr>
          <a:xfrm>
            <a:off x="640080" y="4937760"/>
            <a:ext cx="10911535" cy="777240"/>
          </a:xfrm>
          <a:prstGeom prst="roundRect">
            <a:avLst>
              <a:gd name="adj" fmla="val 14118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one operacao @a3u" descr="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074920"/>
            <a:ext cx="502920" cy="502920"/>
          </a:xfrm>
          <a:prstGeom prst="rect">
            <a:avLst/>
          </a:prstGeom>
        </p:spPr>
      </p:pic>
      <p:sp>
        <p:nvSpPr>
          <p:cNvPr id="14" name="Texto operacao @a3u"/>
          <p:cNvSpPr txBox="1"/>
          <p:nvPr/>
        </p:nvSpPr>
        <p:spPr>
          <a:xfrm>
            <a:off x="1554480" y="493776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 operação, isso vira retrabalho, atraso, avaria e risco de acidente.</a:t>
            </a:r>
            <a:endParaRPr lang="en-US" sz="18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2 · CASO REAL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Quando a comunicação falha</a:t>
            </a:r>
            <a:endParaRPr lang="en-US" sz="3200" dirty="0"/>
          </a:p>
        </p:txBody>
      </p:sp>
      <p:pic>
        <p:nvPicPr>
          <p:cNvPr id="4" name="Video Comunicacao e tud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463040"/>
            <a:ext cx="2700338" cy="4800600"/>
          </a:xfrm>
          <a:prstGeom prst="rect">
            <a:avLst/>
          </a:prstGeom>
        </p:spPr>
      </p:pic>
      <p:sp>
        <p:nvSpPr>
          <p:cNvPr id="5" name="Pergunta video @a1u"/>
          <p:cNvSpPr/>
          <p:nvPr/>
        </p:nvSpPr>
        <p:spPr>
          <a:xfrm>
            <a:off x="3751898" y="1600200"/>
            <a:ext cx="7799718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6" name="Icone pergunta @a1u" descr="ey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498" y="1874520"/>
            <a:ext cx="594360" cy="594360"/>
          </a:xfrm>
          <a:prstGeom prst="rect">
            <a:avLst/>
          </a:prstGeom>
        </p:spPr>
      </p:pic>
      <p:sp>
        <p:nvSpPr>
          <p:cNvPr id="7" name="Texto pergunta @a1u"/>
          <p:cNvSpPr txBox="1"/>
          <p:nvPr/>
        </p:nvSpPr>
        <p:spPr>
          <a:xfrm>
            <a:off x="4757738" y="1600200"/>
            <a:ext cx="66109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Enquanto assiste: o que faltou nessa comunicação?</a:t>
            </a:r>
            <a:endParaRPr lang="en-US" sz="2100" dirty="0"/>
          </a:p>
        </p:txBody>
      </p:sp>
      <p:sp>
        <p:nvSpPr>
          <p:cNvPr id="8" name="Faltou 0 @c1u.0"/>
          <p:cNvSpPr txBox="1"/>
          <p:nvPr/>
        </p:nvSpPr>
        <p:spPr>
          <a:xfrm>
            <a:off x="3751898" y="2971800"/>
            <a:ext cx="182880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Instrução clara</a:t>
            </a:r>
            <a:endParaRPr lang="en-US" sz="1300" dirty="0"/>
          </a:p>
        </p:txBody>
      </p:sp>
      <p:sp>
        <p:nvSpPr>
          <p:cNvPr id="9" name="Faltou 1 @c1u.1"/>
          <p:cNvSpPr txBox="1"/>
          <p:nvPr/>
        </p:nvSpPr>
        <p:spPr>
          <a:xfrm>
            <a:off x="5717858" y="2971800"/>
            <a:ext cx="297180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Confirmação do entendimento</a:t>
            </a:r>
            <a:endParaRPr lang="en-US" sz="1300" dirty="0"/>
          </a:p>
        </p:txBody>
      </p:sp>
      <p:sp>
        <p:nvSpPr>
          <p:cNvPr id="10" name="Faltou 2 @c1u.2"/>
          <p:cNvSpPr txBox="1"/>
          <p:nvPr/>
        </p:nvSpPr>
        <p:spPr>
          <a:xfrm>
            <a:off x="8826818" y="2971800"/>
            <a:ext cx="233172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Registro do combinado</a:t>
            </a:r>
            <a:endParaRPr lang="en-US" sz="1300" dirty="0"/>
          </a:p>
        </p:txBody>
      </p:sp>
      <p:sp>
        <p:nvSpPr>
          <p:cNvPr id="11" name="Ma-fe @c2u"/>
          <p:cNvSpPr/>
          <p:nvPr/>
        </p:nvSpPr>
        <p:spPr>
          <a:xfrm>
            <a:off x="3751898" y="3657600"/>
            <a:ext cx="7799718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" name="Texto ma-fe @c2u"/>
          <p:cNvSpPr txBox="1"/>
          <p:nvPr/>
        </p:nvSpPr>
        <p:spPr>
          <a:xfrm>
            <a:off x="4071938" y="3657600"/>
            <a:ext cx="71596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accent2"/>
                </a:solidFill>
              </a:rPr>
              <a:t>Quase nunca é má-fé: 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alguém pede uma coisa, o outro entende outra e ninguém confere antes de agir.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751898" y="5943600"/>
            <a:ext cx="7799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Vídeo: Geyza Dourado (@geyza.dourado)</a:t>
            </a:r>
            <a:endParaRPr lang="en-US" sz="1100" dirty="0"/>
          </a:p>
        </p:txBody>
      </p:sp>
      <p:sp>
        <p:nvSpPr>
          <p:cNvPr id="1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2 · COMUNICAÇÃO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Feche o ciclo: fala, repete, confirma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188720" cy="32918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accent5">
                <a:alpha val="5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EM VEZ DE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4813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strike="sngStrike" dirty="0">
                <a:solidFill>
                  <a:schemeClr val="accent5"/>
                </a:solidFill>
              </a:rPr>
              <a:t>“Vê aquele pedido lá pra mim.”</a:t>
            </a:r>
            <a:endParaRPr lang="en-US" sz="1500" dirty="0"/>
          </a:p>
        </p:txBody>
      </p:sp>
      <p:sp>
        <p:nvSpPr>
          <p:cNvPr id="6" name="Passo ciclo @c1u"/>
          <p:cNvSpPr/>
          <p:nvPr/>
        </p:nvSpPr>
        <p:spPr>
          <a:xfrm>
            <a:off x="640080" y="2057400"/>
            <a:ext cx="3210458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7" name="Icone ciclo @c1u" descr="m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548640" cy="548640"/>
          </a:xfrm>
          <a:prstGeom prst="rect">
            <a:avLst/>
          </a:prstGeom>
        </p:spPr>
      </p:pic>
      <p:sp>
        <p:nvSpPr>
          <p:cNvPr id="8" name="Rotulo ciclo @c1u"/>
          <p:cNvSpPr txBox="1"/>
          <p:nvPr/>
        </p:nvSpPr>
        <p:spPr>
          <a:xfrm>
            <a:off x="1600200" y="2331720"/>
            <a:ext cx="20217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 · FALA</a:t>
            </a:r>
            <a:endParaRPr lang="en-US" sz="1200" dirty="0"/>
          </a:p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Quem pede</a:t>
            </a:r>
            <a:endParaRPr lang="en-US" sz="1200" dirty="0"/>
          </a:p>
        </p:txBody>
      </p:sp>
      <p:sp>
        <p:nvSpPr>
          <p:cNvPr id="9" name="Fala ciclo @c1u"/>
          <p:cNvSpPr txBox="1"/>
          <p:nvPr/>
        </p:nvSpPr>
        <p:spPr>
          <a:xfrm>
            <a:off x="914400" y="3108960"/>
            <a:ext cx="26618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“Separe o pedido 4521 até as 14h. O caminhão sai às 15h.”</a:t>
            </a:r>
            <a:endParaRPr lang="en-US" sz="1800" dirty="0"/>
          </a:p>
        </p:txBody>
      </p:sp>
      <p:sp>
        <p:nvSpPr>
          <p:cNvPr id="10" name="Seta ciclo @c2w"/>
          <p:cNvSpPr/>
          <p:nvPr/>
        </p:nvSpPr>
        <p:spPr>
          <a:xfrm>
            <a:off x="3941978" y="336042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Passo ciclo @c2u"/>
          <p:cNvSpPr/>
          <p:nvPr/>
        </p:nvSpPr>
        <p:spPr>
          <a:xfrm>
            <a:off x="4490618" y="2057400"/>
            <a:ext cx="3210458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2" name="Icone ciclo @c2u" descr="e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938" y="2331720"/>
            <a:ext cx="548640" cy="548640"/>
          </a:xfrm>
          <a:prstGeom prst="rect">
            <a:avLst/>
          </a:prstGeom>
        </p:spPr>
      </p:pic>
      <p:sp>
        <p:nvSpPr>
          <p:cNvPr id="13" name="Rotulo ciclo @c2u"/>
          <p:cNvSpPr txBox="1"/>
          <p:nvPr/>
        </p:nvSpPr>
        <p:spPr>
          <a:xfrm>
            <a:off x="5450738" y="2331720"/>
            <a:ext cx="20217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2 · REPETE</a:t>
            </a:r>
            <a:endParaRPr lang="en-US" sz="1200" dirty="0"/>
          </a:p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Quem recebe</a:t>
            </a:r>
            <a:endParaRPr lang="en-US" sz="1200" dirty="0"/>
          </a:p>
        </p:txBody>
      </p:sp>
      <p:sp>
        <p:nvSpPr>
          <p:cNvPr id="14" name="Fala ciclo @c2u"/>
          <p:cNvSpPr txBox="1"/>
          <p:nvPr/>
        </p:nvSpPr>
        <p:spPr>
          <a:xfrm>
            <a:off x="4764938" y="3108960"/>
            <a:ext cx="26618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“Pedido 4521 até as 14h. Se faltar item, te aviso na hora.”</a:t>
            </a:r>
            <a:endParaRPr lang="en-US" sz="1800" dirty="0"/>
          </a:p>
        </p:txBody>
      </p:sp>
      <p:sp>
        <p:nvSpPr>
          <p:cNvPr id="15" name="Seta ciclo @c3w"/>
          <p:cNvSpPr/>
          <p:nvPr/>
        </p:nvSpPr>
        <p:spPr>
          <a:xfrm>
            <a:off x="7792517" y="336042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Passo ciclo @c3u"/>
          <p:cNvSpPr/>
          <p:nvPr/>
        </p:nvSpPr>
        <p:spPr>
          <a:xfrm>
            <a:off x="8341157" y="2057400"/>
            <a:ext cx="3210458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7" name="Icone ciclo @c3u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477" y="2331720"/>
            <a:ext cx="548640" cy="548640"/>
          </a:xfrm>
          <a:prstGeom prst="rect">
            <a:avLst/>
          </a:prstGeom>
        </p:spPr>
      </p:pic>
      <p:sp>
        <p:nvSpPr>
          <p:cNvPr id="18" name="Rotulo ciclo @c3u"/>
          <p:cNvSpPr txBox="1"/>
          <p:nvPr/>
        </p:nvSpPr>
        <p:spPr>
          <a:xfrm>
            <a:off x="9301277" y="2331720"/>
            <a:ext cx="20217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· CONFIRMA</a:t>
            </a:r>
            <a:endParaRPr lang="en-US" sz="1200" dirty="0"/>
          </a:p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Quem pediu</a:t>
            </a:r>
            <a:endParaRPr lang="en-US" sz="1200" dirty="0"/>
          </a:p>
        </p:txBody>
      </p:sp>
      <p:sp>
        <p:nvSpPr>
          <p:cNvPr id="19" name="Fala ciclo @c3u"/>
          <p:cNvSpPr txBox="1"/>
          <p:nvPr/>
        </p:nvSpPr>
        <p:spPr>
          <a:xfrm>
            <a:off x="8615477" y="3108960"/>
            <a:ext cx="26618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“Isso. Combinado.”</a:t>
            </a:r>
            <a:endParaRPr lang="en-US" sz="1800" dirty="0"/>
          </a:p>
        </p:txBody>
      </p:sp>
      <p:sp>
        <p:nvSpPr>
          <p:cNvPr id="20" name="Sintese ciclo @c3f.2"/>
          <p:cNvSpPr txBox="1"/>
          <p:nvPr/>
        </p:nvSpPr>
        <p:spPr>
          <a:xfrm>
            <a:off x="640080" y="49377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Cinco segundos de confirmação evitam horas de retrabalho.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59436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Comunicação em ciclo fechado (check-back), usada na saúde e na aviação · Fonte: AHRQ, TeamSTEPPS</a:t>
            </a:r>
            <a:endParaRPr lang="en-US" sz="10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2 · FEEDBACK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Feedback é ferramenta de liderança, não bronca</a:t>
            </a:r>
            <a:endParaRPr lang="en-US" sz="3200" dirty="0"/>
          </a:p>
        </p:txBody>
      </p:sp>
      <p:pic>
        <p:nvPicPr>
          <p:cNvPr id="4" name="Ilustracao feedback @a1z" descr="/tmp/claude-0/-home-claude/5746e17e-ab87-5418-9566-46e1b5e96b03/scratchpad/pptx2/assets/hero-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91640"/>
            <a:ext cx="3383280" cy="3383280"/>
          </a:xfrm>
          <a:prstGeom prst="rect">
            <a:avLst/>
          </a:prstGeom>
        </p:spPr>
      </p:pic>
      <p:sp>
        <p:nvSpPr>
          <p:cNvPr id="5" name="Principio @a2u.0"/>
          <p:cNvSpPr/>
          <p:nvPr/>
        </p:nvSpPr>
        <p:spPr>
          <a:xfrm>
            <a:off x="4251960" y="1645920"/>
            <a:ext cx="228081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6" name="Icone principio @a2u.0" descr="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74520"/>
            <a:ext cx="502920" cy="502920"/>
          </a:xfrm>
          <a:prstGeom prst="rect">
            <a:avLst/>
          </a:prstGeom>
        </p:spPr>
      </p:pic>
      <p:sp>
        <p:nvSpPr>
          <p:cNvPr id="7" name="Texto principio @a2u.0"/>
          <p:cNvSpPr txBox="1"/>
          <p:nvPr/>
        </p:nvSpPr>
        <p:spPr>
          <a:xfrm>
            <a:off x="4480560" y="2468880"/>
            <a:ext cx="1869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Frequente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Não espere o problema crescer.</a:t>
            </a:r>
            <a:endParaRPr lang="en-US" sz="1500" dirty="0"/>
          </a:p>
        </p:txBody>
      </p:sp>
      <p:sp>
        <p:nvSpPr>
          <p:cNvPr id="8" name="Principio @a2u.1"/>
          <p:cNvSpPr/>
          <p:nvPr/>
        </p:nvSpPr>
        <p:spPr>
          <a:xfrm>
            <a:off x="6761378" y="1645920"/>
            <a:ext cx="228081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9" name="Icone principio @a2u.1" descr="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978" y="1874520"/>
            <a:ext cx="502920" cy="502920"/>
          </a:xfrm>
          <a:prstGeom prst="rect">
            <a:avLst/>
          </a:prstGeom>
        </p:spPr>
      </p:pic>
      <p:sp>
        <p:nvSpPr>
          <p:cNvPr id="10" name="Texto principio @a2u.1"/>
          <p:cNvSpPr txBox="1"/>
          <p:nvPr/>
        </p:nvSpPr>
        <p:spPr>
          <a:xfrm>
            <a:off x="6989978" y="2468880"/>
            <a:ext cx="1869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Positivo também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Reconheça o que deu certo, em público.</a:t>
            </a:r>
            <a:endParaRPr lang="en-US" sz="1500" dirty="0"/>
          </a:p>
        </p:txBody>
      </p:sp>
      <p:sp>
        <p:nvSpPr>
          <p:cNvPr id="11" name="Principio @a2u.2"/>
          <p:cNvSpPr/>
          <p:nvPr/>
        </p:nvSpPr>
        <p:spPr>
          <a:xfrm>
            <a:off x="9270797" y="1645920"/>
            <a:ext cx="228081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2" name="Icone principio @a2u.2" descr="cha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397" y="1874520"/>
            <a:ext cx="502920" cy="502920"/>
          </a:xfrm>
          <a:prstGeom prst="rect">
            <a:avLst/>
          </a:prstGeom>
        </p:spPr>
      </p:pic>
      <p:sp>
        <p:nvSpPr>
          <p:cNvPr id="13" name="Texto principio @a2u.2"/>
          <p:cNvSpPr txBox="1"/>
          <p:nvPr/>
        </p:nvSpPr>
        <p:spPr>
          <a:xfrm>
            <a:off x="9499397" y="2468880"/>
            <a:ext cx="1869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Corretivo em particular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Ninguém aprende sendo exposto.</a:t>
            </a:r>
            <a:endParaRPr lang="en-US" sz="1500" dirty="0"/>
          </a:p>
        </p:txBody>
      </p:sp>
      <p:sp>
        <p:nvSpPr>
          <p:cNvPr id="14" name="Principio @a2u.3"/>
          <p:cNvSpPr/>
          <p:nvPr/>
        </p:nvSpPr>
        <p:spPr>
          <a:xfrm>
            <a:off x="4251960" y="3749040"/>
            <a:ext cx="228081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5" name="Icone principio @a2u.3" descr="targ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977640"/>
            <a:ext cx="502920" cy="502920"/>
          </a:xfrm>
          <a:prstGeom prst="rect">
            <a:avLst/>
          </a:prstGeom>
        </p:spPr>
      </p:pic>
      <p:sp>
        <p:nvSpPr>
          <p:cNvPr id="16" name="Texto principio @a2u.3"/>
          <p:cNvSpPr txBox="1"/>
          <p:nvPr/>
        </p:nvSpPr>
        <p:spPr>
          <a:xfrm>
            <a:off x="4480560" y="4572000"/>
            <a:ext cx="1869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Específico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Fato, dia e lugar — nada de “você sempre…”.</a:t>
            </a:r>
            <a:endParaRPr lang="en-US" sz="1500" dirty="0"/>
          </a:p>
        </p:txBody>
      </p:sp>
      <p:sp>
        <p:nvSpPr>
          <p:cNvPr id="17" name="Principio @a2u.4"/>
          <p:cNvSpPr/>
          <p:nvPr/>
        </p:nvSpPr>
        <p:spPr>
          <a:xfrm>
            <a:off x="6761378" y="3749040"/>
            <a:ext cx="228081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8" name="Icone principio @a2u.4" descr="e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9978" y="3977640"/>
            <a:ext cx="502920" cy="502920"/>
          </a:xfrm>
          <a:prstGeom prst="rect">
            <a:avLst/>
          </a:prstGeom>
        </p:spPr>
      </p:pic>
      <p:sp>
        <p:nvSpPr>
          <p:cNvPr id="19" name="Texto principio @a2u.4"/>
          <p:cNvSpPr txBox="1"/>
          <p:nvPr/>
        </p:nvSpPr>
        <p:spPr>
          <a:xfrm>
            <a:off x="6989978" y="4572000"/>
            <a:ext cx="1869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Ouça o outro lado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Pergunte o que aconteceu.</a:t>
            </a:r>
            <a:endParaRPr lang="en-US" sz="1500" dirty="0"/>
          </a:p>
        </p:txBody>
      </p:sp>
      <p:sp>
        <p:nvSpPr>
          <p:cNvPr id="20" name="Principio @a2u.5"/>
          <p:cNvSpPr/>
          <p:nvPr/>
        </p:nvSpPr>
        <p:spPr>
          <a:xfrm>
            <a:off x="9270797" y="3749040"/>
            <a:ext cx="228081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21" name="Icone principio @a2u.5" descr="handshak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9397" y="3977640"/>
            <a:ext cx="502920" cy="502920"/>
          </a:xfrm>
          <a:prstGeom prst="rect">
            <a:avLst/>
          </a:prstGeom>
        </p:spPr>
      </p:pic>
      <p:sp>
        <p:nvSpPr>
          <p:cNvPr id="22" name="Texto principio @a2u.5"/>
          <p:cNvSpPr txBox="1"/>
          <p:nvPr/>
        </p:nvSpPr>
        <p:spPr>
          <a:xfrm>
            <a:off x="9499397" y="4572000"/>
            <a:ext cx="1869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Feche com um combinado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O que muda e a partir de quando.</a:t>
            </a:r>
            <a:endParaRPr lang="en-US" sz="15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2 · FEEDBACK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Modelo SCI: situação, comportamento, impacto</a:t>
            </a:r>
            <a:endParaRPr lang="en-US" sz="3200" dirty="0"/>
          </a:p>
        </p:txBody>
      </p:sp>
      <p:sp>
        <p:nvSpPr>
          <p:cNvPr id="4" name="Etapa SCI @a1u.0"/>
          <p:cNvSpPr/>
          <p:nvPr/>
        </p:nvSpPr>
        <p:spPr>
          <a:xfrm>
            <a:off x="640080" y="1554480"/>
            <a:ext cx="2625014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Letra SCI @a1u.0"/>
          <p:cNvSpPr txBox="1"/>
          <p:nvPr/>
        </p:nvSpPr>
        <p:spPr>
          <a:xfrm>
            <a:off x="822960" y="15544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S</a:t>
            </a:r>
            <a:endParaRPr lang="en-US" sz="3400" dirty="0"/>
          </a:p>
        </p:txBody>
      </p:sp>
      <p:sp>
        <p:nvSpPr>
          <p:cNvPr id="6" name="Texto SCI @a1u.0"/>
          <p:cNvSpPr txBox="1"/>
          <p:nvPr/>
        </p:nvSpPr>
        <p:spPr>
          <a:xfrm>
            <a:off x="1417320" y="1554480"/>
            <a:ext cx="17106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Situação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Quando e onde?</a:t>
            </a:r>
            <a:endParaRPr lang="en-US" sz="1600" dirty="0"/>
          </a:p>
        </p:txBody>
      </p:sp>
      <p:sp>
        <p:nvSpPr>
          <p:cNvPr id="7" name="Etapa SCI @a1u.1"/>
          <p:cNvSpPr/>
          <p:nvPr/>
        </p:nvSpPr>
        <p:spPr>
          <a:xfrm>
            <a:off x="3402254" y="1554480"/>
            <a:ext cx="2625014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" name="Letra SCI @a1u.1"/>
          <p:cNvSpPr txBox="1"/>
          <p:nvPr/>
        </p:nvSpPr>
        <p:spPr>
          <a:xfrm>
            <a:off x="3585134" y="15544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C</a:t>
            </a:r>
            <a:endParaRPr lang="en-US" sz="3400" dirty="0"/>
          </a:p>
        </p:txBody>
      </p:sp>
      <p:sp>
        <p:nvSpPr>
          <p:cNvPr id="9" name="Texto SCI @a1u.1"/>
          <p:cNvSpPr txBox="1"/>
          <p:nvPr/>
        </p:nvSpPr>
        <p:spPr>
          <a:xfrm>
            <a:off x="4179494" y="1554480"/>
            <a:ext cx="17106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Comportamento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 que eu vi?</a:t>
            </a:r>
            <a:endParaRPr lang="en-US" sz="1600" dirty="0"/>
          </a:p>
        </p:txBody>
      </p:sp>
      <p:sp>
        <p:nvSpPr>
          <p:cNvPr id="10" name="Etapa SCI @a1u.2"/>
          <p:cNvSpPr/>
          <p:nvPr/>
        </p:nvSpPr>
        <p:spPr>
          <a:xfrm>
            <a:off x="6164428" y="1554480"/>
            <a:ext cx="2625014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1" name="Letra SCI @a1u.2"/>
          <p:cNvSpPr txBox="1"/>
          <p:nvPr/>
        </p:nvSpPr>
        <p:spPr>
          <a:xfrm>
            <a:off x="6347308" y="15544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I</a:t>
            </a:r>
            <a:endParaRPr lang="en-US" sz="3400" dirty="0"/>
          </a:p>
        </p:txBody>
      </p:sp>
      <p:sp>
        <p:nvSpPr>
          <p:cNvPr id="12" name="Texto SCI @a1u.2"/>
          <p:cNvSpPr txBox="1"/>
          <p:nvPr/>
        </p:nvSpPr>
        <p:spPr>
          <a:xfrm>
            <a:off x="6941668" y="1554480"/>
            <a:ext cx="17106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Impacto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Qual o efeito?</a:t>
            </a:r>
            <a:endParaRPr lang="en-US" sz="1600" dirty="0"/>
          </a:p>
        </p:txBody>
      </p:sp>
      <p:sp>
        <p:nvSpPr>
          <p:cNvPr id="13" name="Etapa SCI @a1u.3"/>
          <p:cNvSpPr/>
          <p:nvPr/>
        </p:nvSpPr>
        <p:spPr>
          <a:xfrm>
            <a:off x="8926601" y="1554480"/>
            <a:ext cx="2625014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4" name="Letra SCI @a1u.3"/>
          <p:cNvSpPr txBox="1"/>
          <p:nvPr/>
        </p:nvSpPr>
        <p:spPr>
          <a:xfrm>
            <a:off x="9109481" y="15544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+</a:t>
            </a:r>
            <a:endParaRPr lang="en-US" sz="3400" dirty="0"/>
          </a:p>
        </p:txBody>
      </p:sp>
      <p:sp>
        <p:nvSpPr>
          <p:cNvPr id="15" name="Texto SCI @a1u.3"/>
          <p:cNvSpPr txBox="1"/>
          <p:nvPr/>
        </p:nvSpPr>
        <p:spPr>
          <a:xfrm>
            <a:off x="9703841" y="1554480"/>
            <a:ext cx="17106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Combinado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que fazemos agora?</a:t>
            </a:r>
            <a:endParaRPr lang="en-US" sz="1600" dirty="0"/>
          </a:p>
        </p:txBody>
      </p:sp>
      <p:sp>
        <p:nvSpPr>
          <p:cNvPr id="16" name="Exemplo POSITIVO @c1u"/>
          <p:cNvSpPr/>
          <p:nvPr/>
        </p:nvSpPr>
        <p:spPr>
          <a:xfrm>
            <a:off x="640080" y="2651760"/>
            <a:ext cx="5318608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17" name="Titulo exemplo @c1u"/>
          <p:cNvSpPr txBox="1"/>
          <p:nvPr/>
        </p:nvSpPr>
        <p:spPr>
          <a:xfrm>
            <a:off x="914400" y="2816352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FEEDBACK POSITIVO</a:t>
            </a:r>
            <a:endParaRPr lang="en-US" sz="1200" dirty="0"/>
          </a:p>
        </p:txBody>
      </p:sp>
      <p:sp>
        <p:nvSpPr>
          <p:cNvPr id="18" name="Letra exemplo @c1u"/>
          <p:cNvSpPr txBox="1"/>
          <p:nvPr/>
        </p:nvSpPr>
        <p:spPr>
          <a:xfrm>
            <a:off x="914400" y="3218688"/>
            <a:ext cx="384048" cy="384048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</a:t>
            </a:r>
            <a:endParaRPr lang="en-US" sz="1300" dirty="0"/>
          </a:p>
        </p:txBody>
      </p:sp>
      <p:sp>
        <p:nvSpPr>
          <p:cNvPr id="19" name="Linha exemplo @c1u"/>
          <p:cNvSpPr txBox="1"/>
          <p:nvPr/>
        </p:nvSpPr>
        <p:spPr>
          <a:xfrm>
            <a:off x="1463040" y="3182112"/>
            <a:ext cx="426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Ontem, no fechamento do turno,</a:t>
            </a:r>
            <a:endParaRPr lang="en-US" sz="1350" dirty="0"/>
          </a:p>
        </p:txBody>
      </p:sp>
      <p:sp>
        <p:nvSpPr>
          <p:cNvPr id="20" name="Letra exemplo @c1u"/>
          <p:cNvSpPr txBox="1"/>
          <p:nvPr/>
        </p:nvSpPr>
        <p:spPr>
          <a:xfrm>
            <a:off x="914400" y="3858768"/>
            <a:ext cx="384048" cy="384048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21" name="Linha exemplo @c1u"/>
          <p:cNvSpPr txBox="1"/>
          <p:nvPr/>
        </p:nvSpPr>
        <p:spPr>
          <a:xfrm>
            <a:off x="1463040" y="3822192"/>
            <a:ext cx="426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você deixou a doca 3 organizada e sinalizada.</a:t>
            </a:r>
            <a:endParaRPr lang="en-US" sz="1350" dirty="0"/>
          </a:p>
        </p:txBody>
      </p:sp>
      <p:sp>
        <p:nvSpPr>
          <p:cNvPr id="22" name="Letra exemplo @c1u"/>
          <p:cNvSpPr txBox="1"/>
          <p:nvPr/>
        </p:nvSpPr>
        <p:spPr>
          <a:xfrm>
            <a:off x="914400" y="4498848"/>
            <a:ext cx="384048" cy="384048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</a:t>
            </a:r>
            <a:endParaRPr lang="en-US" sz="1300" dirty="0"/>
          </a:p>
        </p:txBody>
      </p:sp>
      <p:sp>
        <p:nvSpPr>
          <p:cNvPr id="23" name="Linha exemplo @c1u"/>
          <p:cNvSpPr txBox="1"/>
          <p:nvPr/>
        </p:nvSpPr>
        <p:spPr>
          <a:xfrm>
            <a:off x="1463040" y="4462272"/>
            <a:ext cx="426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O turno seguinte começou sem atraso e sem risco de tropeço.</a:t>
            </a:r>
            <a:endParaRPr lang="en-US" sz="1350" dirty="0"/>
          </a:p>
        </p:txBody>
      </p:sp>
      <p:sp>
        <p:nvSpPr>
          <p:cNvPr id="24" name="Letra exemplo @c1u"/>
          <p:cNvSpPr txBox="1"/>
          <p:nvPr/>
        </p:nvSpPr>
        <p:spPr>
          <a:xfrm>
            <a:off x="914400" y="5138928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+</a:t>
            </a:r>
            <a:endParaRPr lang="en-US" sz="1300" dirty="0"/>
          </a:p>
        </p:txBody>
      </p:sp>
      <p:sp>
        <p:nvSpPr>
          <p:cNvPr id="25" name="Linha exemplo @c1u"/>
          <p:cNvSpPr txBox="1"/>
          <p:nvPr/>
        </p:nvSpPr>
        <p:spPr>
          <a:xfrm>
            <a:off x="1463040" y="5102352"/>
            <a:ext cx="426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Quero isso como padrão. Pode mostrar para a equipe como fez?</a:t>
            </a:r>
            <a:endParaRPr lang="en-US" sz="1350" dirty="0"/>
          </a:p>
        </p:txBody>
      </p:sp>
      <p:sp>
        <p:nvSpPr>
          <p:cNvPr id="26" name="Exemplo CORRETIVO @c2u"/>
          <p:cNvSpPr/>
          <p:nvPr/>
        </p:nvSpPr>
        <p:spPr>
          <a:xfrm>
            <a:off x="6233008" y="2651760"/>
            <a:ext cx="5318608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27" name="Titulo exemplo @c2u"/>
          <p:cNvSpPr txBox="1"/>
          <p:nvPr/>
        </p:nvSpPr>
        <p:spPr>
          <a:xfrm>
            <a:off x="6507328" y="2816352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FEEDBACK CORRETIVO</a:t>
            </a:r>
            <a:endParaRPr lang="en-US" sz="1200" dirty="0"/>
          </a:p>
        </p:txBody>
      </p:sp>
      <p:sp>
        <p:nvSpPr>
          <p:cNvPr id="28" name="Letra exemplo @c2u"/>
          <p:cNvSpPr txBox="1"/>
          <p:nvPr/>
        </p:nvSpPr>
        <p:spPr>
          <a:xfrm>
            <a:off x="6507328" y="3218688"/>
            <a:ext cx="384048" cy="384048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</a:t>
            </a:r>
            <a:endParaRPr lang="en-US" sz="1300" dirty="0"/>
          </a:p>
        </p:txBody>
      </p:sp>
      <p:sp>
        <p:nvSpPr>
          <p:cNvPr id="29" name="Linha exemplo @c2u"/>
          <p:cNvSpPr txBox="1"/>
          <p:nvPr/>
        </p:nvSpPr>
        <p:spPr>
          <a:xfrm>
            <a:off x="7055968" y="3182112"/>
            <a:ext cx="426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Hoje, às 10h, na separação,</a:t>
            </a:r>
            <a:endParaRPr lang="en-US" sz="1350" dirty="0"/>
          </a:p>
        </p:txBody>
      </p:sp>
      <p:sp>
        <p:nvSpPr>
          <p:cNvPr id="30" name="Letra exemplo @c2u"/>
          <p:cNvSpPr txBox="1"/>
          <p:nvPr/>
        </p:nvSpPr>
        <p:spPr>
          <a:xfrm>
            <a:off x="6507328" y="3858768"/>
            <a:ext cx="384048" cy="384048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31" name="Linha exemplo @c2u"/>
          <p:cNvSpPr txBox="1"/>
          <p:nvPr/>
        </p:nvSpPr>
        <p:spPr>
          <a:xfrm>
            <a:off x="7055968" y="3822192"/>
            <a:ext cx="426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vi você operando a transpaleteira sem o calçado de segurança.</a:t>
            </a:r>
            <a:endParaRPr lang="en-US" sz="1350" dirty="0"/>
          </a:p>
        </p:txBody>
      </p:sp>
      <p:sp>
        <p:nvSpPr>
          <p:cNvPr id="32" name="Letra exemplo @c2u"/>
          <p:cNvSpPr txBox="1"/>
          <p:nvPr/>
        </p:nvSpPr>
        <p:spPr>
          <a:xfrm>
            <a:off x="6507328" y="4498848"/>
            <a:ext cx="384048" cy="384048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</a:t>
            </a:r>
            <a:endParaRPr lang="en-US" sz="1300" dirty="0"/>
          </a:p>
        </p:txBody>
      </p:sp>
      <p:sp>
        <p:nvSpPr>
          <p:cNvPr id="33" name="Linha exemplo @c2u"/>
          <p:cNvSpPr txBox="1"/>
          <p:nvPr/>
        </p:nvSpPr>
        <p:spPr>
          <a:xfrm>
            <a:off x="7055968" y="4462272"/>
            <a:ext cx="426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Se um pallet cair, o pé fica exposto — e eu preciso de você inteiro.</a:t>
            </a:r>
            <a:endParaRPr lang="en-US" sz="1350" dirty="0"/>
          </a:p>
        </p:txBody>
      </p:sp>
      <p:sp>
        <p:nvSpPr>
          <p:cNvPr id="34" name="Letra exemplo @c2u"/>
          <p:cNvSpPr txBox="1"/>
          <p:nvPr/>
        </p:nvSpPr>
        <p:spPr>
          <a:xfrm>
            <a:off x="6507328" y="5138928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+</a:t>
            </a:r>
            <a:endParaRPr lang="en-US" sz="1300" dirty="0"/>
          </a:p>
        </p:txBody>
      </p:sp>
      <p:sp>
        <p:nvSpPr>
          <p:cNvPr id="35" name="Linha exemplo @c2u"/>
          <p:cNvSpPr txBox="1"/>
          <p:nvPr/>
        </p:nvSpPr>
        <p:spPr>
          <a:xfrm>
            <a:off x="7055968" y="5102352"/>
            <a:ext cx="426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O que aconteceu? A partir de agora, só opera de calçado. Combinado?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9618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Baseado no modelo SBI (Situation–Behavior–Impact), do Center for Creative Leadership</a:t>
            </a:r>
            <a:endParaRPr lang="en-US" sz="10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2 · DDS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o DDS não está acontecendo?</a:t>
            </a:r>
            <a:endParaRPr lang="en-US" sz="3200" dirty="0"/>
          </a:p>
        </p:txBody>
      </p:sp>
      <p:sp>
        <p:nvSpPr>
          <p:cNvPr id="4" name="Pergunta grupo @a1u"/>
          <p:cNvSpPr/>
          <p:nvPr/>
        </p:nvSpPr>
        <p:spPr>
          <a:xfrm>
            <a:off x="640080" y="1645920"/>
            <a:ext cx="3886200" cy="4069080"/>
          </a:xfrm>
          <a:prstGeom prst="roundRect">
            <a:avLst>
              <a:gd name="adj" fmla="val 2824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5" name="Icone pergunta grupo @a1u" descr="c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731520" cy="731520"/>
          </a:xfrm>
          <a:prstGeom prst="rect">
            <a:avLst/>
          </a:prstGeom>
        </p:spPr>
      </p:pic>
      <p:sp>
        <p:nvSpPr>
          <p:cNvPr id="6" name="Texto pergunta grupo @a1u"/>
          <p:cNvSpPr txBox="1"/>
          <p:nvPr/>
        </p:nvSpPr>
        <p:spPr>
          <a:xfrm>
            <a:off x="960120" y="28346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Pergunta para vocês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bg1"/>
                </a:solidFill>
              </a:rPr>
              <a:t>O que impede o DDS de acontecer no seu turno?</a:t>
            </a:r>
            <a:endParaRPr lang="en-US" sz="1300" dirty="0"/>
          </a:p>
        </p:txBody>
      </p:sp>
      <p:sp>
        <p:nvSpPr>
          <p:cNvPr id="7" name="Motivo @c1u.0"/>
          <p:cNvSpPr/>
          <p:nvPr/>
        </p:nvSpPr>
        <p:spPr>
          <a:xfrm>
            <a:off x="4800600" y="1645920"/>
            <a:ext cx="326120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8" name="Icone motivo @c1u.0" descr="hour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65960"/>
            <a:ext cx="566928" cy="566928"/>
          </a:xfrm>
          <a:prstGeom prst="rect">
            <a:avLst/>
          </a:prstGeom>
        </p:spPr>
      </p:pic>
      <p:sp>
        <p:nvSpPr>
          <p:cNvPr id="9" name="Texto motivo @c1u.0"/>
          <p:cNvSpPr txBox="1"/>
          <p:nvPr/>
        </p:nvSpPr>
        <p:spPr>
          <a:xfrm>
            <a:off x="5760720" y="1737360"/>
            <a:ext cx="2118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“Não dá tempo”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Pressão da produção no início do turno</a:t>
            </a:r>
            <a:endParaRPr lang="en-US" sz="1550" dirty="0"/>
          </a:p>
        </p:txBody>
      </p:sp>
      <p:sp>
        <p:nvSpPr>
          <p:cNvPr id="10" name="Motivo @c1u.1"/>
          <p:cNvSpPr/>
          <p:nvPr/>
        </p:nvSpPr>
        <p:spPr>
          <a:xfrm>
            <a:off x="8290408" y="1645920"/>
            <a:ext cx="326120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1" name="Icone motivo @c1u.1" descr="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008" y="1965960"/>
            <a:ext cx="566928" cy="566928"/>
          </a:xfrm>
          <a:prstGeom prst="rect">
            <a:avLst/>
          </a:prstGeom>
        </p:spPr>
      </p:pic>
      <p:sp>
        <p:nvSpPr>
          <p:cNvPr id="12" name="Texto motivo @c1u.1"/>
          <p:cNvSpPr txBox="1"/>
          <p:nvPr/>
        </p:nvSpPr>
        <p:spPr>
          <a:xfrm>
            <a:off x="9250528" y="1737360"/>
            <a:ext cx="2118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Falta de preparo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Sem tema definido, ninguém sabe o que falar</a:t>
            </a:r>
            <a:endParaRPr lang="en-US" sz="1550" dirty="0"/>
          </a:p>
        </p:txBody>
      </p:sp>
      <p:sp>
        <p:nvSpPr>
          <p:cNvPr id="13" name="Motivo @c1u.2"/>
          <p:cNvSpPr/>
          <p:nvPr/>
        </p:nvSpPr>
        <p:spPr>
          <a:xfrm>
            <a:off x="4800600" y="3063240"/>
            <a:ext cx="326120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4" name="Icone motivo @c1u.2" descr="war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83280"/>
            <a:ext cx="566928" cy="566928"/>
          </a:xfrm>
          <a:prstGeom prst="rect">
            <a:avLst/>
          </a:prstGeom>
        </p:spPr>
      </p:pic>
      <p:sp>
        <p:nvSpPr>
          <p:cNvPr id="15" name="Texto motivo @c1u.2"/>
          <p:cNvSpPr txBox="1"/>
          <p:nvPr/>
        </p:nvSpPr>
        <p:spPr>
          <a:xfrm>
            <a:off x="5760720" y="3154680"/>
            <a:ext cx="2118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“É só burocracia”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A equipe não vê valor no DDS</a:t>
            </a:r>
            <a:endParaRPr lang="en-US" sz="1550" dirty="0"/>
          </a:p>
        </p:txBody>
      </p:sp>
      <p:sp>
        <p:nvSpPr>
          <p:cNvPr id="16" name="Motivo @c1u.3"/>
          <p:cNvSpPr/>
          <p:nvPr/>
        </p:nvSpPr>
        <p:spPr>
          <a:xfrm>
            <a:off x="8290408" y="3063240"/>
            <a:ext cx="326120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7" name="Icone motivo @c1u.3" descr="peop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9008" y="3383280"/>
            <a:ext cx="566928" cy="566928"/>
          </a:xfrm>
          <a:prstGeom prst="rect">
            <a:avLst/>
          </a:prstGeom>
        </p:spPr>
      </p:pic>
      <p:sp>
        <p:nvSpPr>
          <p:cNvPr id="18" name="Texto motivo @c1u.3"/>
          <p:cNvSpPr txBox="1"/>
          <p:nvPr/>
        </p:nvSpPr>
        <p:spPr>
          <a:xfrm>
            <a:off x="9250528" y="3154680"/>
            <a:ext cx="2118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Ninguém assume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Quando o líder falta, o DDS some</a:t>
            </a:r>
            <a:endParaRPr lang="en-US" sz="1550" dirty="0"/>
          </a:p>
        </p:txBody>
      </p:sp>
      <p:sp>
        <p:nvSpPr>
          <p:cNvPr id="19" name="Motivo @c1u.4"/>
          <p:cNvSpPr/>
          <p:nvPr/>
        </p:nvSpPr>
        <p:spPr>
          <a:xfrm>
            <a:off x="4800600" y="4480560"/>
            <a:ext cx="326120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20" name="Icone motivo @c1u.4" descr="clo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800600"/>
            <a:ext cx="566928" cy="566928"/>
          </a:xfrm>
          <a:prstGeom prst="rect">
            <a:avLst/>
          </a:prstGeom>
        </p:spPr>
      </p:pic>
      <p:sp>
        <p:nvSpPr>
          <p:cNvPr id="21" name="Texto motivo @c1u.4"/>
          <p:cNvSpPr txBox="1"/>
          <p:nvPr/>
        </p:nvSpPr>
        <p:spPr>
          <a:xfrm>
            <a:off x="5760720" y="4572000"/>
            <a:ext cx="2118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Turno começa corrido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Atraso, troca de turno, carga chegando</a:t>
            </a:r>
            <a:endParaRPr lang="en-US" sz="1550" dirty="0"/>
          </a:p>
        </p:txBody>
      </p:sp>
      <p:sp>
        <p:nvSpPr>
          <p:cNvPr id="22" name="Motivo @c1u.5"/>
          <p:cNvSpPr/>
          <p:nvPr/>
        </p:nvSpPr>
        <p:spPr>
          <a:xfrm>
            <a:off x="8290408" y="4480560"/>
            <a:ext cx="326120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23" name="Icone motivo @c1u.5" descr="clipboar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9008" y="4800600"/>
            <a:ext cx="566928" cy="566928"/>
          </a:xfrm>
          <a:prstGeom prst="rect">
            <a:avLst/>
          </a:prstGeom>
        </p:spPr>
      </p:pic>
      <p:sp>
        <p:nvSpPr>
          <p:cNvPr id="24" name="Texto motivo @c1u.5"/>
          <p:cNvSpPr txBox="1"/>
          <p:nvPr/>
        </p:nvSpPr>
        <p:spPr>
          <a:xfrm>
            <a:off x="9250528" y="4572000"/>
            <a:ext cx="2118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Lista não está à mão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Faz e não registra — ou nem faz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2 · DDS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Sem DDS, o risco fica sem dono</a:t>
            </a:r>
            <a:endParaRPr lang="en-US" sz="3200" dirty="0"/>
          </a:p>
        </p:txBody>
      </p:sp>
      <p:sp>
        <p:nvSpPr>
          <p:cNvPr id="4" name="Consequencia @a1u.0"/>
          <p:cNvSpPr/>
          <p:nvPr/>
        </p:nvSpPr>
        <p:spPr>
          <a:xfrm>
            <a:off x="640080" y="1645920"/>
            <a:ext cx="690372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5" name="Icone consequencia @a1u.0" descr="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55648"/>
            <a:ext cx="493776" cy="493776"/>
          </a:xfrm>
          <a:prstGeom prst="rect">
            <a:avLst/>
          </a:prstGeom>
        </p:spPr>
      </p:pic>
      <p:sp>
        <p:nvSpPr>
          <p:cNvPr id="6" name="Texto consequencia @a1u.0"/>
          <p:cNvSpPr txBox="1"/>
          <p:nvPr/>
        </p:nvSpPr>
        <p:spPr>
          <a:xfrm>
            <a:off x="1463040" y="164592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Mais acidentes e quase-acidentes  </a:t>
            </a:r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Os riscos do dia passam sem ser lembrados.</a:t>
            </a:r>
            <a:endParaRPr lang="en-US" sz="1500" dirty="0"/>
          </a:p>
        </p:txBody>
      </p:sp>
      <p:sp>
        <p:nvSpPr>
          <p:cNvPr id="7" name="Consequencia @a1u.1"/>
          <p:cNvSpPr/>
          <p:nvPr/>
        </p:nvSpPr>
        <p:spPr>
          <a:xfrm>
            <a:off x="640080" y="2468880"/>
            <a:ext cx="690372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8" name="Icone consequencia @a1u.1" descr="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78608"/>
            <a:ext cx="493776" cy="493776"/>
          </a:xfrm>
          <a:prstGeom prst="rect">
            <a:avLst/>
          </a:prstGeom>
        </p:spPr>
      </p:pic>
      <p:sp>
        <p:nvSpPr>
          <p:cNvPr id="9" name="Texto consequencia @a1u.1"/>
          <p:cNvSpPr txBox="1"/>
          <p:nvPr/>
        </p:nvSpPr>
        <p:spPr>
          <a:xfrm>
            <a:off x="1463040" y="246888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Equipe desinformada  </a:t>
            </a:r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Mudanças e novos riscos não chegam a todos.</a:t>
            </a:r>
            <a:endParaRPr lang="en-US" sz="1500" dirty="0"/>
          </a:p>
        </p:txBody>
      </p:sp>
      <p:sp>
        <p:nvSpPr>
          <p:cNvPr id="10" name="Consequencia @a1u.2"/>
          <p:cNvSpPr/>
          <p:nvPr/>
        </p:nvSpPr>
        <p:spPr>
          <a:xfrm>
            <a:off x="640080" y="3291840"/>
            <a:ext cx="690372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1" name="Icone consequencia @a1u.2" descr="clip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01568"/>
            <a:ext cx="493776" cy="493776"/>
          </a:xfrm>
          <a:prstGeom prst="rect">
            <a:avLst/>
          </a:prstGeom>
        </p:spPr>
      </p:pic>
      <p:sp>
        <p:nvSpPr>
          <p:cNvPr id="12" name="Texto consequencia @a1u.2"/>
          <p:cNvSpPr txBox="1"/>
          <p:nvPr/>
        </p:nvSpPr>
        <p:spPr>
          <a:xfrm>
            <a:off x="1463040" y="329184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 prova de orientação  </a:t>
            </a:r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Em fiscalização, auditoria ou processo, vale o registro.</a:t>
            </a:r>
            <a:endParaRPr lang="en-US" sz="1500" dirty="0"/>
          </a:p>
        </p:txBody>
      </p:sp>
      <p:sp>
        <p:nvSpPr>
          <p:cNvPr id="13" name="Consequencia @a1u.3"/>
          <p:cNvSpPr/>
          <p:nvPr/>
        </p:nvSpPr>
        <p:spPr>
          <a:xfrm>
            <a:off x="640080" y="4114800"/>
            <a:ext cx="690372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4" name="Icone consequencia @a1u.3" descr="warnpers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24528"/>
            <a:ext cx="493776" cy="493776"/>
          </a:xfrm>
          <a:prstGeom prst="rect">
            <a:avLst/>
          </a:prstGeom>
        </p:spPr>
      </p:pic>
      <p:sp>
        <p:nvSpPr>
          <p:cNvPr id="15" name="Texto consequencia @a1u.3"/>
          <p:cNvSpPr txBox="1"/>
          <p:nvPr/>
        </p:nvSpPr>
        <p:spPr>
          <a:xfrm>
            <a:off x="1463040" y="411480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“Segurança é só papel”  </a:t>
            </a:r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cultura enfraquece e o mau hábito vira regra.</a:t>
            </a:r>
            <a:endParaRPr lang="en-US" sz="1500" dirty="0"/>
          </a:p>
        </p:txBody>
      </p:sp>
      <p:sp>
        <p:nvSpPr>
          <p:cNvPr id="16" name="Consequencia @a1u.4"/>
          <p:cNvSpPr/>
          <p:nvPr/>
        </p:nvSpPr>
        <p:spPr>
          <a:xfrm>
            <a:off x="640080" y="4937760"/>
            <a:ext cx="690372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7" name="Icone consequencia @a1u.4" descr="megaph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047488"/>
            <a:ext cx="493776" cy="493776"/>
          </a:xfrm>
          <a:prstGeom prst="rect">
            <a:avLst/>
          </a:prstGeom>
        </p:spPr>
      </p:pic>
      <p:sp>
        <p:nvSpPr>
          <p:cNvPr id="18" name="Texto consequencia @a1u.4"/>
          <p:cNvSpPr txBox="1"/>
          <p:nvPr/>
        </p:nvSpPr>
        <p:spPr>
          <a:xfrm>
            <a:off x="1463040" y="493776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Líder sem voz no turno  </a:t>
            </a:r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Perde o melhor momento para alinhar a equipe.</a:t>
            </a:r>
            <a:endParaRPr lang="en-US" sz="1500" dirty="0"/>
          </a:p>
        </p:txBody>
      </p:sp>
      <p:sp>
        <p:nvSpPr>
          <p:cNvPr id="19" name="Frase DDS @c1z"/>
          <p:cNvSpPr/>
          <p:nvPr/>
        </p:nvSpPr>
        <p:spPr>
          <a:xfrm>
            <a:off x="7818120" y="1645920"/>
            <a:ext cx="3733495" cy="4005072"/>
          </a:xfrm>
          <a:prstGeom prst="roundRect">
            <a:avLst>
              <a:gd name="adj" fmla="val 2939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" name="Texto frase DDS @c1z"/>
          <p:cNvSpPr txBox="1"/>
          <p:nvPr/>
        </p:nvSpPr>
        <p:spPr>
          <a:xfrm>
            <a:off x="8138160" y="1783080"/>
            <a:ext cx="309341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O DDS que não acontece hoje pode virar o acidente que ninguém consegue explicar amanhã.</a:t>
            </a:r>
            <a:endParaRPr lang="en-US" sz="60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2 · DDS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Como destravar o DDS a partir de amanhã</a:t>
            </a:r>
            <a:endParaRPr lang="en-US" sz="3200" dirty="0"/>
          </a:p>
        </p:txBody>
      </p:sp>
      <p:sp>
        <p:nvSpPr>
          <p:cNvPr id="4" name="Solucao @a1u"/>
          <p:cNvSpPr/>
          <p:nvPr/>
        </p:nvSpPr>
        <p:spPr>
          <a:xfrm>
            <a:off x="640080" y="1645920"/>
            <a:ext cx="2021373" cy="3611880"/>
          </a:xfrm>
          <a:prstGeom prst="roundRect">
            <a:avLst>
              <a:gd name="adj" fmla="val 5428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5" name="Num solucao @a1u"/>
          <p:cNvSpPr txBox="1"/>
          <p:nvPr/>
        </p:nvSpPr>
        <p:spPr>
          <a:xfrm>
            <a:off x="86868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pic>
        <p:nvPicPr>
          <p:cNvPr id="6" name="Icone solucao @a1u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213" y="1874520"/>
            <a:ext cx="548640" cy="548640"/>
          </a:xfrm>
          <a:prstGeom prst="rect">
            <a:avLst/>
          </a:prstGeom>
        </p:spPr>
      </p:pic>
      <p:sp>
        <p:nvSpPr>
          <p:cNvPr id="7" name="Texto solucao @a1u"/>
          <p:cNvSpPr txBox="1"/>
          <p:nvPr/>
        </p:nvSpPr>
        <p:spPr>
          <a:xfrm>
            <a:off x="868680" y="2606040"/>
            <a:ext cx="160989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Horário fixo</a:t>
            </a:r>
            <a:endParaRPr lang="en-US" sz="17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accent5"/>
                </a:solidFill>
              </a:rPr>
              <a:t>Os 10 primeiros minutos do turno, sem exceção.</a:t>
            </a:r>
            <a:endParaRPr lang="en-US" sz="1700" dirty="0"/>
          </a:p>
        </p:txBody>
      </p:sp>
      <p:sp>
        <p:nvSpPr>
          <p:cNvPr id="8" name="Solucao @a2u"/>
          <p:cNvSpPr/>
          <p:nvPr/>
        </p:nvSpPr>
        <p:spPr>
          <a:xfrm>
            <a:off x="2862621" y="1645920"/>
            <a:ext cx="2021373" cy="3611880"/>
          </a:xfrm>
          <a:prstGeom prst="roundRect">
            <a:avLst>
              <a:gd name="adj" fmla="val 5428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9" name="Num solucao @a2u"/>
          <p:cNvSpPr txBox="1"/>
          <p:nvPr/>
        </p:nvSpPr>
        <p:spPr>
          <a:xfrm>
            <a:off x="3091221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02</a:t>
            </a:r>
            <a:endParaRPr lang="en-US" sz="3000" dirty="0"/>
          </a:p>
        </p:txBody>
      </p:sp>
      <p:pic>
        <p:nvPicPr>
          <p:cNvPr id="10" name="Icone solucao @a2u" descr="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753" y="1874520"/>
            <a:ext cx="548640" cy="548640"/>
          </a:xfrm>
          <a:prstGeom prst="rect">
            <a:avLst/>
          </a:prstGeom>
        </p:spPr>
      </p:pic>
      <p:sp>
        <p:nvSpPr>
          <p:cNvPr id="11" name="Texto solucao @a2u"/>
          <p:cNvSpPr txBox="1"/>
          <p:nvPr/>
        </p:nvSpPr>
        <p:spPr>
          <a:xfrm>
            <a:off x="3091221" y="2606040"/>
            <a:ext cx="160989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Banco de temas</a:t>
            </a:r>
            <a:endParaRPr lang="en-US" sz="17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accent5"/>
                </a:solidFill>
              </a:rPr>
              <a:t>Um tema por dia, preparado na véspera.</a:t>
            </a:r>
            <a:endParaRPr lang="en-US" sz="1700" dirty="0"/>
          </a:p>
        </p:txBody>
      </p:sp>
      <p:sp>
        <p:nvSpPr>
          <p:cNvPr id="12" name="Solucao @a3u"/>
          <p:cNvSpPr/>
          <p:nvPr/>
        </p:nvSpPr>
        <p:spPr>
          <a:xfrm>
            <a:off x="5085161" y="1645920"/>
            <a:ext cx="2021373" cy="3611880"/>
          </a:xfrm>
          <a:prstGeom prst="roundRect">
            <a:avLst>
              <a:gd name="adj" fmla="val 5428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13" name="Num solucao @a3u"/>
          <p:cNvSpPr txBox="1"/>
          <p:nvPr/>
        </p:nvSpPr>
        <p:spPr>
          <a:xfrm>
            <a:off x="5313761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03</a:t>
            </a:r>
            <a:endParaRPr lang="en-US" sz="3000" dirty="0"/>
          </a:p>
        </p:txBody>
      </p:sp>
      <p:pic>
        <p:nvPicPr>
          <p:cNvPr id="14" name="Icone solucao @a3u" descr="peo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294" y="1874520"/>
            <a:ext cx="548640" cy="548640"/>
          </a:xfrm>
          <a:prstGeom prst="rect">
            <a:avLst/>
          </a:prstGeom>
        </p:spPr>
      </p:pic>
      <p:sp>
        <p:nvSpPr>
          <p:cNvPr id="15" name="Texto solucao @a3u"/>
          <p:cNvSpPr txBox="1"/>
          <p:nvPr/>
        </p:nvSpPr>
        <p:spPr>
          <a:xfrm>
            <a:off x="5313761" y="2606040"/>
            <a:ext cx="160989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Rodízio</a:t>
            </a:r>
            <a:endParaRPr lang="en-US" sz="17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accent5"/>
                </a:solidFill>
              </a:rPr>
              <a:t>Cada dia um colaborador conduz junto com o líder.</a:t>
            </a:r>
            <a:endParaRPr lang="en-US" sz="1700" dirty="0"/>
          </a:p>
        </p:txBody>
      </p:sp>
      <p:sp>
        <p:nvSpPr>
          <p:cNvPr id="16" name="Solucao @a4u"/>
          <p:cNvSpPr/>
          <p:nvPr/>
        </p:nvSpPr>
        <p:spPr>
          <a:xfrm>
            <a:off x="7307702" y="1645920"/>
            <a:ext cx="2021373" cy="3611880"/>
          </a:xfrm>
          <a:prstGeom prst="roundRect">
            <a:avLst>
              <a:gd name="adj" fmla="val 5428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17" name="Num solucao @a4u"/>
          <p:cNvSpPr txBox="1"/>
          <p:nvPr/>
        </p:nvSpPr>
        <p:spPr>
          <a:xfrm>
            <a:off x="7536302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04</a:t>
            </a:r>
            <a:endParaRPr lang="en-US" sz="3000" dirty="0"/>
          </a:p>
        </p:txBody>
      </p:sp>
      <p:pic>
        <p:nvPicPr>
          <p:cNvPr id="18" name="Icone solucao @a4u" descr="clip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835" y="1874520"/>
            <a:ext cx="548640" cy="548640"/>
          </a:xfrm>
          <a:prstGeom prst="rect">
            <a:avLst/>
          </a:prstGeom>
        </p:spPr>
      </p:pic>
      <p:sp>
        <p:nvSpPr>
          <p:cNvPr id="19" name="Texto solucao @a4u"/>
          <p:cNvSpPr txBox="1"/>
          <p:nvPr/>
        </p:nvSpPr>
        <p:spPr>
          <a:xfrm>
            <a:off x="7536302" y="2606040"/>
            <a:ext cx="160989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Lista à mão</a:t>
            </a:r>
            <a:endParaRPr lang="en-US" sz="17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accent5"/>
                </a:solidFill>
              </a:rPr>
              <a:t>Impressa, na prancheta, junto com o tema do dia.</a:t>
            </a:r>
            <a:endParaRPr lang="en-US" sz="1700" dirty="0"/>
          </a:p>
        </p:txBody>
      </p:sp>
      <p:sp>
        <p:nvSpPr>
          <p:cNvPr id="20" name="Solucao @a5u"/>
          <p:cNvSpPr/>
          <p:nvPr/>
        </p:nvSpPr>
        <p:spPr>
          <a:xfrm>
            <a:off x="9530243" y="1645920"/>
            <a:ext cx="2021373" cy="3611880"/>
          </a:xfrm>
          <a:prstGeom prst="roundRect">
            <a:avLst>
              <a:gd name="adj" fmla="val 5428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21" name="Num solucao @a5u"/>
          <p:cNvSpPr txBox="1"/>
          <p:nvPr/>
        </p:nvSpPr>
        <p:spPr>
          <a:xfrm>
            <a:off x="9758843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05</a:t>
            </a:r>
            <a:endParaRPr lang="en-US" sz="3000" dirty="0"/>
          </a:p>
        </p:txBody>
      </p:sp>
      <p:pic>
        <p:nvPicPr>
          <p:cNvPr id="22" name="Icone solucao @a5u" descr="shie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4375" y="1874520"/>
            <a:ext cx="548640" cy="548640"/>
          </a:xfrm>
          <a:prstGeom prst="rect">
            <a:avLst/>
          </a:prstGeom>
        </p:spPr>
      </p:pic>
      <p:sp>
        <p:nvSpPr>
          <p:cNvPr id="23" name="Texto solucao @a5u"/>
          <p:cNvSpPr txBox="1"/>
          <p:nvPr/>
        </p:nvSpPr>
        <p:spPr>
          <a:xfrm>
            <a:off x="9758843" y="2606040"/>
            <a:ext cx="160989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Gestão presente</a:t>
            </a:r>
            <a:endParaRPr lang="en-US" sz="17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accent5"/>
                </a:solidFill>
              </a:rPr>
              <a:t>Quem lidera participa, cobra e dá o exemplo.</a:t>
            </a:r>
            <a:endParaRPr lang="en-US" sz="1700" dirty="0"/>
          </a:p>
        </p:txBody>
      </p:sp>
      <p:sp>
        <p:nvSpPr>
          <p:cNvPr id="24" name="Proposta @a6u"/>
          <p:cNvSpPr/>
          <p:nvPr/>
        </p:nvSpPr>
        <p:spPr>
          <a:xfrm>
            <a:off x="640080" y="5440680"/>
            <a:ext cx="10911535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5" name="Texto proposta @a6u"/>
          <p:cNvSpPr txBox="1"/>
          <p:nvPr/>
        </p:nvSpPr>
        <p:spPr>
          <a:xfrm>
            <a:off x="914400" y="544068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Proposta: DDS feito e registrado em todos os turnos.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 @a1f"/>
          <p:cNvSpPr txBox="1"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PARTE 3 · DESAFIO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9202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Desafio em equipe</a:t>
            </a:r>
            <a:endParaRPr lang="en-US" sz="4400" dirty="0"/>
          </a:p>
        </p:txBody>
      </p:sp>
      <p:sp>
        <p:nvSpPr>
          <p:cNvPr id="4" name="Topico @a2u.0"/>
          <p:cNvSpPr txBox="1"/>
          <p:nvPr/>
        </p:nvSpPr>
        <p:spPr>
          <a:xfrm>
            <a:off x="640080" y="365760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Equipes de 4 ou 5</a:t>
            </a:r>
            <a:endParaRPr lang="en-US" sz="1200" dirty="0"/>
          </a:p>
        </p:txBody>
      </p:sp>
      <p:sp>
        <p:nvSpPr>
          <p:cNvPr id="5" name="Topico @a2u.1"/>
          <p:cNvSpPr txBox="1"/>
          <p:nvPr/>
        </p:nvSpPr>
        <p:spPr>
          <a:xfrm>
            <a:off x="2624328" y="365760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Duas rodadas</a:t>
            </a:r>
            <a:endParaRPr lang="en-US" sz="1200" dirty="0"/>
          </a:p>
        </p:txBody>
      </p:sp>
      <p:sp>
        <p:nvSpPr>
          <p:cNvPr id="6" name="Topico @a2u.2"/>
          <p:cNvSpPr txBox="1"/>
          <p:nvPr/>
        </p:nvSpPr>
        <p:spPr>
          <a:xfrm>
            <a:off x="4608576" y="3657600"/>
            <a:ext cx="1874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Uma caixa</a:t>
            </a:r>
            <a:endParaRPr lang="en-US" sz="1200" dirty="0"/>
          </a:p>
        </p:txBody>
      </p:sp>
      <p:pic>
        <p:nvPicPr>
          <p:cNvPr id="7" name="Ilustracao parte @a1z" descr="/tmp/claude-0/-home-claude/5746e17e-ab87-5418-9566-46e1b5e96b03/scratchpad/pptx2/assets/hero-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914400"/>
            <a:ext cx="4572000" cy="4572000"/>
          </a:xfrm>
          <a:prstGeom prst="rect">
            <a:avLst/>
          </a:prstGeom>
        </p:spPr>
      </p:pic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3 · DESAFIO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desafio: montar a caixa</a:t>
            </a:r>
            <a:endParaRPr lang="en-US" sz="3200" dirty="0"/>
          </a:p>
        </p:txBody>
      </p:sp>
      <p:sp>
        <p:nvSpPr>
          <p:cNvPr id="4" name="Passo desafio @a1u.0"/>
          <p:cNvSpPr/>
          <p:nvPr/>
        </p:nvSpPr>
        <p:spPr>
          <a:xfrm>
            <a:off x="640080" y="1691640"/>
            <a:ext cx="667512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5" name="Num desafio @a1u.0"/>
          <p:cNvSpPr txBox="1"/>
          <p:nvPr/>
        </p:nvSpPr>
        <p:spPr>
          <a:xfrm>
            <a:off x="841248" y="186537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 desafio @a1u.0"/>
          <p:cNvSpPr txBox="1"/>
          <p:nvPr/>
        </p:nvSpPr>
        <p:spPr>
          <a:xfrm>
            <a:off x="1508760" y="1691640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Formem equipes de 4 ou 5 pessoas.</a:t>
            </a:r>
            <a:endParaRPr lang="en-US" sz="1600" dirty="0"/>
          </a:p>
        </p:txBody>
      </p:sp>
      <p:sp>
        <p:nvSpPr>
          <p:cNvPr id="7" name="Passo desafio @a1u.1"/>
          <p:cNvSpPr/>
          <p:nvPr/>
        </p:nvSpPr>
        <p:spPr>
          <a:xfrm>
            <a:off x="640080" y="2651760"/>
            <a:ext cx="667512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8" name="Num desafio @a1u.1"/>
          <p:cNvSpPr txBox="1"/>
          <p:nvPr/>
        </p:nvSpPr>
        <p:spPr>
          <a:xfrm>
            <a:off x="841248" y="282549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o desafio @a1u.1"/>
          <p:cNvSpPr txBox="1"/>
          <p:nvPr/>
        </p:nvSpPr>
        <p:spPr>
          <a:xfrm>
            <a:off x="1508760" y="2651760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Cada equipe escolhe 1 líder e 1 conferente. Os outros são montadores.</a:t>
            </a:r>
            <a:endParaRPr lang="en-US" sz="1600" dirty="0"/>
          </a:p>
        </p:txBody>
      </p:sp>
      <p:sp>
        <p:nvSpPr>
          <p:cNvPr id="10" name="Passo desafio @a1u.2"/>
          <p:cNvSpPr/>
          <p:nvPr/>
        </p:nvSpPr>
        <p:spPr>
          <a:xfrm>
            <a:off x="640080" y="3611880"/>
            <a:ext cx="667512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11" name="Num desafio @a1u.2"/>
          <p:cNvSpPr txBox="1"/>
          <p:nvPr/>
        </p:nvSpPr>
        <p:spPr>
          <a:xfrm>
            <a:off x="841248" y="378561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o desafio @a1u.2"/>
          <p:cNvSpPr txBox="1"/>
          <p:nvPr/>
        </p:nvSpPr>
        <p:spPr>
          <a:xfrm>
            <a:off x="1508760" y="3611880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Cada equipe recebe uma caixa para montar.</a:t>
            </a:r>
            <a:endParaRPr lang="en-US" sz="1600" dirty="0"/>
          </a:p>
        </p:txBody>
      </p:sp>
      <p:sp>
        <p:nvSpPr>
          <p:cNvPr id="13" name="Passo desafio @a1u.3"/>
          <p:cNvSpPr/>
          <p:nvPr/>
        </p:nvSpPr>
        <p:spPr>
          <a:xfrm>
            <a:off x="640080" y="4572000"/>
            <a:ext cx="667512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14" name="Num desafio @a1u.3"/>
          <p:cNvSpPr txBox="1"/>
          <p:nvPr/>
        </p:nvSpPr>
        <p:spPr>
          <a:xfrm>
            <a:off x="841248" y="474573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o desafio @a1u.3"/>
          <p:cNvSpPr txBox="1"/>
          <p:nvPr/>
        </p:nvSpPr>
        <p:spPr>
          <a:xfrm>
            <a:off x="1508760" y="4572000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 cliente aprova ou reprova cada caixa entregue.</a:t>
            </a:r>
            <a:endParaRPr lang="en-US" sz="1600" dirty="0"/>
          </a:p>
        </p:txBody>
      </p:sp>
      <p:sp>
        <p:nvSpPr>
          <p:cNvPr id="16" name="Funcoes @a2u"/>
          <p:cNvSpPr/>
          <p:nvPr/>
        </p:nvSpPr>
        <p:spPr>
          <a:xfrm>
            <a:off x="7635240" y="1691640"/>
            <a:ext cx="3916375" cy="3657600"/>
          </a:xfrm>
          <a:prstGeom prst="roundRect">
            <a:avLst>
              <a:gd name="adj" fmla="val 3000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7" name="Titulo funcoes @a2u"/>
          <p:cNvSpPr txBox="1"/>
          <p:nvPr/>
        </p:nvSpPr>
        <p:spPr>
          <a:xfrm>
            <a:off x="7909560" y="1874520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FUNÇÕES NA EQUIPE</a:t>
            </a:r>
            <a:endParaRPr lang="en-US" sz="1200" dirty="0"/>
          </a:p>
        </p:txBody>
      </p:sp>
      <p:pic>
        <p:nvPicPr>
          <p:cNvPr id="18" name="Icone funcao @a2u" descr="lea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2404872"/>
            <a:ext cx="548640" cy="548640"/>
          </a:xfrm>
          <a:prstGeom prst="rect">
            <a:avLst/>
          </a:prstGeom>
        </p:spPr>
      </p:pic>
      <p:sp>
        <p:nvSpPr>
          <p:cNvPr id="19" name="Texto funcao @a2u"/>
          <p:cNvSpPr txBox="1"/>
          <p:nvPr/>
        </p:nvSpPr>
        <p:spPr>
          <a:xfrm>
            <a:off x="8641080" y="2331720"/>
            <a:ext cx="2681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Líder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recebe a instrução e orienta a equipe</a:t>
            </a:r>
            <a:endParaRPr lang="en-US" sz="1500" dirty="0"/>
          </a:p>
        </p:txBody>
      </p:sp>
      <p:pic>
        <p:nvPicPr>
          <p:cNvPr id="20" name="Icone funcao @a2u" descr="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364992"/>
            <a:ext cx="548640" cy="548640"/>
          </a:xfrm>
          <a:prstGeom prst="rect">
            <a:avLst/>
          </a:prstGeom>
        </p:spPr>
      </p:pic>
      <p:sp>
        <p:nvSpPr>
          <p:cNvPr id="21" name="Texto funcao @a2u"/>
          <p:cNvSpPr txBox="1"/>
          <p:nvPr/>
        </p:nvSpPr>
        <p:spPr>
          <a:xfrm>
            <a:off x="8641080" y="3291840"/>
            <a:ext cx="2681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Montadores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montam a caixa</a:t>
            </a:r>
            <a:endParaRPr lang="en-US" sz="1500" dirty="0"/>
          </a:p>
        </p:txBody>
      </p:sp>
      <p:pic>
        <p:nvPicPr>
          <p:cNvPr id="22" name="Icone funcao @a2u" descr="ey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325112"/>
            <a:ext cx="548640" cy="548640"/>
          </a:xfrm>
          <a:prstGeom prst="rect">
            <a:avLst/>
          </a:prstGeom>
        </p:spPr>
      </p:pic>
      <p:sp>
        <p:nvSpPr>
          <p:cNvPr id="23" name="Texto funcao @a2u"/>
          <p:cNvSpPr txBox="1"/>
          <p:nvPr/>
        </p:nvSpPr>
        <p:spPr>
          <a:xfrm>
            <a:off x="8641080" y="4251960"/>
            <a:ext cx="2681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Conferente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confere a caixa antes da entrega</a:t>
            </a:r>
            <a:endParaRPr lang="en-US" sz="150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RODADA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 instrução é só do líder</a:t>
            </a:r>
            <a:endParaRPr lang="en-US" sz="3200" dirty="0"/>
          </a:p>
        </p:txBody>
      </p:sp>
      <p:sp>
        <p:nvSpPr>
          <p:cNvPr id="4" name="Anel @a1z"/>
          <p:cNvSpPr/>
          <p:nvPr/>
        </p:nvSpPr>
        <p:spPr>
          <a:xfrm>
            <a:off x="8001000" y="1600200"/>
            <a:ext cx="3291840" cy="3291840"/>
          </a:xfrm>
          <a:prstGeom prst="ellipse">
            <a:avLst/>
          </a:prstGeom>
          <a:solidFill>
            <a:schemeClr val="bg1">
              <a:alpha val="8000"/>
            </a:schemeClr>
          </a:solidFill>
          <a:ln w="127000">
            <a:solidFill>
              <a:schemeClr val="accent2"/>
            </a:solidFill>
            <a:prstDash val="solid"/>
          </a:ln>
        </p:spPr>
      </p:sp>
      <p:pic>
        <p:nvPicPr>
          <p:cNvPr id="5" name="Caixa @a1z" descr="pack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103120"/>
            <a:ext cx="1463040" cy="1463040"/>
          </a:xfrm>
          <a:prstGeom prst="rect">
            <a:avLst/>
          </a:prstGeom>
        </p:spPr>
      </p:pic>
      <p:sp>
        <p:nvSpPr>
          <p:cNvPr id="6" name="Rotulo rodada @a1z"/>
          <p:cNvSpPr txBox="1"/>
          <p:nvPr/>
        </p:nvSpPr>
        <p:spPr>
          <a:xfrm>
            <a:off x="800100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Rodada 1</a:t>
            </a:r>
            <a:endParaRPr lang="en-US" sz="2200" dirty="0"/>
          </a:p>
        </p:txBody>
      </p:sp>
      <p:sp>
        <p:nvSpPr>
          <p:cNvPr id="7" name="Regra rodada @a2u.0"/>
          <p:cNvSpPr/>
          <p:nvPr/>
        </p:nvSpPr>
        <p:spPr>
          <a:xfrm>
            <a:off x="640080" y="1783080"/>
            <a:ext cx="6903720" cy="868680"/>
          </a:xfrm>
          <a:prstGeom prst="roundRect">
            <a:avLst>
              <a:gd name="adj" fmla="val 12632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pic>
        <p:nvPicPr>
          <p:cNvPr id="8" name="Icone rodada @a2u.0" descr="lea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38528"/>
            <a:ext cx="548640" cy="548640"/>
          </a:xfrm>
          <a:prstGeom prst="rect">
            <a:avLst/>
          </a:prstGeom>
        </p:spPr>
      </p:pic>
      <p:sp>
        <p:nvSpPr>
          <p:cNvPr id="9" name="Texto rodada @a2u.0"/>
          <p:cNvSpPr txBox="1"/>
          <p:nvPr/>
        </p:nvSpPr>
        <p:spPr>
          <a:xfrm>
            <a:off x="1600200" y="17830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Só o líder recebe a instrução.</a:t>
            </a:r>
            <a:endParaRPr lang="en-US" sz="1700" dirty="0"/>
          </a:p>
        </p:txBody>
      </p:sp>
      <p:sp>
        <p:nvSpPr>
          <p:cNvPr id="10" name="Regra rodada @a2u.1"/>
          <p:cNvSpPr/>
          <p:nvPr/>
        </p:nvSpPr>
        <p:spPr>
          <a:xfrm>
            <a:off x="640080" y="2834640"/>
            <a:ext cx="6903720" cy="868680"/>
          </a:xfrm>
          <a:prstGeom prst="roundRect">
            <a:avLst>
              <a:gd name="adj" fmla="val 12632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pic>
        <p:nvPicPr>
          <p:cNvPr id="11" name="Icone rodada @a2u.1" descr="mega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990088"/>
            <a:ext cx="548640" cy="548640"/>
          </a:xfrm>
          <a:prstGeom prst="rect">
            <a:avLst/>
          </a:prstGeom>
        </p:spPr>
      </p:pic>
      <p:sp>
        <p:nvSpPr>
          <p:cNvPr id="12" name="Texto rodada @a2u.1"/>
          <p:cNvSpPr txBox="1"/>
          <p:nvPr/>
        </p:nvSpPr>
        <p:spPr>
          <a:xfrm>
            <a:off x="1600200" y="28346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Ele explica só falando: não mostra e não toca na caixa.</a:t>
            </a:r>
            <a:endParaRPr lang="en-US" sz="1700" dirty="0"/>
          </a:p>
        </p:txBody>
      </p:sp>
      <p:sp>
        <p:nvSpPr>
          <p:cNvPr id="13" name="Regra rodada @a2u.2"/>
          <p:cNvSpPr/>
          <p:nvPr/>
        </p:nvSpPr>
        <p:spPr>
          <a:xfrm>
            <a:off x="640080" y="3886200"/>
            <a:ext cx="6903720" cy="868680"/>
          </a:xfrm>
          <a:prstGeom prst="roundRect">
            <a:avLst>
              <a:gd name="adj" fmla="val 12632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pic>
        <p:nvPicPr>
          <p:cNvPr id="14" name="Icone rodada @a2u.2" descr="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041648"/>
            <a:ext cx="548640" cy="548640"/>
          </a:xfrm>
          <a:prstGeom prst="rect">
            <a:avLst/>
          </a:prstGeom>
        </p:spPr>
      </p:pic>
      <p:sp>
        <p:nvSpPr>
          <p:cNvPr id="15" name="Texto rodada @a2u.2"/>
          <p:cNvSpPr txBox="1"/>
          <p:nvPr/>
        </p:nvSpPr>
        <p:spPr>
          <a:xfrm>
            <a:off x="1600200" y="38862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 equipe não pode fazer perguntas.</a:t>
            </a:r>
            <a:endParaRPr lang="en-US" sz="1700" dirty="0"/>
          </a:p>
        </p:txBody>
      </p:sp>
      <p:sp>
        <p:nvSpPr>
          <p:cNvPr id="16" name="Fecho rodada @a3u"/>
          <p:cNvSpPr txBox="1"/>
          <p:nvPr/>
        </p:nvSpPr>
        <p:spPr>
          <a:xfrm>
            <a:off x="640080" y="5074920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Valendo!</a:t>
            </a:r>
            <a:endParaRPr lang="en-US" sz="18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RODADA 1 · CONVERSA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aconteceu na rodada 1?</a:t>
            </a:r>
            <a:endParaRPr lang="en-US" sz="3200" dirty="0"/>
          </a:p>
        </p:txBody>
      </p:sp>
      <p:sp>
        <p:nvSpPr>
          <p:cNvPr id="4" name="Perguntas @a1u"/>
          <p:cNvSpPr/>
          <p:nvPr/>
        </p:nvSpPr>
        <p:spPr>
          <a:xfrm>
            <a:off x="640080" y="1645920"/>
            <a:ext cx="3886200" cy="4069080"/>
          </a:xfrm>
          <a:prstGeom prst="roundRect">
            <a:avLst>
              <a:gd name="adj" fmla="val 2824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5" name="Icone perguntas @a1u" descr="c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731520" cy="731520"/>
          </a:xfrm>
          <a:prstGeom prst="rect">
            <a:avLst/>
          </a:prstGeom>
        </p:spPr>
      </p:pic>
      <p:sp>
        <p:nvSpPr>
          <p:cNvPr id="6" name="Texto perguntas @a1u"/>
          <p:cNvSpPr txBox="1"/>
          <p:nvPr/>
        </p:nvSpPr>
        <p:spPr>
          <a:xfrm>
            <a:off x="960120" y="27889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Pergunte à turma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bg1"/>
                </a:solidFill>
              </a:rPr>
              <a:t>Conseguiram montar? O que faltou? Quem ficou com dúvida e não pôde perguntar?</a:t>
            </a:r>
            <a:endParaRPr lang="en-US" sz="1300" dirty="0"/>
          </a:p>
        </p:txBody>
      </p:sp>
      <p:sp>
        <p:nvSpPr>
          <p:cNvPr id="7" name="Falha @c1u"/>
          <p:cNvSpPr/>
          <p:nvPr/>
        </p:nvSpPr>
        <p:spPr>
          <a:xfrm>
            <a:off x="4800600" y="1645920"/>
            <a:ext cx="6751015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8" name="Icone falha @c1u" descr="clip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55648"/>
            <a:ext cx="457200" cy="457200"/>
          </a:xfrm>
          <a:prstGeom prst="rect">
            <a:avLst/>
          </a:prstGeom>
        </p:spPr>
      </p:pic>
      <p:sp>
        <p:nvSpPr>
          <p:cNvPr id="9" name="Texto falha @c1u"/>
          <p:cNvSpPr txBox="1"/>
          <p:nvPr/>
        </p:nvSpPr>
        <p:spPr>
          <a:xfrm>
            <a:off x="5577840" y="1645920"/>
            <a:ext cx="58366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Instrução incompleta  </a:t>
            </a:r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Faltavam passos e detalhes.</a:t>
            </a:r>
            <a:endParaRPr lang="en-US" sz="1500" dirty="0"/>
          </a:p>
        </p:txBody>
      </p:sp>
      <p:sp>
        <p:nvSpPr>
          <p:cNvPr id="10" name="Falha @c2u"/>
          <p:cNvSpPr/>
          <p:nvPr/>
        </p:nvSpPr>
        <p:spPr>
          <a:xfrm>
            <a:off x="4800600" y="2432304"/>
            <a:ext cx="6751015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1" name="Icone falha @c2u" descr="lea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542032"/>
            <a:ext cx="457200" cy="457200"/>
          </a:xfrm>
          <a:prstGeom prst="rect">
            <a:avLst/>
          </a:prstGeom>
        </p:spPr>
      </p:pic>
      <p:sp>
        <p:nvSpPr>
          <p:cNvPr id="12" name="Texto falha @c2u"/>
          <p:cNvSpPr txBox="1"/>
          <p:nvPr/>
        </p:nvSpPr>
        <p:spPr>
          <a:xfrm>
            <a:off x="5577840" y="2432304"/>
            <a:ext cx="58366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Só o líder sabia  </a:t>
            </a:r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informação ficou com uma pessoa só.</a:t>
            </a:r>
            <a:endParaRPr lang="en-US" sz="1500" dirty="0"/>
          </a:p>
        </p:txBody>
      </p:sp>
      <p:sp>
        <p:nvSpPr>
          <p:cNvPr id="13" name="Falha @c3u"/>
          <p:cNvSpPr/>
          <p:nvPr/>
        </p:nvSpPr>
        <p:spPr>
          <a:xfrm>
            <a:off x="4800600" y="3218688"/>
            <a:ext cx="6751015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4" name="Icone falha @c3u" descr="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28416"/>
            <a:ext cx="457200" cy="457200"/>
          </a:xfrm>
          <a:prstGeom prst="rect">
            <a:avLst/>
          </a:prstGeom>
        </p:spPr>
      </p:pic>
      <p:sp>
        <p:nvSpPr>
          <p:cNvPr id="15" name="Texto falha @c3u"/>
          <p:cNvSpPr txBox="1"/>
          <p:nvPr/>
        </p:nvSpPr>
        <p:spPr>
          <a:xfrm>
            <a:off x="5577840" y="3218688"/>
            <a:ext cx="58366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Ninguém podia perguntar  </a:t>
            </a:r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Quem tinha dúvida ficou com ela.</a:t>
            </a:r>
            <a:endParaRPr lang="en-US" sz="1500" dirty="0"/>
          </a:p>
        </p:txBody>
      </p:sp>
      <p:sp>
        <p:nvSpPr>
          <p:cNvPr id="16" name="Falha @c4u"/>
          <p:cNvSpPr/>
          <p:nvPr/>
        </p:nvSpPr>
        <p:spPr>
          <a:xfrm>
            <a:off x="4800600" y="4005072"/>
            <a:ext cx="6751015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7" name="Icone falha @c4u" descr="ey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4114800"/>
            <a:ext cx="457200" cy="457200"/>
          </a:xfrm>
          <a:prstGeom prst="rect">
            <a:avLst/>
          </a:prstGeom>
        </p:spPr>
      </p:pic>
      <p:sp>
        <p:nvSpPr>
          <p:cNvPr id="18" name="Texto falha @c4u"/>
          <p:cNvSpPr txBox="1"/>
          <p:nvPr/>
        </p:nvSpPr>
        <p:spPr>
          <a:xfrm>
            <a:off x="5577840" y="4005072"/>
            <a:ext cx="58366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 modelo para comparar  </a:t>
            </a:r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Ninguém sabia como a caixa devia ficar, nem o conferente.</a:t>
            </a:r>
            <a:endParaRPr lang="en-US" sz="1500" dirty="0"/>
          </a:p>
        </p:txBody>
      </p:sp>
      <p:sp>
        <p:nvSpPr>
          <p:cNvPr id="19" name="Conclusao @c5z"/>
          <p:cNvSpPr/>
          <p:nvPr/>
        </p:nvSpPr>
        <p:spPr>
          <a:xfrm>
            <a:off x="4800600" y="4892040"/>
            <a:ext cx="6751015" cy="822960"/>
          </a:xfrm>
          <a:prstGeom prst="roundRect">
            <a:avLst>
              <a:gd name="adj" fmla="val 13333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o conclusao @c5z"/>
          <p:cNvSpPr txBox="1"/>
          <p:nvPr/>
        </p:nvSpPr>
        <p:spPr>
          <a:xfrm>
            <a:off x="5029200" y="4892040"/>
            <a:ext cx="6293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equipe não falhou sozinha: a informação chegou errada e não havia como confirmar.</a:t>
            </a:r>
            <a:endParaRPr lang="en-US" sz="16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RODADA 2 · SEGUNDA CHANCE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Agora com a instrução certa</a:t>
            </a:r>
            <a:endParaRPr lang="en-US" sz="3200" dirty="0"/>
          </a:p>
        </p:txBody>
      </p:sp>
      <p:sp>
        <p:nvSpPr>
          <p:cNvPr id="4" name="Anel @a1z"/>
          <p:cNvSpPr/>
          <p:nvPr/>
        </p:nvSpPr>
        <p:spPr>
          <a:xfrm>
            <a:off x="8001000" y="1600200"/>
            <a:ext cx="3291840" cy="3291840"/>
          </a:xfrm>
          <a:prstGeom prst="ellipse">
            <a:avLst/>
          </a:prstGeom>
          <a:solidFill>
            <a:schemeClr val="bg1">
              <a:alpha val="8000"/>
            </a:schemeClr>
          </a:solidFill>
          <a:ln w="127000">
            <a:solidFill>
              <a:schemeClr val="accent2"/>
            </a:solidFill>
            <a:prstDash val="solid"/>
          </a:ln>
        </p:spPr>
      </p:sp>
      <p:pic>
        <p:nvPicPr>
          <p:cNvPr id="5" name="Caixa @a1z" descr="pack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103120"/>
            <a:ext cx="1463040" cy="1463040"/>
          </a:xfrm>
          <a:prstGeom prst="rect">
            <a:avLst/>
          </a:prstGeom>
        </p:spPr>
      </p:pic>
      <p:sp>
        <p:nvSpPr>
          <p:cNvPr id="6" name="Rotulo rodada @a1z"/>
          <p:cNvSpPr txBox="1"/>
          <p:nvPr/>
        </p:nvSpPr>
        <p:spPr>
          <a:xfrm>
            <a:off x="800100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Rodada 2</a:t>
            </a:r>
            <a:endParaRPr lang="en-US" sz="2200" dirty="0"/>
          </a:p>
        </p:txBody>
      </p:sp>
      <p:sp>
        <p:nvSpPr>
          <p:cNvPr id="7" name="Regra rodada @a2u.0"/>
          <p:cNvSpPr/>
          <p:nvPr/>
        </p:nvSpPr>
        <p:spPr>
          <a:xfrm>
            <a:off x="640080" y="1783080"/>
            <a:ext cx="6903720" cy="868680"/>
          </a:xfrm>
          <a:prstGeom prst="roundRect">
            <a:avLst>
              <a:gd name="adj" fmla="val 12632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pic>
        <p:nvPicPr>
          <p:cNvPr id="8" name="Icone rodada @a2u.0" descr="ey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38528"/>
            <a:ext cx="548640" cy="548640"/>
          </a:xfrm>
          <a:prstGeom prst="rect">
            <a:avLst/>
          </a:prstGeom>
        </p:spPr>
      </p:pic>
      <p:sp>
        <p:nvSpPr>
          <p:cNvPr id="9" name="Texto rodada @a2u.0"/>
          <p:cNvSpPr txBox="1"/>
          <p:nvPr/>
        </p:nvSpPr>
        <p:spPr>
          <a:xfrm>
            <a:off x="1600200" y="17830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Todos veem a instrução e a caixa montada de referência.</a:t>
            </a:r>
            <a:endParaRPr lang="en-US" sz="1700" dirty="0"/>
          </a:p>
        </p:txBody>
      </p:sp>
      <p:sp>
        <p:nvSpPr>
          <p:cNvPr id="10" name="Regra rodada @a2u.1"/>
          <p:cNvSpPr/>
          <p:nvPr/>
        </p:nvSpPr>
        <p:spPr>
          <a:xfrm>
            <a:off x="640080" y="2834640"/>
            <a:ext cx="6903720" cy="868680"/>
          </a:xfrm>
          <a:prstGeom prst="roundRect">
            <a:avLst>
              <a:gd name="adj" fmla="val 12632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pic>
        <p:nvPicPr>
          <p:cNvPr id="11" name="Icone rodada @a2u.1" descr="ch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990088"/>
            <a:ext cx="548640" cy="548640"/>
          </a:xfrm>
          <a:prstGeom prst="rect">
            <a:avLst/>
          </a:prstGeom>
        </p:spPr>
      </p:pic>
      <p:sp>
        <p:nvSpPr>
          <p:cNvPr id="12" name="Texto rodada @a2u.1"/>
          <p:cNvSpPr txBox="1"/>
          <p:nvPr/>
        </p:nvSpPr>
        <p:spPr>
          <a:xfrm>
            <a:off x="1600200" y="28346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Perguntem! Quem recebe a instrução repete o que entendeu.</a:t>
            </a:r>
            <a:endParaRPr lang="en-US" sz="1700" dirty="0"/>
          </a:p>
        </p:txBody>
      </p:sp>
      <p:sp>
        <p:nvSpPr>
          <p:cNvPr id="13" name="Regra rodada @a2u.2"/>
          <p:cNvSpPr/>
          <p:nvPr/>
        </p:nvSpPr>
        <p:spPr>
          <a:xfrm>
            <a:off x="640080" y="3886200"/>
            <a:ext cx="6903720" cy="868680"/>
          </a:xfrm>
          <a:prstGeom prst="roundRect">
            <a:avLst>
              <a:gd name="adj" fmla="val 12632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pic>
        <p:nvPicPr>
          <p:cNvPr id="14" name="Icone rodada @a2u.2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041648"/>
            <a:ext cx="548640" cy="548640"/>
          </a:xfrm>
          <a:prstGeom prst="rect">
            <a:avLst/>
          </a:prstGeom>
        </p:spPr>
      </p:pic>
      <p:sp>
        <p:nvSpPr>
          <p:cNvPr id="15" name="Texto rodada @a2u.2"/>
          <p:cNvSpPr txBox="1"/>
          <p:nvPr/>
        </p:nvSpPr>
        <p:spPr>
          <a:xfrm>
            <a:off x="1600200" y="38862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 conferente confere a caixa antes de entregar.</a:t>
            </a:r>
            <a:endParaRPr lang="en-US" sz="1700" dirty="0"/>
          </a:p>
        </p:txBody>
      </p:sp>
      <p:sp>
        <p:nvSpPr>
          <p:cNvPr id="16" name="Fecho rodada @a3u"/>
          <p:cNvSpPr txBox="1"/>
          <p:nvPr/>
        </p:nvSpPr>
        <p:spPr>
          <a:xfrm>
            <a:off x="640080" y="5074920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Fala, repete, confirma. Valendo!</a:t>
            </a:r>
            <a:endParaRPr lang="en-US" sz="18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3 · DESAFIO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Mesma equipe, mesma caixa. O que mudou?</a:t>
            </a:r>
            <a:endParaRPr lang="en-US" sz="3200" dirty="0"/>
          </a:p>
        </p:txBody>
      </p:sp>
      <p:sp>
        <p:nvSpPr>
          <p:cNvPr id="4" name="Coluna RODADA 1 @a1u"/>
          <p:cNvSpPr/>
          <p:nvPr/>
        </p:nvSpPr>
        <p:spPr>
          <a:xfrm>
            <a:off x="640080" y="1645920"/>
            <a:ext cx="5295748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5" name="Titulo coluna @a1u"/>
          <p:cNvSpPr txBox="1"/>
          <p:nvPr/>
        </p:nvSpPr>
        <p:spPr>
          <a:xfrm>
            <a:off x="960120" y="1828800"/>
            <a:ext cx="4655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RODADA 1</a:t>
            </a:r>
            <a:endParaRPr lang="en-US" sz="1300" dirty="0"/>
          </a:p>
        </p:txBody>
      </p:sp>
      <p:pic>
        <p:nvPicPr>
          <p:cNvPr id="6" name="Icone item @a1u" descr="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40864"/>
            <a:ext cx="384048" cy="384048"/>
          </a:xfrm>
          <a:prstGeom prst="rect">
            <a:avLst/>
          </a:prstGeom>
        </p:spPr>
      </p:pic>
      <p:sp>
        <p:nvSpPr>
          <p:cNvPr id="7" name="Item @a1u"/>
          <p:cNvSpPr txBox="1"/>
          <p:nvPr/>
        </p:nvSpPr>
        <p:spPr>
          <a:xfrm>
            <a:off x="1508760" y="2286000"/>
            <a:ext cx="41527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Instrução incompleta</a:t>
            </a:r>
            <a:endParaRPr lang="en-US" sz="1600" dirty="0"/>
          </a:p>
        </p:txBody>
      </p:sp>
      <p:pic>
        <p:nvPicPr>
          <p:cNvPr id="8" name="Icone item @a1u" descr="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44368"/>
            <a:ext cx="384048" cy="384048"/>
          </a:xfrm>
          <a:prstGeom prst="rect">
            <a:avLst/>
          </a:prstGeom>
        </p:spPr>
      </p:pic>
      <p:sp>
        <p:nvSpPr>
          <p:cNvPr id="9" name="Item @a1u"/>
          <p:cNvSpPr txBox="1"/>
          <p:nvPr/>
        </p:nvSpPr>
        <p:spPr>
          <a:xfrm>
            <a:off x="1508760" y="2889504"/>
            <a:ext cx="41527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Só o líder sabia</a:t>
            </a:r>
            <a:endParaRPr lang="en-US" sz="1600" dirty="0"/>
          </a:p>
        </p:txBody>
      </p:sp>
      <p:pic>
        <p:nvPicPr>
          <p:cNvPr id="10" name="Icone item @a1u" descr="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47872"/>
            <a:ext cx="384048" cy="384048"/>
          </a:xfrm>
          <a:prstGeom prst="rect">
            <a:avLst/>
          </a:prstGeom>
        </p:spPr>
      </p:pic>
      <p:sp>
        <p:nvSpPr>
          <p:cNvPr id="11" name="Item @a1u"/>
          <p:cNvSpPr txBox="1"/>
          <p:nvPr/>
        </p:nvSpPr>
        <p:spPr>
          <a:xfrm>
            <a:off x="1508760" y="3493008"/>
            <a:ext cx="41527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Proibido perguntar</a:t>
            </a:r>
            <a:endParaRPr lang="en-US" sz="1600" dirty="0"/>
          </a:p>
        </p:txBody>
      </p:sp>
      <p:pic>
        <p:nvPicPr>
          <p:cNvPr id="12" name="Icone item @a1u" descr="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51376"/>
            <a:ext cx="384048" cy="384048"/>
          </a:xfrm>
          <a:prstGeom prst="rect">
            <a:avLst/>
          </a:prstGeom>
        </p:spPr>
      </p:pic>
      <p:sp>
        <p:nvSpPr>
          <p:cNvPr id="13" name="Item @a1u"/>
          <p:cNvSpPr txBox="1"/>
          <p:nvPr/>
        </p:nvSpPr>
        <p:spPr>
          <a:xfrm>
            <a:off x="1508760" y="4096512"/>
            <a:ext cx="41527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 modelo para comparar</a:t>
            </a:r>
            <a:endParaRPr lang="en-US" sz="1600" dirty="0"/>
          </a:p>
        </p:txBody>
      </p:sp>
      <p:sp>
        <p:nvSpPr>
          <p:cNvPr id="14" name="Coluna RODADA 2 @c1u"/>
          <p:cNvSpPr/>
          <p:nvPr/>
        </p:nvSpPr>
        <p:spPr>
          <a:xfrm>
            <a:off x="6255868" y="1645920"/>
            <a:ext cx="5295748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15" name="Titulo coluna @c1u"/>
          <p:cNvSpPr txBox="1"/>
          <p:nvPr/>
        </p:nvSpPr>
        <p:spPr>
          <a:xfrm>
            <a:off x="6575908" y="1828800"/>
            <a:ext cx="4655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RODADA 2</a:t>
            </a:r>
            <a:endParaRPr lang="en-US" sz="1300" dirty="0"/>
          </a:p>
        </p:txBody>
      </p:sp>
      <p:pic>
        <p:nvPicPr>
          <p:cNvPr id="16" name="Icone item @c1u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908" y="2340864"/>
            <a:ext cx="384048" cy="384048"/>
          </a:xfrm>
          <a:prstGeom prst="rect">
            <a:avLst/>
          </a:prstGeom>
        </p:spPr>
      </p:pic>
      <p:sp>
        <p:nvSpPr>
          <p:cNvPr id="17" name="Item @c1u"/>
          <p:cNvSpPr txBox="1"/>
          <p:nvPr/>
        </p:nvSpPr>
        <p:spPr>
          <a:xfrm>
            <a:off x="7124548" y="2286000"/>
            <a:ext cx="41527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Instrução completa, passo a passo</a:t>
            </a:r>
            <a:endParaRPr lang="en-US" sz="1600" dirty="0"/>
          </a:p>
        </p:txBody>
      </p:sp>
      <p:pic>
        <p:nvPicPr>
          <p:cNvPr id="18" name="Icone item @c1u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908" y="2944368"/>
            <a:ext cx="384048" cy="384048"/>
          </a:xfrm>
          <a:prstGeom prst="rect">
            <a:avLst/>
          </a:prstGeom>
        </p:spPr>
      </p:pic>
      <p:sp>
        <p:nvSpPr>
          <p:cNvPr id="19" name="Item @c1u"/>
          <p:cNvSpPr txBox="1"/>
          <p:nvPr/>
        </p:nvSpPr>
        <p:spPr>
          <a:xfrm>
            <a:off x="7124548" y="2889504"/>
            <a:ext cx="41527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Todos viam a mesma informação</a:t>
            </a:r>
            <a:endParaRPr lang="en-US" sz="1600" dirty="0"/>
          </a:p>
        </p:txBody>
      </p:sp>
      <p:pic>
        <p:nvPicPr>
          <p:cNvPr id="20" name="Icone item @c1u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5908" y="3547872"/>
            <a:ext cx="384048" cy="384048"/>
          </a:xfrm>
          <a:prstGeom prst="rect">
            <a:avLst/>
          </a:prstGeom>
        </p:spPr>
      </p:pic>
      <p:sp>
        <p:nvSpPr>
          <p:cNvPr id="21" name="Item @c1u"/>
          <p:cNvSpPr txBox="1"/>
          <p:nvPr/>
        </p:nvSpPr>
        <p:spPr>
          <a:xfrm>
            <a:off x="7124548" y="3493008"/>
            <a:ext cx="41527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Perguntas e confirmação</a:t>
            </a:r>
            <a:endParaRPr lang="en-US" sz="1600" dirty="0"/>
          </a:p>
        </p:txBody>
      </p:sp>
      <p:pic>
        <p:nvPicPr>
          <p:cNvPr id="22" name="Icone item @c1u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5908" y="4151376"/>
            <a:ext cx="384048" cy="384048"/>
          </a:xfrm>
          <a:prstGeom prst="rect">
            <a:avLst/>
          </a:prstGeom>
        </p:spPr>
      </p:pic>
      <p:sp>
        <p:nvSpPr>
          <p:cNvPr id="23" name="Item @c1u"/>
          <p:cNvSpPr txBox="1"/>
          <p:nvPr/>
        </p:nvSpPr>
        <p:spPr>
          <a:xfrm>
            <a:off x="7124548" y="4096512"/>
            <a:ext cx="41527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Caixa de referência para conferir</a:t>
            </a:r>
            <a:endParaRPr lang="en-US" sz="1600" dirty="0"/>
          </a:p>
        </p:txBody>
      </p:sp>
      <p:sp>
        <p:nvSpPr>
          <p:cNvPr id="24" name="Frase @c2z"/>
          <p:cNvSpPr/>
          <p:nvPr/>
        </p:nvSpPr>
        <p:spPr>
          <a:xfrm>
            <a:off x="640080" y="5029200"/>
            <a:ext cx="10911535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Texto frase @c2z"/>
          <p:cNvSpPr txBox="1"/>
          <p:nvPr/>
        </p:nvSpPr>
        <p:spPr>
          <a:xfrm>
            <a:off x="960120" y="502920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Mesmas pessoas, mesmo material. </a:t>
            </a:r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Comunicação diferente, resultado diferente.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3 · DESAFIO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 caixa para o nosso turno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NO DESAFIO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NO CD</a:t>
            </a:r>
            <a:endParaRPr lang="en-US" sz="1200" dirty="0"/>
          </a:p>
        </p:txBody>
      </p:sp>
      <p:sp>
        <p:nvSpPr>
          <p:cNvPr id="6" name="Desafio @a1u.0"/>
          <p:cNvSpPr/>
          <p:nvPr/>
        </p:nvSpPr>
        <p:spPr>
          <a:xfrm>
            <a:off x="640080" y="1828800"/>
            <a:ext cx="356616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7" name="Texto desafio @a1u.0"/>
          <p:cNvSpPr txBox="1"/>
          <p:nvPr/>
        </p:nvSpPr>
        <p:spPr>
          <a:xfrm>
            <a:off x="822960" y="182880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Instrução incompleta</a:t>
            </a:r>
            <a:endParaRPr lang="en-US" sz="1400" dirty="0"/>
          </a:p>
        </p:txBody>
      </p:sp>
      <p:sp>
        <p:nvSpPr>
          <p:cNvPr id="8" name="Seta @a1u.0"/>
          <p:cNvSpPr/>
          <p:nvPr/>
        </p:nvSpPr>
        <p:spPr>
          <a:xfrm>
            <a:off x="4297680" y="2075688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CD @a1u.0"/>
          <p:cNvSpPr/>
          <p:nvPr/>
        </p:nvSpPr>
        <p:spPr>
          <a:xfrm>
            <a:off x="4846320" y="1828800"/>
            <a:ext cx="6705295" cy="493776"/>
          </a:xfrm>
          <a:prstGeom prst="roundRect">
            <a:avLst>
              <a:gd name="adj" fmla="val 22222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0" name="Texto CD @a1u.0"/>
          <p:cNvSpPr txBox="1"/>
          <p:nvPr/>
        </p:nvSpPr>
        <p:spPr>
          <a:xfrm>
            <a:off x="5029200" y="1828800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Procedimento desatualizado ou passado pela metade</a:t>
            </a:r>
            <a:endParaRPr lang="en-US" sz="1400" dirty="0"/>
          </a:p>
        </p:txBody>
      </p:sp>
      <p:sp>
        <p:nvSpPr>
          <p:cNvPr id="11" name="Desafio @a1u.1"/>
          <p:cNvSpPr/>
          <p:nvPr/>
        </p:nvSpPr>
        <p:spPr>
          <a:xfrm>
            <a:off x="640080" y="2432304"/>
            <a:ext cx="356616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12" name="Texto desafio @a1u.1"/>
          <p:cNvSpPr txBox="1"/>
          <p:nvPr/>
        </p:nvSpPr>
        <p:spPr>
          <a:xfrm>
            <a:off x="822960" y="243230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Só o líder sabia</a:t>
            </a:r>
            <a:endParaRPr lang="en-US" sz="1400" dirty="0"/>
          </a:p>
        </p:txBody>
      </p:sp>
      <p:sp>
        <p:nvSpPr>
          <p:cNvPr id="13" name="Seta @a1u.1"/>
          <p:cNvSpPr/>
          <p:nvPr/>
        </p:nvSpPr>
        <p:spPr>
          <a:xfrm>
            <a:off x="4297680" y="2679192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CD @a1u.1"/>
          <p:cNvSpPr/>
          <p:nvPr/>
        </p:nvSpPr>
        <p:spPr>
          <a:xfrm>
            <a:off x="4846320" y="2432304"/>
            <a:ext cx="6705295" cy="493776"/>
          </a:xfrm>
          <a:prstGeom prst="roundRect">
            <a:avLst>
              <a:gd name="adj" fmla="val 22222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5" name="Texto CD @a1u.1"/>
          <p:cNvSpPr txBox="1"/>
          <p:nvPr/>
        </p:nvSpPr>
        <p:spPr>
          <a:xfrm>
            <a:off x="5029200" y="2432304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Informação que fica com uma pessoa: passagem de turno, rádio</a:t>
            </a:r>
            <a:endParaRPr lang="en-US" sz="1400" dirty="0"/>
          </a:p>
        </p:txBody>
      </p:sp>
      <p:sp>
        <p:nvSpPr>
          <p:cNvPr id="16" name="Desafio @a1u.2"/>
          <p:cNvSpPr/>
          <p:nvPr/>
        </p:nvSpPr>
        <p:spPr>
          <a:xfrm>
            <a:off x="640080" y="3035808"/>
            <a:ext cx="356616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17" name="Texto desafio @a1u.2"/>
          <p:cNvSpPr txBox="1"/>
          <p:nvPr/>
        </p:nvSpPr>
        <p:spPr>
          <a:xfrm>
            <a:off x="822960" y="303580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Proibido perguntar</a:t>
            </a:r>
            <a:endParaRPr lang="en-US" sz="1400" dirty="0"/>
          </a:p>
        </p:txBody>
      </p:sp>
      <p:sp>
        <p:nvSpPr>
          <p:cNvPr id="18" name="Seta @a1u.2"/>
          <p:cNvSpPr/>
          <p:nvPr/>
        </p:nvSpPr>
        <p:spPr>
          <a:xfrm>
            <a:off x="4297680" y="3282696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CD @a1u.2"/>
          <p:cNvSpPr/>
          <p:nvPr/>
        </p:nvSpPr>
        <p:spPr>
          <a:xfrm>
            <a:off x="4846320" y="3035808"/>
            <a:ext cx="6705295" cy="493776"/>
          </a:xfrm>
          <a:prstGeom prst="roundRect">
            <a:avLst>
              <a:gd name="adj" fmla="val 22222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0" name="Texto CD @a1u.2"/>
          <p:cNvSpPr txBox="1"/>
          <p:nvPr/>
        </p:nvSpPr>
        <p:spPr>
          <a:xfrm>
            <a:off x="5029200" y="3035808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Equipe com medo de perguntar: por isso a CNV</a:t>
            </a:r>
            <a:endParaRPr lang="en-US" sz="1400" dirty="0"/>
          </a:p>
        </p:txBody>
      </p:sp>
      <p:sp>
        <p:nvSpPr>
          <p:cNvPr id="21" name="Desafio @a1u.3"/>
          <p:cNvSpPr/>
          <p:nvPr/>
        </p:nvSpPr>
        <p:spPr>
          <a:xfrm>
            <a:off x="640080" y="3639312"/>
            <a:ext cx="356616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22" name="Texto desafio @a1u.3"/>
          <p:cNvSpPr txBox="1"/>
          <p:nvPr/>
        </p:nvSpPr>
        <p:spPr>
          <a:xfrm>
            <a:off x="822960" y="363931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 modelo para comparar</a:t>
            </a:r>
            <a:endParaRPr lang="en-US" sz="1400" dirty="0"/>
          </a:p>
        </p:txBody>
      </p:sp>
      <p:sp>
        <p:nvSpPr>
          <p:cNvPr id="23" name="Seta @a1u.3"/>
          <p:cNvSpPr/>
          <p:nvPr/>
        </p:nvSpPr>
        <p:spPr>
          <a:xfrm>
            <a:off x="4297680" y="38862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CD @a1u.3"/>
          <p:cNvSpPr/>
          <p:nvPr/>
        </p:nvSpPr>
        <p:spPr>
          <a:xfrm>
            <a:off x="4846320" y="3639312"/>
            <a:ext cx="6705295" cy="493776"/>
          </a:xfrm>
          <a:prstGeom prst="roundRect">
            <a:avLst>
              <a:gd name="adj" fmla="val 22222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5" name="Texto CD @a1u.3"/>
          <p:cNvSpPr txBox="1"/>
          <p:nvPr/>
        </p:nvSpPr>
        <p:spPr>
          <a:xfrm>
            <a:off x="5029200" y="3639312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Fiscalizar EPI, blue spot e livro sem critério claro</a:t>
            </a:r>
            <a:endParaRPr lang="en-US" sz="1400" dirty="0"/>
          </a:p>
        </p:txBody>
      </p:sp>
      <p:sp>
        <p:nvSpPr>
          <p:cNvPr id="26" name="Desafio @a1u.4"/>
          <p:cNvSpPr/>
          <p:nvPr/>
        </p:nvSpPr>
        <p:spPr>
          <a:xfrm>
            <a:off x="640080" y="4242816"/>
            <a:ext cx="356616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sp>
        <p:nvSpPr>
          <p:cNvPr id="27" name="Texto desafio @a1u.4"/>
          <p:cNvSpPr txBox="1"/>
          <p:nvPr/>
        </p:nvSpPr>
        <p:spPr>
          <a:xfrm>
            <a:off x="822960" y="424281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Segunda chance, instrução certa</a:t>
            </a:r>
            <a:endParaRPr lang="en-US" sz="1400" dirty="0"/>
          </a:p>
        </p:txBody>
      </p:sp>
      <p:sp>
        <p:nvSpPr>
          <p:cNvPr id="28" name="Seta @a1u.4"/>
          <p:cNvSpPr/>
          <p:nvPr/>
        </p:nvSpPr>
        <p:spPr>
          <a:xfrm>
            <a:off x="4297680" y="4489704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CD @a1u.4"/>
          <p:cNvSpPr/>
          <p:nvPr/>
        </p:nvSpPr>
        <p:spPr>
          <a:xfrm>
            <a:off x="4846320" y="4242816"/>
            <a:ext cx="6705295" cy="493776"/>
          </a:xfrm>
          <a:prstGeom prst="roundRect">
            <a:avLst>
              <a:gd name="adj" fmla="val 22222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30" name="Texto CD @a1u.4"/>
          <p:cNvSpPr txBox="1"/>
          <p:nvPr/>
        </p:nvSpPr>
        <p:spPr>
          <a:xfrm>
            <a:off x="5029200" y="4242816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DDS, feedback e ciclo fechado: fala, repete, confirma</a:t>
            </a:r>
            <a:endParaRPr lang="en-US" sz="1400" dirty="0"/>
          </a:p>
        </p:txBody>
      </p:sp>
      <p:sp>
        <p:nvSpPr>
          <p:cNvPr id="31" name="Conclusao @a4u"/>
          <p:cNvSpPr/>
          <p:nvPr/>
        </p:nvSpPr>
        <p:spPr>
          <a:xfrm>
            <a:off x="640080" y="4983480"/>
            <a:ext cx="10911535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32" name="Icone conclusao @a4u" descr="ide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74920"/>
            <a:ext cx="594360" cy="594360"/>
          </a:xfrm>
          <a:prstGeom prst="rect">
            <a:avLst/>
          </a:prstGeom>
        </p:spPr>
      </p:pic>
      <p:sp>
        <p:nvSpPr>
          <p:cNvPr id="33" name="Texto conclusao @a4u"/>
          <p:cNvSpPr txBox="1"/>
          <p:nvPr/>
        </p:nvSpPr>
        <p:spPr>
          <a:xfrm>
            <a:off x="1737360" y="498348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Boa comunicação é informação certa, para todos, </a:t>
            </a:r>
            <a:pPr algn="l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com espaço para perguntar.</a:t>
            </a:r>
            <a:endParaRPr lang="en-US" sz="19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640080" y="411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FECHAMENTO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Meus compromissos como líder</a:t>
            </a:r>
            <a:endParaRPr lang="en-US" sz="3200" dirty="0"/>
          </a:p>
        </p:txBody>
      </p:sp>
      <p:sp>
        <p:nvSpPr>
          <p:cNvPr id="4" name="Compromisso @a1u.0"/>
          <p:cNvSpPr/>
          <p:nvPr/>
        </p:nvSpPr>
        <p:spPr>
          <a:xfrm>
            <a:off x="640080" y="1645920"/>
            <a:ext cx="5318608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5" name="Check compromisso @a1u.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28800"/>
            <a:ext cx="475488" cy="475488"/>
          </a:xfrm>
          <a:prstGeom prst="rect">
            <a:avLst/>
          </a:prstGeom>
        </p:spPr>
      </p:pic>
      <p:sp>
        <p:nvSpPr>
          <p:cNvPr id="6" name="Texto compromisso @a1u.0"/>
          <p:cNvSpPr txBox="1"/>
          <p:nvPr/>
        </p:nvSpPr>
        <p:spPr>
          <a:xfrm>
            <a:off x="1508760" y="1645920"/>
            <a:ext cx="4267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Falo com firmeza e sem agressividade (CNV).</a:t>
            </a:r>
            <a:endParaRPr lang="en-US" sz="1600" dirty="0"/>
          </a:p>
        </p:txBody>
      </p:sp>
      <p:sp>
        <p:nvSpPr>
          <p:cNvPr id="7" name="Compromisso @a1u.1"/>
          <p:cNvSpPr/>
          <p:nvPr/>
        </p:nvSpPr>
        <p:spPr>
          <a:xfrm>
            <a:off x="640080" y="2651760"/>
            <a:ext cx="5318608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8" name="Check compromisso @a1u.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34640"/>
            <a:ext cx="475488" cy="475488"/>
          </a:xfrm>
          <a:prstGeom prst="rect">
            <a:avLst/>
          </a:prstGeom>
        </p:spPr>
      </p:pic>
      <p:sp>
        <p:nvSpPr>
          <p:cNvPr id="9" name="Texto compromisso @a1u.1"/>
          <p:cNvSpPr txBox="1"/>
          <p:nvPr/>
        </p:nvSpPr>
        <p:spPr>
          <a:xfrm>
            <a:off x="1508760" y="2651760"/>
            <a:ext cx="4267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Toda saída passa pelo BC e vai para o livro.</a:t>
            </a:r>
            <a:endParaRPr lang="en-US" sz="1600" dirty="0"/>
          </a:p>
        </p:txBody>
      </p:sp>
      <p:sp>
        <p:nvSpPr>
          <p:cNvPr id="10" name="Compromisso @a1u.2"/>
          <p:cNvSpPr/>
          <p:nvPr/>
        </p:nvSpPr>
        <p:spPr>
          <a:xfrm>
            <a:off x="640080" y="3657600"/>
            <a:ext cx="5318608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1" name="Check compromisso @a1u.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40480"/>
            <a:ext cx="475488" cy="475488"/>
          </a:xfrm>
          <a:prstGeom prst="rect">
            <a:avLst/>
          </a:prstGeom>
        </p:spPr>
      </p:pic>
      <p:sp>
        <p:nvSpPr>
          <p:cNvPr id="12" name="Texto compromisso @a1u.2"/>
          <p:cNvSpPr txBox="1"/>
          <p:nvPr/>
        </p:nvSpPr>
        <p:spPr>
          <a:xfrm>
            <a:off x="1508760" y="3657600"/>
            <a:ext cx="4267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Entrego EPI com registro e fiscalizo todo dia.</a:t>
            </a:r>
            <a:endParaRPr lang="en-US" sz="1600" dirty="0"/>
          </a:p>
        </p:txBody>
      </p:sp>
      <p:sp>
        <p:nvSpPr>
          <p:cNvPr id="13" name="Compromisso @a1u.3"/>
          <p:cNvSpPr/>
          <p:nvPr/>
        </p:nvSpPr>
        <p:spPr>
          <a:xfrm>
            <a:off x="640080" y="4663440"/>
            <a:ext cx="5318608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4" name="Check compromisso @a1u.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846320"/>
            <a:ext cx="475488" cy="475488"/>
          </a:xfrm>
          <a:prstGeom prst="rect">
            <a:avLst/>
          </a:prstGeom>
        </p:spPr>
      </p:pic>
      <p:sp>
        <p:nvSpPr>
          <p:cNvPr id="15" name="Texto compromisso @a1u.3"/>
          <p:cNvSpPr txBox="1"/>
          <p:nvPr/>
        </p:nvSpPr>
        <p:spPr>
          <a:xfrm>
            <a:off x="1508760" y="4663440"/>
            <a:ext cx="4267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Medicamento só pelo BC, sempre registrado.</a:t>
            </a:r>
            <a:endParaRPr lang="en-US" sz="1600" dirty="0"/>
          </a:p>
        </p:txBody>
      </p:sp>
      <p:sp>
        <p:nvSpPr>
          <p:cNvPr id="16" name="Compromisso @a1u.4"/>
          <p:cNvSpPr/>
          <p:nvPr/>
        </p:nvSpPr>
        <p:spPr>
          <a:xfrm>
            <a:off x="6233008" y="1645920"/>
            <a:ext cx="5318608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17" name="Check compromisso @a1u.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176" y="1828800"/>
            <a:ext cx="475488" cy="475488"/>
          </a:xfrm>
          <a:prstGeom prst="rect">
            <a:avLst/>
          </a:prstGeom>
        </p:spPr>
      </p:pic>
      <p:sp>
        <p:nvSpPr>
          <p:cNvPr id="18" name="Texto compromisso @a1u.4"/>
          <p:cNvSpPr txBox="1"/>
          <p:nvPr/>
        </p:nvSpPr>
        <p:spPr>
          <a:xfrm>
            <a:off x="7101688" y="1645920"/>
            <a:ext cx="4267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Faço o DDS e registro a presença.</a:t>
            </a:r>
            <a:endParaRPr lang="en-US" sz="1600" dirty="0"/>
          </a:p>
        </p:txBody>
      </p:sp>
      <p:sp>
        <p:nvSpPr>
          <p:cNvPr id="19" name="Compromisso @a1u.5"/>
          <p:cNvSpPr/>
          <p:nvPr/>
        </p:nvSpPr>
        <p:spPr>
          <a:xfrm>
            <a:off x="6233008" y="2651760"/>
            <a:ext cx="5318608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20" name="Check compromisso @a1u.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176" y="2834640"/>
            <a:ext cx="475488" cy="475488"/>
          </a:xfrm>
          <a:prstGeom prst="rect">
            <a:avLst/>
          </a:prstGeom>
        </p:spPr>
      </p:pic>
      <p:sp>
        <p:nvSpPr>
          <p:cNvPr id="21" name="Texto compromisso @a1u.5"/>
          <p:cNvSpPr txBox="1"/>
          <p:nvPr/>
        </p:nvSpPr>
        <p:spPr>
          <a:xfrm>
            <a:off x="7101688" y="2651760"/>
            <a:ext cx="4267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Confiro e cobro o blue spot.</a:t>
            </a:r>
            <a:endParaRPr lang="en-US" sz="1600" dirty="0"/>
          </a:p>
        </p:txBody>
      </p:sp>
      <p:sp>
        <p:nvSpPr>
          <p:cNvPr id="22" name="Compromisso @a1u.6"/>
          <p:cNvSpPr/>
          <p:nvPr/>
        </p:nvSpPr>
        <p:spPr>
          <a:xfrm>
            <a:off x="6233008" y="3657600"/>
            <a:ext cx="5318608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23" name="Check compromisso @a1u.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4176" y="3840480"/>
            <a:ext cx="475488" cy="475488"/>
          </a:xfrm>
          <a:prstGeom prst="rect">
            <a:avLst/>
          </a:prstGeom>
        </p:spPr>
      </p:pic>
      <p:sp>
        <p:nvSpPr>
          <p:cNvPr id="24" name="Texto compromisso @a1u.6"/>
          <p:cNvSpPr txBox="1"/>
          <p:nvPr/>
        </p:nvSpPr>
        <p:spPr>
          <a:xfrm>
            <a:off x="7101688" y="3657600"/>
            <a:ext cx="4267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Dou feedback toda semana, positivo e corretivo.</a:t>
            </a:r>
            <a:endParaRPr lang="en-US" sz="1600" dirty="0"/>
          </a:p>
        </p:txBody>
      </p:sp>
      <p:sp>
        <p:nvSpPr>
          <p:cNvPr id="25" name="Compromisso @a1u.7"/>
          <p:cNvSpPr/>
          <p:nvPr/>
        </p:nvSpPr>
        <p:spPr>
          <a:xfrm>
            <a:off x="6233008" y="4663440"/>
            <a:ext cx="5318608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chemeClr val="accent5">
                <a:alpha val="20000"/>
              </a:schemeClr>
            </a:solidFill>
            <a:prstDash val="solid"/>
          </a:ln>
          <a:effectLst>
            <a:outerShdw sx="100000" sy="100000" kx="0" ky="0" algn="bl" rotWithShape="0" blurRad="127000" dist="25400" dir="5400000">
              <a:srgbClr val="0B1A33">
                <a:alpha val="8000"/>
              </a:srgbClr>
            </a:outerShdw>
          </a:effectLst>
        </p:spPr>
      </p:sp>
      <p:pic>
        <p:nvPicPr>
          <p:cNvPr id="26" name="Check compromisso @a1u.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4176" y="4846320"/>
            <a:ext cx="475488" cy="475488"/>
          </a:xfrm>
          <a:prstGeom prst="rect">
            <a:avLst/>
          </a:prstGeom>
        </p:spPr>
      </p:pic>
      <p:sp>
        <p:nvSpPr>
          <p:cNvPr id="27" name="Texto compromisso @a1u.7"/>
          <p:cNvSpPr txBox="1"/>
          <p:nvPr/>
        </p:nvSpPr>
        <p:spPr>
          <a:xfrm>
            <a:off x="7101688" y="4663440"/>
            <a:ext cx="4267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Fecho o ciclo: fala, repete, confirma.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verde"/>
          <p:cNvSpPr/>
          <p:nvPr/>
        </p:nvSpPr>
        <p:spPr>
          <a:xfrm>
            <a:off x="640080" y="566928"/>
            <a:ext cx="457200" cy="640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Marca amarela"/>
          <p:cNvSpPr/>
          <p:nvPr/>
        </p:nvSpPr>
        <p:spPr>
          <a:xfrm>
            <a:off x="640080" y="676656"/>
            <a:ext cx="457200" cy="640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Rotulo @a1f"/>
          <p:cNvSpPr txBox="1"/>
          <p:nvPr/>
        </p:nvSpPr>
        <p:spPr>
          <a:xfrm>
            <a:off x="128016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COMUNICAÇÃO QUE PROTEGE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78308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Obrigado!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chemeClr val="accent2"/>
                </a:solidFill>
              </a:rPr>
              <a:t>Perguntas?</a:t>
            </a:r>
            <a:endParaRPr lang="en-US" sz="5600" dirty="0"/>
          </a:p>
        </p:txBody>
      </p:sp>
      <p:sp>
        <p:nvSpPr>
          <p:cNvPr id="6" name="Subtitulo @a2u"/>
          <p:cNvSpPr txBox="1"/>
          <p:nvPr/>
        </p:nvSpPr>
        <p:spPr>
          <a:xfrm>
            <a:off x="640080" y="39319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accent6"/>
                </a:solidFill>
              </a:rPr>
              <a:t>O procedimento certo, dito do jeito certo, confirmado e registrado.</a:t>
            </a:r>
            <a:endParaRPr lang="en-US" sz="2000" dirty="0"/>
          </a:p>
        </p:txBody>
      </p:sp>
      <p:sp>
        <p:nvSpPr>
          <p:cNvPr id="7" name="Apresentador @a3f"/>
          <p:cNvSpPr txBox="1"/>
          <p:nvPr/>
        </p:nvSpPr>
        <p:spPr>
          <a:xfrm>
            <a:off x="640080" y="56235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Hércules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Administrador de Sistemas · Bartofil</a:t>
            </a:r>
            <a:endParaRPr lang="en-US" sz="1600" dirty="0"/>
          </a:p>
        </p:txBody>
      </p:sp>
      <p:pic>
        <p:nvPicPr>
          <p:cNvPr id="8" name="Ilustracao final @a1z" descr="/tmp/claude-0/-home-claude/5746e17e-ab87-5418-9566-46e1b5e96b03/scratchpad/pptx2/assets/hero-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Lista de presença — DDS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Data: ____/____/______     Turno: ________     Horário: ______     Tema: ____________________________________     Conduzido por: ____________________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1153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206240"/>
                <a:gridCol w="1554480"/>
                <a:gridCol w="2011680"/>
                <a:gridCol w="259049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Nº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Nome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Matrícula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Função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Assinatura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Referências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CNV: Marshall B. Rosenberg, Comunicação Não Violenta.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NR-1 (gestão de riscos ocupacionais, incluindo psicossociais; item 1.4.1 — informar os trabalhadores sobre riscos e medidas de prevenção). Fiscalização dos fatores psicossociais desde 26/05/2026.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NR-6 (EPI), itens 6.5.1 (obrigações da organização) e 6.6.1 (obrigações do trabalhador).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CLT, art. 158, parágrafo único (recusa injustificada ao uso de EPI é ato faltoso).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Lei 8.213/1991, art. 22 (Comunicação de Acidente de Trabalho — CAT).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PMI, Pulse of the Profession: The Essential Role of Communications (2013).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Grammarly e The Harris Poll, The State of Business Communication (2022).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AHRQ, TeamSTEPPS — Check-Back (comunicação em ciclo fechado).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Center for Creative Leadership — modelo SBI (Situation–Behavior–Impact).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Raymond West, Enhancing Workplace Safety with Blue Safety Lights for Forklifts (2024).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Vídeo “Comunicação é tudo!”: Geyza Dourado (@geyza.dourado).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Bartofil Lideranca">
  <a:themeElements>
    <a:clrScheme name="Bartofil Lideranca">
      <a:dk1>
        <a:srgbClr val="0B1A33"/>
      </a:dk1>
      <a:lt1>
        <a:srgbClr val="FCFDFE"/>
      </a:lt1>
      <a:dk2>
        <a:srgbClr val="0F3B82"/>
      </a:dk2>
      <a:lt2>
        <a:srgbClr val="F3F6FA"/>
      </a:lt2>
      <a:accent1>
        <a:srgbClr val="1A55C4"/>
      </a:accent1>
      <a:accent2>
        <a:srgbClr val="FFC72C"/>
      </a:accent2>
      <a:accent3>
        <a:srgbClr val="1F9D57"/>
      </a:accent3>
      <a:accent4>
        <a:srgbClr val="0B1324"/>
      </a:accent4>
      <a:accent5>
        <a:srgbClr val="45526A"/>
      </a:accent5>
      <a:accent6>
        <a:srgbClr val="B5C1D6"/>
      </a:accent6>
      <a:hlink>
        <a:srgbClr val="1A55C4"/>
      </a:hlink>
      <a:folHlink>
        <a:srgbClr val="45526A"/>
      </a:folHlink>
    </a:clrScheme>
    <a:fontScheme name="Bartofil Lideranc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Bartofil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Comunicação que protege</dc:title>
  <dc:subject>Treinamento de liderança — CD Bartofil</dc:subject>
  <dc:creator>Hércules</dc:creator>
  <cp:lastModifiedBy>Hércules</cp:lastModifiedBy>
  <cp:revision>1</cp:revision>
  <dcterms:created xsi:type="dcterms:W3CDTF">2026-10-07T09:37:10Z</dcterms:created>
  <dcterms:modified xsi:type="dcterms:W3CDTF">2026-10-07T09:37:10Z</dcterms:modified>
</cp:coreProperties>
</file>